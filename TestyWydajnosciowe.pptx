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59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Styl z motywem 1 — Ak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Styl jasny 1 — Ak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DF18680-E054-41AD-8BC1-D1AEF772440D}" styleName="Styl pośredni 2 — Ak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Styl pośredni 2 — Ak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Styl pośredni 4 — Ak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40"/>
    <p:restoredTop sz="94693"/>
  </p:normalViewPr>
  <p:slideViewPr>
    <p:cSldViewPr snapToGrid="0">
      <p:cViewPr varScale="1">
        <p:scale>
          <a:sx n="118" d="100"/>
          <a:sy n="118" d="100"/>
        </p:scale>
        <p:origin x="18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302B44-298F-4C82-8C67-4B84D3576A72}" type="doc">
      <dgm:prSet loTypeId="urn:microsoft.com/office/officeart/2005/8/layout/vList2" loCatId="list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5B3DBF80-EB16-4A0B-BDAA-9B9D342B0DD4}">
      <dgm:prSet/>
      <dgm:spPr/>
      <dgm:t>
        <a:bodyPr/>
        <a:lstStyle/>
        <a:p>
          <a:r>
            <a:rPr lang="pl-PL"/>
            <a:t>Podstawowe Pojęcia </a:t>
          </a:r>
          <a:endParaRPr lang="en-US"/>
        </a:p>
      </dgm:t>
    </dgm:pt>
    <dgm:pt modelId="{C0EBED77-9BB5-4B2B-B7B5-666175F8D2CA}" type="parTrans" cxnId="{9057033E-38CF-43A3-AB0D-33A872C44E12}">
      <dgm:prSet/>
      <dgm:spPr/>
      <dgm:t>
        <a:bodyPr/>
        <a:lstStyle/>
        <a:p>
          <a:endParaRPr lang="en-US"/>
        </a:p>
      </dgm:t>
    </dgm:pt>
    <dgm:pt modelId="{E465AB8B-145E-446E-B492-615C2504E9A1}" type="sibTrans" cxnId="{9057033E-38CF-43A3-AB0D-33A872C44E12}">
      <dgm:prSet/>
      <dgm:spPr/>
      <dgm:t>
        <a:bodyPr/>
        <a:lstStyle/>
        <a:p>
          <a:endParaRPr lang="en-US"/>
        </a:p>
      </dgm:t>
    </dgm:pt>
    <dgm:pt modelId="{26DAB73D-87C2-44EC-A93C-EBF12BB3F1F0}">
      <dgm:prSet/>
      <dgm:spPr/>
      <dgm:t>
        <a:bodyPr/>
        <a:lstStyle/>
        <a:p>
          <a:r>
            <a:rPr lang="pl-PL"/>
            <a:t>Metryki Wydajnościowe </a:t>
          </a:r>
          <a:endParaRPr lang="en-US"/>
        </a:p>
      </dgm:t>
    </dgm:pt>
    <dgm:pt modelId="{5B2B89D4-F48F-4998-98DE-1801A5190B8A}" type="parTrans" cxnId="{63EFA128-644A-4EDA-AEE5-5F93EF6F0A97}">
      <dgm:prSet/>
      <dgm:spPr/>
      <dgm:t>
        <a:bodyPr/>
        <a:lstStyle/>
        <a:p>
          <a:endParaRPr lang="en-US"/>
        </a:p>
      </dgm:t>
    </dgm:pt>
    <dgm:pt modelId="{9E882B9C-7B8D-4D35-8996-86F954EE1BD4}" type="sibTrans" cxnId="{63EFA128-644A-4EDA-AEE5-5F93EF6F0A97}">
      <dgm:prSet/>
      <dgm:spPr/>
      <dgm:t>
        <a:bodyPr/>
        <a:lstStyle/>
        <a:p>
          <a:endParaRPr lang="en-US"/>
        </a:p>
      </dgm:t>
    </dgm:pt>
    <dgm:pt modelId="{4FFE85B4-B4F3-4AD5-8DF5-6C7A45956B4A}">
      <dgm:prSet/>
      <dgm:spPr/>
      <dgm:t>
        <a:bodyPr/>
        <a:lstStyle/>
        <a:p>
          <a:r>
            <a:rPr lang="pl-PL"/>
            <a:t>Narzędzia do Testów </a:t>
          </a:r>
          <a:endParaRPr lang="en-US"/>
        </a:p>
      </dgm:t>
    </dgm:pt>
    <dgm:pt modelId="{8E795F9A-2F38-4606-BDEB-8F479C0A6498}" type="parTrans" cxnId="{B5DD1A14-F5E7-4DFA-A0DE-37CCC22139CB}">
      <dgm:prSet/>
      <dgm:spPr/>
      <dgm:t>
        <a:bodyPr/>
        <a:lstStyle/>
        <a:p>
          <a:endParaRPr lang="en-US"/>
        </a:p>
      </dgm:t>
    </dgm:pt>
    <dgm:pt modelId="{C3186A03-26A6-47E2-99AA-81A280878D53}" type="sibTrans" cxnId="{B5DD1A14-F5E7-4DFA-A0DE-37CCC22139CB}">
      <dgm:prSet/>
      <dgm:spPr/>
      <dgm:t>
        <a:bodyPr/>
        <a:lstStyle/>
        <a:p>
          <a:endParaRPr lang="en-US"/>
        </a:p>
      </dgm:t>
    </dgm:pt>
    <dgm:pt modelId="{13ECC027-3679-477B-992A-18EAFDB79EBC}">
      <dgm:prSet/>
      <dgm:spPr/>
      <dgm:t>
        <a:bodyPr/>
        <a:lstStyle/>
        <a:p>
          <a:r>
            <a:rPr lang="pl-PL"/>
            <a:t>Apache Locust - Wprowadzenie Scenariusze Testowe </a:t>
          </a:r>
          <a:endParaRPr lang="en-US"/>
        </a:p>
      </dgm:t>
    </dgm:pt>
    <dgm:pt modelId="{A5FCD5DE-CC69-4875-98C0-46823E397239}" type="parTrans" cxnId="{F4034F49-303A-4B93-AF36-BA81A05E5609}">
      <dgm:prSet/>
      <dgm:spPr/>
      <dgm:t>
        <a:bodyPr/>
        <a:lstStyle/>
        <a:p>
          <a:endParaRPr lang="en-US"/>
        </a:p>
      </dgm:t>
    </dgm:pt>
    <dgm:pt modelId="{45BF633A-6D85-4FC4-AB8C-8D8E328B1EF1}" type="sibTrans" cxnId="{F4034F49-303A-4B93-AF36-BA81A05E5609}">
      <dgm:prSet/>
      <dgm:spPr/>
      <dgm:t>
        <a:bodyPr/>
        <a:lstStyle/>
        <a:p>
          <a:endParaRPr lang="en-US"/>
        </a:p>
      </dgm:t>
    </dgm:pt>
    <dgm:pt modelId="{17645B17-8503-421F-AA31-2607CA997FCF}">
      <dgm:prSet/>
      <dgm:spPr/>
      <dgm:t>
        <a:bodyPr/>
        <a:lstStyle/>
        <a:p>
          <a:r>
            <a:rPr lang="pl-PL" dirty="0"/>
            <a:t>Analiza Wyników</a:t>
          </a:r>
          <a:endParaRPr lang="en-US" dirty="0"/>
        </a:p>
      </dgm:t>
    </dgm:pt>
    <dgm:pt modelId="{935D812D-AC30-4E38-8779-83DED6A14B3C}" type="parTrans" cxnId="{285A8611-1571-41D2-8810-4BDBBB25EA31}">
      <dgm:prSet/>
      <dgm:spPr/>
      <dgm:t>
        <a:bodyPr/>
        <a:lstStyle/>
        <a:p>
          <a:endParaRPr lang="en-US"/>
        </a:p>
      </dgm:t>
    </dgm:pt>
    <dgm:pt modelId="{7B708882-FB40-4019-92EF-54D0A9B5151E}" type="sibTrans" cxnId="{285A8611-1571-41D2-8810-4BDBBB25EA31}">
      <dgm:prSet/>
      <dgm:spPr/>
      <dgm:t>
        <a:bodyPr/>
        <a:lstStyle/>
        <a:p>
          <a:endParaRPr lang="en-US"/>
        </a:p>
      </dgm:t>
    </dgm:pt>
    <dgm:pt modelId="{4FF6A844-9920-5A45-9B6A-32DF08CC0680}">
      <dgm:prSet/>
      <dgm:spPr/>
      <dgm:t>
        <a:bodyPr/>
        <a:lstStyle/>
        <a:p>
          <a:r>
            <a:rPr lang="pl-PL" dirty="0"/>
            <a:t>Ćwiczenia Praktyczne</a:t>
          </a:r>
          <a:endParaRPr lang="en-US" dirty="0"/>
        </a:p>
      </dgm:t>
    </dgm:pt>
    <dgm:pt modelId="{595E7B62-6A9C-E84C-BE87-919487F14E8C}" type="parTrans" cxnId="{115CE2FC-90C8-AC41-8A5B-BE20DD16B9D9}">
      <dgm:prSet/>
      <dgm:spPr/>
      <dgm:t>
        <a:bodyPr/>
        <a:lstStyle/>
        <a:p>
          <a:endParaRPr lang="pl-PL"/>
        </a:p>
      </dgm:t>
    </dgm:pt>
    <dgm:pt modelId="{2A7A5F80-E990-D24D-BD98-2DA58DC7A02C}" type="sibTrans" cxnId="{115CE2FC-90C8-AC41-8A5B-BE20DD16B9D9}">
      <dgm:prSet/>
      <dgm:spPr/>
      <dgm:t>
        <a:bodyPr/>
        <a:lstStyle/>
        <a:p>
          <a:endParaRPr lang="pl-PL"/>
        </a:p>
      </dgm:t>
    </dgm:pt>
    <dgm:pt modelId="{ECEC316C-937F-4DA7-B4B3-17E0782DBDFE}">
      <dgm:prSet/>
      <dgm:spPr/>
      <dgm:t>
        <a:bodyPr/>
        <a:lstStyle/>
        <a:p>
          <a:r>
            <a:rPr lang="pl-PL" dirty="0"/>
            <a:t>Cele Szkolenia </a:t>
          </a:r>
          <a:endParaRPr lang="en-US" dirty="0"/>
        </a:p>
      </dgm:t>
    </dgm:pt>
    <dgm:pt modelId="{7B88C132-B821-416F-A97E-5DAB8F98B053}" type="sibTrans" cxnId="{C2476608-E5BF-41C5-BF62-617A4E9CCA19}">
      <dgm:prSet/>
      <dgm:spPr/>
      <dgm:t>
        <a:bodyPr/>
        <a:lstStyle/>
        <a:p>
          <a:endParaRPr lang="en-US"/>
        </a:p>
      </dgm:t>
    </dgm:pt>
    <dgm:pt modelId="{BB0C76CB-1CDA-46E1-8A15-4E9BAE220B25}" type="parTrans" cxnId="{C2476608-E5BF-41C5-BF62-617A4E9CCA19}">
      <dgm:prSet/>
      <dgm:spPr/>
      <dgm:t>
        <a:bodyPr/>
        <a:lstStyle/>
        <a:p>
          <a:endParaRPr lang="en-US"/>
        </a:p>
      </dgm:t>
    </dgm:pt>
    <dgm:pt modelId="{4A733409-D835-974C-ACA1-46C859564B35}" type="pres">
      <dgm:prSet presAssocID="{95302B44-298F-4C82-8C67-4B84D3576A72}" presName="linear" presStyleCnt="0">
        <dgm:presLayoutVars>
          <dgm:animLvl val="lvl"/>
          <dgm:resizeHandles val="exact"/>
        </dgm:presLayoutVars>
      </dgm:prSet>
      <dgm:spPr/>
    </dgm:pt>
    <dgm:pt modelId="{D1439319-0DAC-9147-B12C-FFE9B5FEF5A5}" type="pres">
      <dgm:prSet presAssocID="{ECEC316C-937F-4DA7-B4B3-17E0782DBDFE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EC0F3619-C313-2841-B144-F09A6F0239B3}" type="pres">
      <dgm:prSet presAssocID="{ECEC316C-937F-4DA7-B4B3-17E0782DBDFE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C2476608-E5BF-41C5-BF62-617A4E9CCA19}" srcId="{95302B44-298F-4C82-8C67-4B84D3576A72}" destId="{ECEC316C-937F-4DA7-B4B3-17E0782DBDFE}" srcOrd="0" destOrd="0" parTransId="{BB0C76CB-1CDA-46E1-8A15-4E9BAE220B25}" sibTransId="{7B88C132-B821-416F-A97E-5DAB8F98B053}"/>
    <dgm:cxn modelId="{285A8611-1571-41D2-8810-4BDBBB25EA31}" srcId="{ECEC316C-937F-4DA7-B4B3-17E0782DBDFE}" destId="{17645B17-8503-421F-AA31-2607CA997FCF}" srcOrd="4" destOrd="0" parTransId="{935D812D-AC30-4E38-8779-83DED6A14B3C}" sibTransId="{7B708882-FB40-4019-92EF-54D0A9B5151E}"/>
    <dgm:cxn modelId="{B5DD1A14-F5E7-4DFA-A0DE-37CCC22139CB}" srcId="{ECEC316C-937F-4DA7-B4B3-17E0782DBDFE}" destId="{4FFE85B4-B4F3-4AD5-8DF5-6C7A45956B4A}" srcOrd="2" destOrd="0" parTransId="{8E795F9A-2F38-4606-BDEB-8F479C0A6498}" sibTransId="{C3186A03-26A6-47E2-99AA-81A280878D53}"/>
    <dgm:cxn modelId="{63EFA128-644A-4EDA-AEE5-5F93EF6F0A97}" srcId="{ECEC316C-937F-4DA7-B4B3-17E0782DBDFE}" destId="{26DAB73D-87C2-44EC-A93C-EBF12BB3F1F0}" srcOrd="1" destOrd="0" parTransId="{5B2B89D4-F48F-4998-98DE-1801A5190B8A}" sibTransId="{9E882B9C-7B8D-4D35-8996-86F954EE1BD4}"/>
    <dgm:cxn modelId="{740DA439-7F70-C946-9024-22524E8773EA}" type="presOf" srcId="{5B3DBF80-EB16-4A0B-BDAA-9B9D342B0DD4}" destId="{EC0F3619-C313-2841-B144-F09A6F0239B3}" srcOrd="0" destOrd="0" presId="urn:microsoft.com/office/officeart/2005/8/layout/vList2"/>
    <dgm:cxn modelId="{9057033E-38CF-43A3-AB0D-33A872C44E12}" srcId="{ECEC316C-937F-4DA7-B4B3-17E0782DBDFE}" destId="{5B3DBF80-EB16-4A0B-BDAA-9B9D342B0DD4}" srcOrd="0" destOrd="0" parTransId="{C0EBED77-9BB5-4B2B-B7B5-666175F8D2CA}" sibTransId="{E465AB8B-145E-446E-B492-615C2504E9A1}"/>
    <dgm:cxn modelId="{F4034F49-303A-4B93-AF36-BA81A05E5609}" srcId="{ECEC316C-937F-4DA7-B4B3-17E0782DBDFE}" destId="{13ECC027-3679-477B-992A-18EAFDB79EBC}" srcOrd="3" destOrd="0" parTransId="{A5FCD5DE-CC69-4875-98C0-46823E397239}" sibTransId="{45BF633A-6D85-4FC4-AB8C-8D8E328B1EF1}"/>
    <dgm:cxn modelId="{6FB31D6A-A751-7E49-9613-C877DA915A7D}" type="presOf" srcId="{13ECC027-3679-477B-992A-18EAFDB79EBC}" destId="{EC0F3619-C313-2841-B144-F09A6F0239B3}" srcOrd="0" destOrd="3" presId="urn:microsoft.com/office/officeart/2005/8/layout/vList2"/>
    <dgm:cxn modelId="{274D8C7B-6969-9C48-A4AB-9BE9D405B23E}" type="presOf" srcId="{17645B17-8503-421F-AA31-2607CA997FCF}" destId="{EC0F3619-C313-2841-B144-F09A6F0239B3}" srcOrd="0" destOrd="4" presId="urn:microsoft.com/office/officeart/2005/8/layout/vList2"/>
    <dgm:cxn modelId="{BC74DE8A-BA6A-BD42-9471-1F69E8B3057D}" type="presOf" srcId="{26DAB73D-87C2-44EC-A93C-EBF12BB3F1F0}" destId="{EC0F3619-C313-2841-B144-F09A6F0239B3}" srcOrd="0" destOrd="1" presId="urn:microsoft.com/office/officeart/2005/8/layout/vList2"/>
    <dgm:cxn modelId="{B4247599-0D03-0E4E-A068-CC8C437D4D9A}" type="presOf" srcId="{4FF6A844-9920-5A45-9B6A-32DF08CC0680}" destId="{EC0F3619-C313-2841-B144-F09A6F0239B3}" srcOrd="0" destOrd="5" presId="urn:microsoft.com/office/officeart/2005/8/layout/vList2"/>
    <dgm:cxn modelId="{85A3B5A0-0B9C-DA40-9B44-1CAFA4873D69}" type="presOf" srcId="{95302B44-298F-4C82-8C67-4B84D3576A72}" destId="{4A733409-D835-974C-ACA1-46C859564B35}" srcOrd="0" destOrd="0" presId="urn:microsoft.com/office/officeart/2005/8/layout/vList2"/>
    <dgm:cxn modelId="{8F98E6C5-B802-9B46-BE6D-50563A13B52D}" type="presOf" srcId="{ECEC316C-937F-4DA7-B4B3-17E0782DBDFE}" destId="{D1439319-0DAC-9147-B12C-FFE9B5FEF5A5}" srcOrd="0" destOrd="0" presId="urn:microsoft.com/office/officeart/2005/8/layout/vList2"/>
    <dgm:cxn modelId="{B2453CEC-4BE5-6D45-9381-DE1D6674D8EB}" type="presOf" srcId="{4FFE85B4-B4F3-4AD5-8DF5-6C7A45956B4A}" destId="{EC0F3619-C313-2841-B144-F09A6F0239B3}" srcOrd="0" destOrd="2" presId="urn:microsoft.com/office/officeart/2005/8/layout/vList2"/>
    <dgm:cxn modelId="{115CE2FC-90C8-AC41-8A5B-BE20DD16B9D9}" srcId="{ECEC316C-937F-4DA7-B4B3-17E0782DBDFE}" destId="{4FF6A844-9920-5A45-9B6A-32DF08CC0680}" srcOrd="5" destOrd="0" parTransId="{595E7B62-6A9C-E84C-BE87-919487F14E8C}" sibTransId="{2A7A5F80-E990-D24D-BD98-2DA58DC7A02C}"/>
    <dgm:cxn modelId="{773C698A-4B67-D248-97DF-E6B2149C49BD}" type="presParOf" srcId="{4A733409-D835-974C-ACA1-46C859564B35}" destId="{D1439319-0DAC-9147-B12C-FFE9B5FEF5A5}" srcOrd="0" destOrd="0" presId="urn:microsoft.com/office/officeart/2005/8/layout/vList2"/>
    <dgm:cxn modelId="{D6CDE667-AA16-1149-A7CF-B34FB1F53633}" type="presParOf" srcId="{4A733409-D835-974C-ACA1-46C859564B35}" destId="{EC0F3619-C313-2841-B144-F09A6F0239B3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ACC0AD1-5C7B-45F1-900E-6E9F29609E85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61B0EBE6-D908-4114-B530-96353B1EA177}">
      <dgm:prSet/>
      <dgm:spPr/>
      <dgm:t>
        <a:bodyPr/>
        <a:lstStyle/>
        <a:p>
          <a:pPr>
            <a:defRPr cap="all"/>
          </a:pPr>
          <a:r>
            <a:rPr lang="pl-PL"/>
            <a:t>Godziny pracy wsparcia (24/7, Business hours, itp.) </a:t>
          </a:r>
          <a:endParaRPr lang="en-US"/>
        </a:p>
      </dgm:t>
    </dgm:pt>
    <dgm:pt modelId="{12B09948-EEF9-4549-A8CF-1F12DE0E88D2}" type="parTrans" cxnId="{58139846-E6F0-4BC3-96E3-A6A608E9E71D}">
      <dgm:prSet/>
      <dgm:spPr/>
      <dgm:t>
        <a:bodyPr/>
        <a:lstStyle/>
        <a:p>
          <a:endParaRPr lang="en-US"/>
        </a:p>
      </dgm:t>
    </dgm:pt>
    <dgm:pt modelId="{F22A3ADD-1D51-48B5-BE64-2159DCBB79FE}" type="sibTrans" cxnId="{58139846-E6F0-4BC3-96E3-A6A608E9E71D}">
      <dgm:prSet/>
      <dgm:spPr/>
      <dgm:t>
        <a:bodyPr/>
        <a:lstStyle/>
        <a:p>
          <a:endParaRPr lang="en-US"/>
        </a:p>
      </dgm:t>
    </dgm:pt>
    <dgm:pt modelId="{B46BB16B-6CF6-4198-BE22-8A4EA52BB677}">
      <dgm:prSet/>
      <dgm:spPr/>
      <dgm:t>
        <a:bodyPr/>
        <a:lstStyle/>
        <a:p>
          <a:pPr>
            <a:defRPr cap="all"/>
          </a:pPr>
          <a:r>
            <a:rPr lang="pl-PL"/>
            <a:t>Okresy maintenance'u</a:t>
          </a:r>
          <a:endParaRPr lang="en-US"/>
        </a:p>
      </dgm:t>
    </dgm:pt>
    <dgm:pt modelId="{C15604E0-8221-4216-8A0A-B952AC8E2C03}" type="parTrans" cxnId="{4E160D73-3D59-44A5-A87F-69F75123960A}">
      <dgm:prSet/>
      <dgm:spPr/>
      <dgm:t>
        <a:bodyPr/>
        <a:lstStyle/>
        <a:p>
          <a:endParaRPr lang="en-US"/>
        </a:p>
      </dgm:t>
    </dgm:pt>
    <dgm:pt modelId="{434236D1-CB65-4117-AF53-591D730E4694}" type="sibTrans" cxnId="{4E160D73-3D59-44A5-A87F-69F75123960A}">
      <dgm:prSet/>
      <dgm:spPr/>
      <dgm:t>
        <a:bodyPr/>
        <a:lstStyle/>
        <a:p>
          <a:endParaRPr lang="en-US"/>
        </a:p>
      </dgm:t>
    </dgm:pt>
    <dgm:pt modelId="{52B83C8E-4AD0-49EC-AD13-13FB8181E6DD}" type="pres">
      <dgm:prSet presAssocID="{3ACC0AD1-5C7B-45F1-900E-6E9F29609E85}" presName="root" presStyleCnt="0">
        <dgm:presLayoutVars>
          <dgm:dir/>
          <dgm:resizeHandles val="exact"/>
        </dgm:presLayoutVars>
      </dgm:prSet>
      <dgm:spPr/>
    </dgm:pt>
    <dgm:pt modelId="{D82A5556-717D-45FD-9EC5-CA3D0901332C}" type="pres">
      <dgm:prSet presAssocID="{61B0EBE6-D908-4114-B530-96353B1EA177}" presName="compNode" presStyleCnt="0"/>
      <dgm:spPr/>
    </dgm:pt>
    <dgm:pt modelId="{C9EDE0F0-C783-4EE2-A3DC-7B473E85B6C6}" type="pres">
      <dgm:prSet presAssocID="{61B0EBE6-D908-4114-B530-96353B1EA177}" presName="iconBgRect" presStyleLbl="bgShp" presStyleIdx="0" presStyleCnt="2"/>
      <dgm:spPr/>
    </dgm:pt>
    <dgm:pt modelId="{5226780B-1469-4958-9417-2897E410B29F}" type="pres">
      <dgm:prSet presAssocID="{61B0EBE6-D908-4114-B530-96353B1EA177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awacz"/>
        </a:ext>
      </dgm:extLst>
    </dgm:pt>
    <dgm:pt modelId="{6B0DB993-3BC4-400A-A3C4-B3793E84B3A5}" type="pres">
      <dgm:prSet presAssocID="{61B0EBE6-D908-4114-B530-96353B1EA177}" presName="spaceRect" presStyleCnt="0"/>
      <dgm:spPr/>
    </dgm:pt>
    <dgm:pt modelId="{B4058AE6-69F3-4158-9744-86772A2B6C14}" type="pres">
      <dgm:prSet presAssocID="{61B0EBE6-D908-4114-B530-96353B1EA177}" presName="textRect" presStyleLbl="revTx" presStyleIdx="0" presStyleCnt="2">
        <dgm:presLayoutVars>
          <dgm:chMax val="1"/>
          <dgm:chPref val="1"/>
        </dgm:presLayoutVars>
      </dgm:prSet>
      <dgm:spPr/>
    </dgm:pt>
    <dgm:pt modelId="{3FB18F4F-C598-4DB7-B5D0-9A6D92AFDCF1}" type="pres">
      <dgm:prSet presAssocID="{F22A3ADD-1D51-48B5-BE64-2159DCBB79FE}" presName="sibTrans" presStyleCnt="0"/>
      <dgm:spPr/>
    </dgm:pt>
    <dgm:pt modelId="{E88A6E79-66F4-4302-AD55-1733B153E04C}" type="pres">
      <dgm:prSet presAssocID="{B46BB16B-6CF6-4198-BE22-8A4EA52BB677}" presName="compNode" presStyleCnt="0"/>
      <dgm:spPr/>
    </dgm:pt>
    <dgm:pt modelId="{81372563-E1DC-46CA-91F2-3F3E01FABA5C}" type="pres">
      <dgm:prSet presAssocID="{B46BB16B-6CF6-4198-BE22-8A4EA52BB677}" presName="iconBgRect" presStyleLbl="bgShp" presStyleIdx="1" presStyleCnt="2"/>
      <dgm:spPr/>
    </dgm:pt>
    <dgm:pt modelId="{62075227-73E6-47B5-BF80-91A9AE7F2831}" type="pres">
      <dgm:prSet presAssocID="{B46BB16B-6CF6-4198-BE22-8A4EA52BB677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łatek śniegu"/>
        </a:ext>
      </dgm:extLst>
    </dgm:pt>
    <dgm:pt modelId="{F8255CEF-613F-4ACD-A883-E6B5F15A0464}" type="pres">
      <dgm:prSet presAssocID="{B46BB16B-6CF6-4198-BE22-8A4EA52BB677}" presName="spaceRect" presStyleCnt="0"/>
      <dgm:spPr/>
    </dgm:pt>
    <dgm:pt modelId="{845757FA-6F6F-426F-B919-18812F9DCEAB}" type="pres">
      <dgm:prSet presAssocID="{B46BB16B-6CF6-4198-BE22-8A4EA52BB677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DA6EC702-6F7E-4AA3-914F-022B7C026506}" type="presOf" srcId="{61B0EBE6-D908-4114-B530-96353B1EA177}" destId="{B4058AE6-69F3-4158-9744-86772A2B6C14}" srcOrd="0" destOrd="0" presId="urn:microsoft.com/office/officeart/2018/5/layout/IconCircleLabelList"/>
    <dgm:cxn modelId="{58139846-E6F0-4BC3-96E3-A6A608E9E71D}" srcId="{3ACC0AD1-5C7B-45F1-900E-6E9F29609E85}" destId="{61B0EBE6-D908-4114-B530-96353B1EA177}" srcOrd="0" destOrd="0" parTransId="{12B09948-EEF9-4549-A8CF-1F12DE0E88D2}" sibTransId="{F22A3ADD-1D51-48B5-BE64-2159DCBB79FE}"/>
    <dgm:cxn modelId="{56F4C758-331F-484D-94A5-A62C8EE1E13D}" type="presOf" srcId="{3ACC0AD1-5C7B-45F1-900E-6E9F29609E85}" destId="{52B83C8E-4AD0-49EC-AD13-13FB8181E6DD}" srcOrd="0" destOrd="0" presId="urn:microsoft.com/office/officeart/2018/5/layout/IconCircleLabelList"/>
    <dgm:cxn modelId="{4E160D73-3D59-44A5-A87F-69F75123960A}" srcId="{3ACC0AD1-5C7B-45F1-900E-6E9F29609E85}" destId="{B46BB16B-6CF6-4198-BE22-8A4EA52BB677}" srcOrd="1" destOrd="0" parTransId="{C15604E0-8221-4216-8A0A-B952AC8E2C03}" sibTransId="{434236D1-CB65-4117-AF53-591D730E4694}"/>
    <dgm:cxn modelId="{0AB2D8C7-F2C5-48EE-BD08-BA5E5E9E73E9}" type="presOf" srcId="{B46BB16B-6CF6-4198-BE22-8A4EA52BB677}" destId="{845757FA-6F6F-426F-B919-18812F9DCEAB}" srcOrd="0" destOrd="0" presId="urn:microsoft.com/office/officeart/2018/5/layout/IconCircleLabelList"/>
    <dgm:cxn modelId="{5179822E-CE37-4BCC-B5FF-2D50289E00B9}" type="presParOf" srcId="{52B83C8E-4AD0-49EC-AD13-13FB8181E6DD}" destId="{D82A5556-717D-45FD-9EC5-CA3D0901332C}" srcOrd="0" destOrd="0" presId="urn:microsoft.com/office/officeart/2018/5/layout/IconCircleLabelList"/>
    <dgm:cxn modelId="{78689EFD-53C9-43B5-BA02-77D118319163}" type="presParOf" srcId="{D82A5556-717D-45FD-9EC5-CA3D0901332C}" destId="{C9EDE0F0-C783-4EE2-A3DC-7B473E85B6C6}" srcOrd="0" destOrd="0" presId="urn:microsoft.com/office/officeart/2018/5/layout/IconCircleLabelList"/>
    <dgm:cxn modelId="{675C0F93-3E08-4BB9-8AAB-22ABCC419DA2}" type="presParOf" srcId="{D82A5556-717D-45FD-9EC5-CA3D0901332C}" destId="{5226780B-1469-4958-9417-2897E410B29F}" srcOrd="1" destOrd="0" presId="urn:microsoft.com/office/officeart/2018/5/layout/IconCircleLabelList"/>
    <dgm:cxn modelId="{BB65A165-50D4-4BF6-B69B-5A514D2101BC}" type="presParOf" srcId="{D82A5556-717D-45FD-9EC5-CA3D0901332C}" destId="{6B0DB993-3BC4-400A-A3C4-B3793E84B3A5}" srcOrd="2" destOrd="0" presId="urn:microsoft.com/office/officeart/2018/5/layout/IconCircleLabelList"/>
    <dgm:cxn modelId="{01C8A24A-63E5-4778-A147-DC1866051E44}" type="presParOf" srcId="{D82A5556-717D-45FD-9EC5-CA3D0901332C}" destId="{B4058AE6-69F3-4158-9744-86772A2B6C14}" srcOrd="3" destOrd="0" presId="urn:microsoft.com/office/officeart/2018/5/layout/IconCircleLabelList"/>
    <dgm:cxn modelId="{E1E8A745-FB38-49E9-885B-61D32082CC5E}" type="presParOf" srcId="{52B83C8E-4AD0-49EC-AD13-13FB8181E6DD}" destId="{3FB18F4F-C598-4DB7-B5D0-9A6D92AFDCF1}" srcOrd="1" destOrd="0" presId="urn:microsoft.com/office/officeart/2018/5/layout/IconCircleLabelList"/>
    <dgm:cxn modelId="{AB31B6A9-8E98-432F-97ED-256EF7A6D9B3}" type="presParOf" srcId="{52B83C8E-4AD0-49EC-AD13-13FB8181E6DD}" destId="{E88A6E79-66F4-4302-AD55-1733B153E04C}" srcOrd="2" destOrd="0" presId="urn:microsoft.com/office/officeart/2018/5/layout/IconCircleLabelList"/>
    <dgm:cxn modelId="{7924F51B-C06B-4642-AB6B-675B968F9643}" type="presParOf" srcId="{E88A6E79-66F4-4302-AD55-1733B153E04C}" destId="{81372563-E1DC-46CA-91F2-3F3E01FABA5C}" srcOrd="0" destOrd="0" presId="urn:microsoft.com/office/officeart/2018/5/layout/IconCircleLabelList"/>
    <dgm:cxn modelId="{0354AD55-560D-49D2-BD35-FE037C93C38C}" type="presParOf" srcId="{E88A6E79-66F4-4302-AD55-1733B153E04C}" destId="{62075227-73E6-47B5-BF80-91A9AE7F2831}" srcOrd="1" destOrd="0" presId="urn:microsoft.com/office/officeart/2018/5/layout/IconCircleLabelList"/>
    <dgm:cxn modelId="{DC863C8F-81F5-4CF0-866B-E5CB1CF44A31}" type="presParOf" srcId="{E88A6E79-66F4-4302-AD55-1733B153E04C}" destId="{F8255CEF-613F-4ACD-A883-E6B5F15A0464}" srcOrd="2" destOrd="0" presId="urn:microsoft.com/office/officeart/2018/5/layout/IconCircleLabelList"/>
    <dgm:cxn modelId="{DB39FDC9-E5C5-4398-89E9-7B9CC7F1F87D}" type="presParOf" srcId="{E88A6E79-66F4-4302-AD55-1733B153E04C}" destId="{845757FA-6F6F-426F-B919-18812F9DCEAB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D24F883-122C-4F7A-B33A-6063DD4A1171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ABBACB85-5166-415D-8198-D7957598F896}">
      <dgm:prSet/>
      <dgm:spPr/>
      <dgm:t>
        <a:bodyPr/>
        <a:lstStyle/>
        <a:p>
          <a:r>
            <a:rPr lang="pl-PL" b="1"/>
            <a:t>P1 (Critical)</a:t>
          </a:r>
          <a:r>
            <a:rPr lang="pl-PL"/>
            <a:t> – System niedostępny, 1h response time </a:t>
          </a:r>
          <a:endParaRPr lang="en-US"/>
        </a:p>
      </dgm:t>
    </dgm:pt>
    <dgm:pt modelId="{6430FBF5-9CA8-46C2-97BA-ABCA81883B56}" type="parTrans" cxnId="{FA36515F-3EDB-48AA-B38E-2532CCA9BA21}">
      <dgm:prSet/>
      <dgm:spPr/>
      <dgm:t>
        <a:bodyPr/>
        <a:lstStyle/>
        <a:p>
          <a:endParaRPr lang="en-US"/>
        </a:p>
      </dgm:t>
    </dgm:pt>
    <dgm:pt modelId="{15FFB23A-7A1F-4EBD-A2F7-B01A8915AFAB}" type="sibTrans" cxnId="{FA36515F-3EDB-48AA-B38E-2532CCA9BA21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F3F81218-D1EF-4528-A51C-7DBAC2F6F879}">
      <dgm:prSet/>
      <dgm:spPr/>
      <dgm:t>
        <a:bodyPr/>
        <a:lstStyle/>
        <a:p>
          <a:r>
            <a:rPr lang="pl-PL" b="1"/>
            <a:t>P2 (High)</a:t>
          </a:r>
          <a:r>
            <a:rPr lang="pl-PL"/>
            <a:t> – Funkcjonalność ograniczona, 4h response time </a:t>
          </a:r>
          <a:endParaRPr lang="en-US"/>
        </a:p>
      </dgm:t>
    </dgm:pt>
    <dgm:pt modelId="{A73CF5E6-C1D5-48E2-B72D-865169A28070}" type="parTrans" cxnId="{09145E81-7C1B-4CBD-A502-C49E262CA5A6}">
      <dgm:prSet/>
      <dgm:spPr/>
      <dgm:t>
        <a:bodyPr/>
        <a:lstStyle/>
        <a:p>
          <a:endParaRPr lang="en-US"/>
        </a:p>
      </dgm:t>
    </dgm:pt>
    <dgm:pt modelId="{5A0511E1-F4E9-406E-99E5-79C436A73059}" type="sibTrans" cxnId="{09145E81-7C1B-4CBD-A502-C49E262CA5A6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BED2A8B1-0A91-4BD4-8FDE-14BB5321A449}">
      <dgm:prSet/>
      <dgm:spPr/>
      <dgm:t>
        <a:bodyPr/>
        <a:lstStyle/>
        <a:p>
          <a:r>
            <a:rPr lang="pl-PL" b="1"/>
            <a:t>P3 (Medium)</a:t>
          </a:r>
          <a:r>
            <a:rPr lang="pl-PL"/>
            <a:t> – Drobne problemy, 8h response time </a:t>
          </a:r>
          <a:endParaRPr lang="en-US"/>
        </a:p>
      </dgm:t>
    </dgm:pt>
    <dgm:pt modelId="{15EB6813-048B-47BD-A09A-0BC3876C6A54}" type="parTrans" cxnId="{A733EBAD-994B-4984-82FC-AA7E1FC0FF50}">
      <dgm:prSet/>
      <dgm:spPr/>
      <dgm:t>
        <a:bodyPr/>
        <a:lstStyle/>
        <a:p>
          <a:endParaRPr lang="en-US"/>
        </a:p>
      </dgm:t>
    </dgm:pt>
    <dgm:pt modelId="{390BF0DE-0D7F-4F15-9882-28F7331EC64F}" type="sibTrans" cxnId="{A733EBAD-994B-4984-82FC-AA7E1FC0FF50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72BB0962-4050-4E27-A1BC-A503727B6AE7}">
      <dgm:prSet/>
      <dgm:spPr/>
      <dgm:t>
        <a:bodyPr/>
        <a:lstStyle/>
        <a:p>
          <a:r>
            <a:rPr lang="pl-PL" b="1"/>
            <a:t>P4 (Low)</a:t>
          </a:r>
          <a:r>
            <a:rPr lang="pl-PL"/>
            <a:t> – Pytania informacyjne, 24h response time</a:t>
          </a:r>
          <a:endParaRPr lang="en-US"/>
        </a:p>
      </dgm:t>
    </dgm:pt>
    <dgm:pt modelId="{CA4E4C16-63D5-488C-97E0-470E466CE3DB}" type="parTrans" cxnId="{9FC9F186-47C8-47F8-A903-626517FF1B0B}">
      <dgm:prSet/>
      <dgm:spPr/>
      <dgm:t>
        <a:bodyPr/>
        <a:lstStyle/>
        <a:p>
          <a:endParaRPr lang="en-US"/>
        </a:p>
      </dgm:t>
    </dgm:pt>
    <dgm:pt modelId="{02520A03-7647-4553-954E-0DC949257007}" type="sibTrans" cxnId="{9FC9F186-47C8-47F8-A903-626517FF1B0B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3ACEB438-9C1D-BB4D-A1A2-FF9B5464778A}" type="pres">
      <dgm:prSet presAssocID="{AD24F883-122C-4F7A-B33A-6063DD4A1171}" presName="Name0" presStyleCnt="0">
        <dgm:presLayoutVars>
          <dgm:animLvl val="lvl"/>
          <dgm:resizeHandles val="exact"/>
        </dgm:presLayoutVars>
      </dgm:prSet>
      <dgm:spPr/>
    </dgm:pt>
    <dgm:pt modelId="{389F667A-E8CB-724F-96B6-796E28316357}" type="pres">
      <dgm:prSet presAssocID="{ABBACB85-5166-415D-8198-D7957598F896}" presName="compositeNode" presStyleCnt="0">
        <dgm:presLayoutVars>
          <dgm:bulletEnabled val="1"/>
        </dgm:presLayoutVars>
      </dgm:prSet>
      <dgm:spPr/>
    </dgm:pt>
    <dgm:pt modelId="{952719EF-4632-C94A-861F-644764F9D3CF}" type="pres">
      <dgm:prSet presAssocID="{ABBACB85-5166-415D-8198-D7957598F896}" presName="bgRect" presStyleLbl="bgAccFollowNode1" presStyleIdx="0" presStyleCnt="4"/>
      <dgm:spPr/>
    </dgm:pt>
    <dgm:pt modelId="{AAAE3F2F-4E83-5F47-8672-14F4227BD403}" type="pres">
      <dgm:prSet presAssocID="{15FFB23A-7A1F-4EBD-A2F7-B01A8915AFAB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542FA557-19ED-4447-BD2F-4C214379A184}" type="pres">
      <dgm:prSet presAssocID="{ABBACB85-5166-415D-8198-D7957598F896}" presName="bottomLine" presStyleLbl="alignNode1" presStyleIdx="1" presStyleCnt="8">
        <dgm:presLayoutVars/>
      </dgm:prSet>
      <dgm:spPr/>
    </dgm:pt>
    <dgm:pt modelId="{FAE8AD1A-2D5F-A746-8D98-B6D5986E0F67}" type="pres">
      <dgm:prSet presAssocID="{ABBACB85-5166-415D-8198-D7957598F896}" presName="nodeText" presStyleLbl="bgAccFollowNode1" presStyleIdx="0" presStyleCnt="4">
        <dgm:presLayoutVars>
          <dgm:bulletEnabled val="1"/>
        </dgm:presLayoutVars>
      </dgm:prSet>
      <dgm:spPr/>
    </dgm:pt>
    <dgm:pt modelId="{F8086797-0475-A44C-90C6-49B587A40189}" type="pres">
      <dgm:prSet presAssocID="{15FFB23A-7A1F-4EBD-A2F7-B01A8915AFAB}" presName="sibTrans" presStyleCnt="0"/>
      <dgm:spPr/>
    </dgm:pt>
    <dgm:pt modelId="{64677022-DEFD-8248-A872-47D538065C3E}" type="pres">
      <dgm:prSet presAssocID="{F3F81218-D1EF-4528-A51C-7DBAC2F6F879}" presName="compositeNode" presStyleCnt="0">
        <dgm:presLayoutVars>
          <dgm:bulletEnabled val="1"/>
        </dgm:presLayoutVars>
      </dgm:prSet>
      <dgm:spPr/>
    </dgm:pt>
    <dgm:pt modelId="{2C7DC533-5D1F-3C47-9B45-D4041ACA1129}" type="pres">
      <dgm:prSet presAssocID="{F3F81218-D1EF-4528-A51C-7DBAC2F6F879}" presName="bgRect" presStyleLbl="bgAccFollowNode1" presStyleIdx="1" presStyleCnt="4"/>
      <dgm:spPr/>
    </dgm:pt>
    <dgm:pt modelId="{0B5A8CC2-BA85-C14E-A7E9-70D1ED80F495}" type="pres">
      <dgm:prSet presAssocID="{5A0511E1-F4E9-406E-99E5-79C436A73059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5822674E-0D02-CF4E-BB92-FFFA1ED7739F}" type="pres">
      <dgm:prSet presAssocID="{F3F81218-D1EF-4528-A51C-7DBAC2F6F879}" presName="bottomLine" presStyleLbl="alignNode1" presStyleIdx="3" presStyleCnt="8">
        <dgm:presLayoutVars/>
      </dgm:prSet>
      <dgm:spPr/>
    </dgm:pt>
    <dgm:pt modelId="{24A356B1-6818-3641-93FA-C2177BD1EC11}" type="pres">
      <dgm:prSet presAssocID="{F3F81218-D1EF-4528-A51C-7DBAC2F6F879}" presName="nodeText" presStyleLbl="bgAccFollowNode1" presStyleIdx="1" presStyleCnt="4">
        <dgm:presLayoutVars>
          <dgm:bulletEnabled val="1"/>
        </dgm:presLayoutVars>
      </dgm:prSet>
      <dgm:spPr/>
    </dgm:pt>
    <dgm:pt modelId="{FE28A466-6853-4548-8B42-4EC3BD866B01}" type="pres">
      <dgm:prSet presAssocID="{5A0511E1-F4E9-406E-99E5-79C436A73059}" presName="sibTrans" presStyleCnt="0"/>
      <dgm:spPr/>
    </dgm:pt>
    <dgm:pt modelId="{3ADDA603-350D-FE45-901B-84E2DCF33CA0}" type="pres">
      <dgm:prSet presAssocID="{BED2A8B1-0A91-4BD4-8FDE-14BB5321A449}" presName="compositeNode" presStyleCnt="0">
        <dgm:presLayoutVars>
          <dgm:bulletEnabled val="1"/>
        </dgm:presLayoutVars>
      </dgm:prSet>
      <dgm:spPr/>
    </dgm:pt>
    <dgm:pt modelId="{958818F7-4585-0E43-8F51-78938E20180E}" type="pres">
      <dgm:prSet presAssocID="{BED2A8B1-0A91-4BD4-8FDE-14BB5321A449}" presName="bgRect" presStyleLbl="bgAccFollowNode1" presStyleIdx="2" presStyleCnt="4"/>
      <dgm:spPr/>
    </dgm:pt>
    <dgm:pt modelId="{19EFA605-BF4D-5549-B88F-6A5AA51CD215}" type="pres">
      <dgm:prSet presAssocID="{390BF0DE-0D7F-4F15-9882-28F7331EC64F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38BD8D8F-B9AD-7548-9C2B-87C384F99E96}" type="pres">
      <dgm:prSet presAssocID="{BED2A8B1-0A91-4BD4-8FDE-14BB5321A449}" presName="bottomLine" presStyleLbl="alignNode1" presStyleIdx="5" presStyleCnt="8">
        <dgm:presLayoutVars/>
      </dgm:prSet>
      <dgm:spPr/>
    </dgm:pt>
    <dgm:pt modelId="{CC461CF6-28A2-734C-9F4C-23F69B61AF4D}" type="pres">
      <dgm:prSet presAssocID="{BED2A8B1-0A91-4BD4-8FDE-14BB5321A449}" presName="nodeText" presStyleLbl="bgAccFollowNode1" presStyleIdx="2" presStyleCnt="4">
        <dgm:presLayoutVars>
          <dgm:bulletEnabled val="1"/>
        </dgm:presLayoutVars>
      </dgm:prSet>
      <dgm:spPr/>
    </dgm:pt>
    <dgm:pt modelId="{F810845B-5795-934F-873E-F8DE2B2F53BD}" type="pres">
      <dgm:prSet presAssocID="{390BF0DE-0D7F-4F15-9882-28F7331EC64F}" presName="sibTrans" presStyleCnt="0"/>
      <dgm:spPr/>
    </dgm:pt>
    <dgm:pt modelId="{51539C7A-AEE6-DD47-8C3C-39A40A4260B6}" type="pres">
      <dgm:prSet presAssocID="{72BB0962-4050-4E27-A1BC-A503727B6AE7}" presName="compositeNode" presStyleCnt="0">
        <dgm:presLayoutVars>
          <dgm:bulletEnabled val="1"/>
        </dgm:presLayoutVars>
      </dgm:prSet>
      <dgm:spPr/>
    </dgm:pt>
    <dgm:pt modelId="{FE038CF3-1F6C-B349-8BD8-7FA237D463F4}" type="pres">
      <dgm:prSet presAssocID="{72BB0962-4050-4E27-A1BC-A503727B6AE7}" presName="bgRect" presStyleLbl="bgAccFollowNode1" presStyleIdx="3" presStyleCnt="4"/>
      <dgm:spPr/>
    </dgm:pt>
    <dgm:pt modelId="{5906EEED-E6D3-0B46-947A-FCE20E78CF9C}" type="pres">
      <dgm:prSet presAssocID="{02520A03-7647-4553-954E-0DC949257007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FF2D4F40-AD96-2543-B4FA-B5F6F921E71B}" type="pres">
      <dgm:prSet presAssocID="{72BB0962-4050-4E27-A1BC-A503727B6AE7}" presName="bottomLine" presStyleLbl="alignNode1" presStyleIdx="7" presStyleCnt="8">
        <dgm:presLayoutVars/>
      </dgm:prSet>
      <dgm:spPr/>
    </dgm:pt>
    <dgm:pt modelId="{CE8D28E7-587A-B949-A9B6-669157D29672}" type="pres">
      <dgm:prSet presAssocID="{72BB0962-4050-4E27-A1BC-A503727B6AE7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5E23180F-C8CA-8342-9E08-EC1F60097514}" type="presOf" srcId="{BED2A8B1-0A91-4BD4-8FDE-14BB5321A449}" destId="{958818F7-4585-0E43-8F51-78938E20180E}" srcOrd="0" destOrd="0" presId="urn:microsoft.com/office/officeart/2016/7/layout/BasicLinearProcessNumbered"/>
    <dgm:cxn modelId="{F3332519-36F7-3146-912A-EB1989279583}" type="presOf" srcId="{ABBACB85-5166-415D-8198-D7957598F896}" destId="{952719EF-4632-C94A-861F-644764F9D3CF}" srcOrd="0" destOrd="0" presId="urn:microsoft.com/office/officeart/2016/7/layout/BasicLinearProcessNumbered"/>
    <dgm:cxn modelId="{05F01F38-F0E8-D747-B324-4D7D43DE2EE1}" type="presOf" srcId="{72BB0962-4050-4E27-A1BC-A503727B6AE7}" destId="{FE038CF3-1F6C-B349-8BD8-7FA237D463F4}" srcOrd="0" destOrd="0" presId="urn:microsoft.com/office/officeart/2016/7/layout/BasicLinearProcessNumbered"/>
    <dgm:cxn modelId="{EC8E2138-A665-A547-B781-F7B41BBEEC15}" type="presOf" srcId="{ABBACB85-5166-415D-8198-D7957598F896}" destId="{FAE8AD1A-2D5F-A746-8D98-B6D5986E0F67}" srcOrd="1" destOrd="0" presId="urn:microsoft.com/office/officeart/2016/7/layout/BasicLinearProcessNumbered"/>
    <dgm:cxn modelId="{FA36515F-3EDB-48AA-B38E-2532CCA9BA21}" srcId="{AD24F883-122C-4F7A-B33A-6063DD4A1171}" destId="{ABBACB85-5166-415D-8198-D7957598F896}" srcOrd="0" destOrd="0" parTransId="{6430FBF5-9CA8-46C2-97BA-ABCA81883B56}" sibTransId="{15FFB23A-7A1F-4EBD-A2F7-B01A8915AFAB}"/>
    <dgm:cxn modelId="{E137BA62-1593-844A-9704-108125ACACBA}" type="presOf" srcId="{AD24F883-122C-4F7A-B33A-6063DD4A1171}" destId="{3ACEB438-9C1D-BB4D-A1A2-FF9B5464778A}" srcOrd="0" destOrd="0" presId="urn:microsoft.com/office/officeart/2016/7/layout/BasicLinearProcessNumbered"/>
    <dgm:cxn modelId="{352CB975-E255-DB45-AEDD-A0D3351ADCA1}" type="presOf" srcId="{02520A03-7647-4553-954E-0DC949257007}" destId="{5906EEED-E6D3-0B46-947A-FCE20E78CF9C}" srcOrd="0" destOrd="0" presId="urn:microsoft.com/office/officeart/2016/7/layout/BasicLinearProcessNumbered"/>
    <dgm:cxn modelId="{D0C7767B-DA0E-EC40-836E-074C5155A3FC}" type="presOf" srcId="{5A0511E1-F4E9-406E-99E5-79C436A73059}" destId="{0B5A8CC2-BA85-C14E-A7E9-70D1ED80F495}" srcOrd="0" destOrd="0" presId="urn:microsoft.com/office/officeart/2016/7/layout/BasicLinearProcessNumbered"/>
    <dgm:cxn modelId="{09145E81-7C1B-4CBD-A502-C49E262CA5A6}" srcId="{AD24F883-122C-4F7A-B33A-6063DD4A1171}" destId="{F3F81218-D1EF-4528-A51C-7DBAC2F6F879}" srcOrd="1" destOrd="0" parTransId="{A73CF5E6-C1D5-48E2-B72D-865169A28070}" sibTransId="{5A0511E1-F4E9-406E-99E5-79C436A73059}"/>
    <dgm:cxn modelId="{9FC9F186-47C8-47F8-A903-626517FF1B0B}" srcId="{AD24F883-122C-4F7A-B33A-6063DD4A1171}" destId="{72BB0962-4050-4E27-A1BC-A503727B6AE7}" srcOrd="3" destOrd="0" parTransId="{CA4E4C16-63D5-488C-97E0-470E466CE3DB}" sibTransId="{02520A03-7647-4553-954E-0DC949257007}"/>
    <dgm:cxn modelId="{A733EBAD-994B-4984-82FC-AA7E1FC0FF50}" srcId="{AD24F883-122C-4F7A-B33A-6063DD4A1171}" destId="{BED2A8B1-0A91-4BD4-8FDE-14BB5321A449}" srcOrd="2" destOrd="0" parTransId="{15EB6813-048B-47BD-A09A-0BC3876C6A54}" sibTransId="{390BF0DE-0D7F-4F15-9882-28F7331EC64F}"/>
    <dgm:cxn modelId="{FA0C2DCF-BC7E-4D45-9795-F6AB0CBD1B83}" type="presOf" srcId="{72BB0962-4050-4E27-A1BC-A503727B6AE7}" destId="{CE8D28E7-587A-B949-A9B6-669157D29672}" srcOrd="1" destOrd="0" presId="urn:microsoft.com/office/officeart/2016/7/layout/BasicLinearProcessNumbered"/>
    <dgm:cxn modelId="{20C0FFD4-728D-3B40-857E-0DF36CEDE529}" type="presOf" srcId="{390BF0DE-0D7F-4F15-9882-28F7331EC64F}" destId="{19EFA605-BF4D-5549-B88F-6A5AA51CD215}" srcOrd="0" destOrd="0" presId="urn:microsoft.com/office/officeart/2016/7/layout/BasicLinearProcessNumbered"/>
    <dgm:cxn modelId="{ACDB55DC-8F41-0F4E-9380-ABFAA92F4A27}" type="presOf" srcId="{15FFB23A-7A1F-4EBD-A2F7-B01A8915AFAB}" destId="{AAAE3F2F-4E83-5F47-8672-14F4227BD403}" srcOrd="0" destOrd="0" presId="urn:microsoft.com/office/officeart/2016/7/layout/BasicLinearProcessNumbered"/>
    <dgm:cxn modelId="{87AA94E6-F426-824F-BBE4-E76546B7C6FF}" type="presOf" srcId="{F3F81218-D1EF-4528-A51C-7DBAC2F6F879}" destId="{2C7DC533-5D1F-3C47-9B45-D4041ACA1129}" srcOrd="0" destOrd="0" presId="urn:microsoft.com/office/officeart/2016/7/layout/BasicLinearProcessNumbered"/>
    <dgm:cxn modelId="{780F12E8-C0C7-C44A-AE84-93CC28FCFE13}" type="presOf" srcId="{F3F81218-D1EF-4528-A51C-7DBAC2F6F879}" destId="{24A356B1-6818-3641-93FA-C2177BD1EC11}" srcOrd="1" destOrd="0" presId="urn:microsoft.com/office/officeart/2016/7/layout/BasicLinearProcessNumbered"/>
    <dgm:cxn modelId="{9115BEFC-98B1-814C-9900-A5B41DD5D15A}" type="presOf" srcId="{BED2A8B1-0A91-4BD4-8FDE-14BB5321A449}" destId="{CC461CF6-28A2-734C-9F4C-23F69B61AF4D}" srcOrd="1" destOrd="0" presId="urn:microsoft.com/office/officeart/2016/7/layout/BasicLinearProcessNumbered"/>
    <dgm:cxn modelId="{A16CB78D-FF18-2B45-BF7F-B090A3628B6B}" type="presParOf" srcId="{3ACEB438-9C1D-BB4D-A1A2-FF9B5464778A}" destId="{389F667A-E8CB-724F-96B6-796E28316357}" srcOrd="0" destOrd="0" presId="urn:microsoft.com/office/officeart/2016/7/layout/BasicLinearProcessNumbered"/>
    <dgm:cxn modelId="{24C2E1B0-78A5-2347-B28C-0911FFAD17C4}" type="presParOf" srcId="{389F667A-E8CB-724F-96B6-796E28316357}" destId="{952719EF-4632-C94A-861F-644764F9D3CF}" srcOrd="0" destOrd="0" presId="urn:microsoft.com/office/officeart/2016/7/layout/BasicLinearProcessNumbered"/>
    <dgm:cxn modelId="{2B3D21F7-5DDC-E545-8FC2-A55244946A2E}" type="presParOf" srcId="{389F667A-E8CB-724F-96B6-796E28316357}" destId="{AAAE3F2F-4E83-5F47-8672-14F4227BD403}" srcOrd="1" destOrd="0" presId="urn:microsoft.com/office/officeart/2016/7/layout/BasicLinearProcessNumbered"/>
    <dgm:cxn modelId="{F2C48CB8-0E72-ED45-87B6-ED19ACDEDDC3}" type="presParOf" srcId="{389F667A-E8CB-724F-96B6-796E28316357}" destId="{542FA557-19ED-4447-BD2F-4C214379A184}" srcOrd="2" destOrd="0" presId="urn:microsoft.com/office/officeart/2016/7/layout/BasicLinearProcessNumbered"/>
    <dgm:cxn modelId="{BBD46E25-FA83-B94C-A2DE-C55FAD0356DC}" type="presParOf" srcId="{389F667A-E8CB-724F-96B6-796E28316357}" destId="{FAE8AD1A-2D5F-A746-8D98-B6D5986E0F67}" srcOrd="3" destOrd="0" presId="urn:microsoft.com/office/officeart/2016/7/layout/BasicLinearProcessNumbered"/>
    <dgm:cxn modelId="{46B0512C-4876-E245-B607-4813DDE79E5A}" type="presParOf" srcId="{3ACEB438-9C1D-BB4D-A1A2-FF9B5464778A}" destId="{F8086797-0475-A44C-90C6-49B587A40189}" srcOrd="1" destOrd="0" presId="urn:microsoft.com/office/officeart/2016/7/layout/BasicLinearProcessNumbered"/>
    <dgm:cxn modelId="{FC824300-483F-834D-928B-D84F158FDDBC}" type="presParOf" srcId="{3ACEB438-9C1D-BB4D-A1A2-FF9B5464778A}" destId="{64677022-DEFD-8248-A872-47D538065C3E}" srcOrd="2" destOrd="0" presId="urn:microsoft.com/office/officeart/2016/7/layout/BasicLinearProcessNumbered"/>
    <dgm:cxn modelId="{B9E90640-E79A-4B4E-A0CC-61C81DCE65D7}" type="presParOf" srcId="{64677022-DEFD-8248-A872-47D538065C3E}" destId="{2C7DC533-5D1F-3C47-9B45-D4041ACA1129}" srcOrd="0" destOrd="0" presId="urn:microsoft.com/office/officeart/2016/7/layout/BasicLinearProcessNumbered"/>
    <dgm:cxn modelId="{61F7B0CF-C605-AC4A-B029-AE2340E24B9D}" type="presParOf" srcId="{64677022-DEFD-8248-A872-47D538065C3E}" destId="{0B5A8CC2-BA85-C14E-A7E9-70D1ED80F495}" srcOrd="1" destOrd="0" presId="urn:microsoft.com/office/officeart/2016/7/layout/BasicLinearProcessNumbered"/>
    <dgm:cxn modelId="{03286FCF-09EA-A44F-87A1-6C8B4220BF93}" type="presParOf" srcId="{64677022-DEFD-8248-A872-47D538065C3E}" destId="{5822674E-0D02-CF4E-BB92-FFFA1ED7739F}" srcOrd="2" destOrd="0" presId="urn:microsoft.com/office/officeart/2016/7/layout/BasicLinearProcessNumbered"/>
    <dgm:cxn modelId="{144AC4D7-A0DD-3940-8220-5181F956B2FD}" type="presParOf" srcId="{64677022-DEFD-8248-A872-47D538065C3E}" destId="{24A356B1-6818-3641-93FA-C2177BD1EC11}" srcOrd="3" destOrd="0" presId="urn:microsoft.com/office/officeart/2016/7/layout/BasicLinearProcessNumbered"/>
    <dgm:cxn modelId="{C96C755F-6595-6E4C-B335-CAFE7E5AB4F9}" type="presParOf" srcId="{3ACEB438-9C1D-BB4D-A1A2-FF9B5464778A}" destId="{FE28A466-6853-4548-8B42-4EC3BD866B01}" srcOrd="3" destOrd="0" presId="urn:microsoft.com/office/officeart/2016/7/layout/BasicLinearProcessNumbered"/>
    <dgm:cxn modelId="{30334320-F13D-BC49-96D8-270017A909F5}" type="presParOf" srcId="{3ACEB438-9C1D-BB4D-A1A2-FF9B5464778A}" destId="{3ADDA603-350D-FE45-901B-84E2DCF33CA0}" srcOrd="4" destOrd="0" presId="urn:microsoft.com/office/officeart/2016/7/layout/BasicLinearProcessNumbered"/>
    <dgm:cxn modelId="{86A0698F-1B06-BD4E-A726-218C4AB1BF22}" type="presParOf" srcId="{3ADDA603-350D-FE45-901B-84E2DCF33CA0}" destId="{958818F7-4585-0E43-8F51-78938E20180E}" srcOrd="0" destOrd="0" presId="urn:microsoft.com/office/officeart/2016/7/layout/BasicLinearProcessNumbered"/>
    <dgm:cxn modelId="{94CE1241-AC12-084B-9E4F-FE36568E53E8}" type="presParOf" srcId="{3ADDA603-350D-FE45-901B-84E2DCF33CA0}" destId="{19EFA605-BF4D-5549-B88F-6A5AA51CD215}" srcOrd="1" destOrd="0" presId="urn:microsoft.com/office/officeart/2016/7/layout/BasicLinearProcessNumbered"/>
    <dgm:cxn modelId="{DB3016DE-85C9-E240-9DFD-D2E715927033}" type="presParOf" srcId="{3ADDA603-350D-FE45-901B-84E2DCF33CA0}" destId="{38BD8D8F-B9AD-7548-9C2B-87C384F99E96}" srcOrd="2" destOrd="0" presId="urn:microsoft.com/office/officeart/2016/7/layout/BasicLinearProcessNumbered"/>
    <dgm:cxn modelId="{C29168A8-0302-C648-9C75-752F0507A3E7}" type="presParOf" srcId="{3ADDA603-350D-FE45-901B-84E2DCF33CA0}" destId="{CC461CF6-28A2-734C-9F4C-23F69B61AF4D}" srcOrd="3" destOrd="0" presId="urn:microsoft.com/office/officeart/2016/7/layout/BasicLinearProcessNumbered"/>
    <dgm:cxn modelId="{484C4F05-3844-C041-A20D-A1DD888FE67A}" type="presParOf" srcId="{3ACEB438-9C1D-BB4D-A1A2-FF9B5464778A}" destId="{F810845B-5795-934F-873E-F8DE2B2F53BD}" srcOrd="5" destOrd="0" presId="urn:microsoft.com/office/officeart/2016/7/layout/BasicLinearProcessNumbered"/>
    <dgm:cxn modelId="{065AE89B-B265-7C4D-9880-557BEEE51E97}" type="presParOf" srcId="{3ACEB438-9C1D-BB4D-A1A2-FF9B5464778A}" destId="{51539C7A-AEE6-DD47-8C3C-39A40A4260B6}" srcOrd="6" destOrd="0" presId="urn:microsoft.com/office/officeart/2016/7/layout/BasicLinearProcessNumbered"/>
    <dgm:cxn modelId="{00E933B1-525E-704B-A5AC-48D15BD69516}" type="presParOf" srcId="{51539C7A-AEE6-DD47-8C3C-39A40A4260B6}" destId="{FE038CF3-1F6C-B349-8BD8-7FA237D463F4}" srcOrd="0" destOrd="0" presId="urn:microsoft.com/office/officeart/2016/7/layout/BasicLinearProcessNumbered"/>
    <dgm:cxn modelId="{DDCD6A16-B032-EA42-A1E6-D9DA16C77BC5}" type="presParOf" srcId="{51539C7A-AEE6-DD47-8C3C-39A40A4260B6}" destId="{5906EEED-E6D3-0B46-947A-FCE20E78CF9C}" srcOrd="1" destOrd="0" presId="urn:microsoft.com/office/officeart/2016/7/layout/BasicLinearProcessNumbered"/>
    <dgm:cxn modelId="{34421B46-674F-6442-B970-D7D1C8700CC6}" type="presParOf" srcId="{51539C7A-AEE6-DD47-8C3C-39A40A4260B6}" destId="{FF2D4F40-AD96-2543-B4FA-B5F6F921E71B}" srcOrd="2" destOrd="0" presId="urn:microsoft.com/office/officeart/2016/7/layout/BasicLinearProcessNumbered"/>
    <dgm:cxn modelId="{33B348D1-9E61-6E44-882F-ACC95FE86FFF}" type="presParOf" srcId="{51539C7A-AEE6-DD47-8C3C-39A40A4260B6}" destId="{CE8D28E7-587A-B949-A9B6-669157D29672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C9DD31F-3DF9-4736-9008-97C79A020465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518FE4A-B2B2-4177-A6C0-815DA5C205C8}">
      <dgm:prSet/>
      <dgm:spPr/>
      <dgm:t>
        <a:bodyPr/>
        <a:lstStyle/>
        <a:p>
          <a:r>
            <a:rPr lang="pl-PL" b="1"/>
            <a:t>Podstawowa instalacja:</a:t>
          </a:r>
          <a:endParaRPr lang="en-US"/>
        </a:p>
      </dgm:t>
    </dgm:pt>
    <dgm:pt modelId="{BF9BB46E-CCC6-4292-894E-EAC6DEF6CF26}" type="parTrans" cxnId="{D1107388-300A-4C91-83A9-11D608AEDE87}">
      <dgm:prSet/>
      <dgm:spPr/>
      <dgm:t>
        <a:bodyPr/>
        <a:lstStyle/>
        <a:p>
          <a:endParaRPr lang="en-US"/>
        </a:p>
      </dgm:t>
    </dgm:pt>
    <dgm:pt modelId="{D2E701B8-7A13-453C-A9E8-0DA201D67C5B}" type="sibTrans" cxnId="{D1107388-300A-4C91-83A9-11D608AEDE87}">
      <dgm:prSet/>
      <dgm:spPr/>
      <dgm:t>
        <a:bodyPr/>
        <a:lstStyle/>
        <a:p>
          <a:endParaRPr lang="en-US"/>
        </a:p>
      </dgm:t>
    </dgm:pt>
    <dgm:pt modelId="{91616C7E-DA81-4513-A798-31F3551E3EB8}">
      <dgm:prSet/>
      <dgm:spPr/>
      <dgm:t>
        <a:bodyPr/>
        <a:lstStyle/>
        <a:p>
          <a:r>
            <a:rPr lang="pl-PL"/>
            <a:t>pip install locust</a:t>
          </a:r>
          <a:endParaRPr lang="en-US"/>
        </a:p>
      </dgm:t>
    </dgm:pt>
    <dgm:pt modelId="{C4C7FF35-232B-4AEF-BF01-191264FFBF12}" type="parTrans" cxnId="{B7BDB80A-622F-4C4E-96D7-2F686DE58E9E}">
      <dgm:prSet/>
      <dgm:spPr/>
      <dgm:t>
        <a:bodyPr/>
        <a:lstStyle/>
        <a:p>
          <a:endParaRPr lang="en-US"/>
        </a:p>
      </dgm:t>
    </dgm:pt>
    <dgm:pt modelId="{48A896D2-7F4D-4165-BD98-EB03AB0BE2E2}" type="sibTrans" cxnId="{B7BDB80A-622F-4C4E-96D7-2F686DE58E9E}">
      <dgm:prSet/>
      <dgm:spPr/>
      <dgm:t>
        <a:bodyPr/>
        <a:lstStyle/>
        <a:p>
          <a:endParaRPr lang="en-US"/>
        </a:p>
      </dgm:t>
    </dgm:pt>
    <dgm:pt modelId="{F32521C8-9024-4994-82FA-583BFBC4B132}">
      <dgm:prSet/>
      <dgm:spPr/>
      <dgm:t>
        <a:bodyPr/>
        <a:lstStyle/>
        <a:p>
          <a:r>
            <a:rPr lang="pl-PL" b="1"/>
            <a:t>Weryfikacja:</a:t>
          </a:r>
          <a:endParaRPr lang="en-US"/>
        </a:p>
      </dgm:t>
    </dgm:pt>
    <dgm:pt modelId="{D6FEC8DD-F511-4B2E-ACD2-CFC0A26FD399}" type="parTrans" cxnId="{55B564FC-833D-42D8-A595-DD64DCF7D707}">
      <dgm:prSet/>
      <dgm:spPr/>
      <dgm:t>
        <a:bodyPr/>
        <a:lstStyle/>
        <a:p>
          <a:endParaRPr lang="en-US"/>
        </a:p>
      </dgm:t>
    </dgm:pt>
    <dgm:pt modelId="{26CB8FAC-9F5F-4209-A952-E355C192DDA1}" type="sibTrans" cxnId="{55B564FC-833D-42D8-A595-DD64DCF7D707}">
      <dgm:prSet/>
      <dgm:spPr/>
      <dgm:t>
        <a:bodyPr/>
        <a:lstStyle/>
        <a:p>
          <a:endParaRPr lang="en-US"/>
        </a:p>
      </dgm:t>
    </dgm:pt>
    <dgm:pt modelId="{20885F9A-CF47-4F87-AF28-19B35EB401EF}">
      <dgm:prSet/>
      <dgm:spPr/>
      <dgm:t>
        <a:bodyPr/>
        <a:lstStyle/>
        <a:p>
          <a:r>
            <a:rPr lang="pl-PL"/>
            <a:t>locust --version</a:t>
          </a:r>
          <a:endParaRPr lang="en-US"/>
        </a:p>
      </dgm:t>
    </dgm:pt>
    <dgm:pt modelId="{829C3A4C-B0C6-4FF8-A9E7-23A5879D85CD}" type="parTrans" cxnId="{F103DC36-10C7-4341-83CC-EAACC06B9E77}">
      <dgm:prSet/>
      <dgm:spPr/>
      <dgm:t>
        <a:bodyPr/>
        <a:lstStyle/>
        <a:p>
          <a:endParaRPr lang="en-US"/>
        </a:p>
      </dgm:t>
    </dgm:pt>
    <dgm:pt modelId="{270D1BBA-843E-435D-A2DD-30DA432EBE69}" type="sibTrans" cxnId="{F103DC36-10C7-4341-83CC-EAACC06B9E77}">
      <dgm:prSet/>
      <dgm:spPr/>
      <dgm:t>
        <a:bodyPr/>
        <a:lstStyle/>
        <a:p>
          <a:endParaRPr lang="en-US"/>
        </a:p>
      </dgm:t>
    </dgm:pt>
    <dgm:pt modelId="{5602CB70-7704-41ED-8F41-DEC0B692B17D}" type="pres">
      <dgm:prSet presAssocID="{EC9DD31F-3DF9-4736-9008-97C79A020465}" presName="root" presStyleCnt="0">
        <dgm:presLayoutVars>
          <dgm:dir/>
          <dgm:resizeHandles val="exact"/>
        </dgm:presLayoutVars>
      </dgm:prSet>
      <dgm:spPr/>
    </dgm:pt>
    <dgm:pt modelId="{B5EAA890-69EA-453F-A35E-BCEBD3EB957C}" type="pres">
      <dgm:prSet presAssocID="{6518FE4A-B2B2-4177-A6C0-815DA5C205C8}" presName="compNode" presStyleCnt="0"/>
      <dgm:spPr/>
    </dgm:pt>
    <dgm:pt modelId="{CC564C70-D288-47B0-A38C-2DE60E8CB579}" type="pres">
      <dgm:prSet presAssocID="{6518FE4A-B2B2-4177-A6C0-815DA5C205C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arzędzia"/>
        </a:ext>
      </dgm:extLst>
    </dgm:pt>
    <dgm:pt modelId="{43010BCC-AD70-471F-AF8E-71A70EF5D320}" type="pres">
      <dgm:prSet presAssocID="{6518FE4A-B2B2-4177-A6C0-815DA5C205C8}" presName="spaceRect" presStyleCnt="0"/>
      <dgm:spPr/>
    </dgm:pt>
    <dgm:pt modelId="{A68AFF2B-18B3-4FEE-9BB6-038033ACBD2E}" type="pres">
      <dgm:prSet presAssocID="{6518FE4A-B2B2-4177-A6C0-815DA5C205C8}" presName="textRect" presStyleLbl="revTx" presStyleIdx="0" presStyleCnt="4">
        <dgm:presLayoutVars>
          <dgm:chMax val="1"/>
          <dgm:chPref val="1"/>
        </dgm:presLayoutVars>
      </dgm:prSet>
      <dgm:spPr/>
    </dgm:pt>
    <dgm:pt modelId="{93CCC533-FCED-4F7E-AE76-6FF640A48E2A}" type="pres">
      <dgm:prSet presAssocID="{D2E701B8-7A13-453C-A9E8-0DA201D67C5B}" presName="sibTrans" presStyleCnt="0"/>
      <dgm:spPr/>
    </dgm:pt>
    <dgm:pt modelId="{F955BC07-8532-4CF7-8DA8-68053F8CD0C1}" type="pres">
      <dgm:prSet presAssocID="{91616C7E-DA81-4513-A798-31F3551E3EB8}" presName="compNode" presStyleCnt="0"/>
      <dgm:spPr/>
    </dgm:pt>
    <dgm:pt modelId="{1168D869-05FA-4634-83C7-D51A36AE62AC}" type="pres">
      <dgm:prSet presAssocID="{91616C7E-DA81-4513-A798-31F3551E3EB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Znacznik wyboru"/>
        </a:ext>
      </dgm:extLst>
    </dgm:pt>
    <dgm:pt modelId="{21D25277-4280-4B68-AA1E-2FB1922D9F7C}" type="pres">
      <dgm:prSet presAssocID="{91616C7E-DA81-4513-A798-31F3551E3EB8}" presName="spaceRect" presStyleCnt="0"/>
      <dgm:spPr/>
    </dgm:pt>
    <dgm:pt modelId="{E5593181-F65F-4ED1-86BD-09DC2A63DE6B}" type="pres">
      <dgm:prSet presAssocID="{91616C7E-DA81-4513-A798-31F3551E3EB8}" presName="textRect" presStyleLbl="revTx" presStyleIdx="1" presStyleCnt="4">
        <dgm:presLayoutVars>
          <dgm:chMax val="1"/>
          <dgm:chPref val="1"/>
        </dgm:presLayoutVars>
      </dgm:prSet>
      <dgm:spPr/>
    </dgm:pt>
    <dgm:pt modelId="{2BE62ECB-CFBA-4946-965A-625FB5024F73}" type="pres">
      <dgm:prSet presAssocID="{48A896D2-7F4D-4165-BD98-EB03AB0BE2E2}" presName="sibTrans" presStyleCnt="0"/>
      <dgm:spPr/>
    </dgm:pt>
    <dgm:pt modelId="{4F2DBB07-0221-4602-A3DC-60CB41C7FCE4}" type="pres">
      <dgm:prSet presAssocID="{F32521C8-9024-4994-82FA-583BFBC4B132}" presName="compNode" presStyleCnt="0"/>
      <dgm:spPr/>
    </dgm:pt>
    <dgm:pt modelId="{496170E1-EE39-4C6A-B24C-F56198EF4376}" type="pres">
      <dgm:prSet presAssocID="{F32521C8-9024-4994-82FA-583BFBC4B13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sta kontrolna"/>
        </a:ext>
      </dgm:extLst>
    </dgm:pt>
    <dgm:pt modelId="{720AF50B-C8A0-4965-8E13-756BCE0ADAEE}" type="pres">
      <dgm:prSet presAssocID="{F32521C8-9024-4994-82FA-583BFBC4B132}" presName="spaceRect" presStyleCnt="0"/>
      <dgm:spPr/>
    </dgm:pt>
    <dgm:pt modelId="{425AF48D-EFFA-469D-B5BE-D41E58F74AE0}" type="pres">
      <dgm:prSet presAssocID="{F32521C8-9024-4994-82FA-583BFBC4B132}" presName="textRect" presStyleLbl="revTx" presStyleIdx="2" presStyleCnt="4">
        <dgm:presLayoutVars>
          <dgm:chMax val="1"/>
          <dgm:chPref val="1"/>
        </dgm:presLayoutVars>
      </dgm:prSet>
      <dgm:spPr/>
    </dgm:pt>
    <dgm:pt modelId="{CB57B16D-B517-436F-B658-14D9864536B1}" type="pres">
      <dgm:prSet presAssocID="{26CB8FAC-9F5F-4209-A952-E355C192DDA1}" presName="sibTrans" presStyleCnt="0"/>
      <dgm:spPr/>
    </dgm:pt>
    <dgm:pt modelId="{BCEE9E79-1273-4E01-879B-40FA8CAA59FB}" type="pres">
      <dgm:prSet presAssocID="{20885F9A-CF47-4F87-AF28-19B35EB401EF}" presName="compNode" presStyleCnt="0"/>
      <dgm:spPr/>
    </dgm:pt>
    <dgm:pt modelId="{1330363E-C16E-4A58-8A3A-08C8B56D477B}" type="pres">
      <dgm:prSet presAssocID="{20885F9A-CF47-4F87-AF28-19B35EB401E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onik polny"/>
        </a:ext>
      </dgm:extLst>
    </dgm:pt>
    <dgm:pt modelId="{3F8FED22-1011-4977-8BB7-86EE0F05FC0F}" type="pres">
      <dgm:prSet presAssocID="{20885F9A-CF47-4F87-AF28-19B35EB401EF}" presName="spaceRect" presStyleCnt="0"/>
      <dgm:spPr/>
    </dgm:pt>
    <dgm:pt modelId="{BB8E14EA-BC01-4534-9772-4965570C2EAE}" type="pres">
      <dgm:prSet presAssocID="{20885F9A-CF47-4F87-AF28-19B35EB401E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B7BDB80A-622F-4C4E-96D7-2F686DE58E9E}" srcId="{EC9DD31F-3DF9-4736-9008-97C79A020465}" destId="{91616C7E-DA81-4513-A798-31F3551E3EB8}" srcOrd="1" destOrd="0" parTransId="{C4C7FF35-232B-4AEF-BF01-191264FFBF12}" sibTransId="{48A896D2-7F4D-4165-BD98-EB03AB0BE2E2}"/>
    <dgm:cxn modelId="{47F0191A-79E0-48F3-B5FF-0D271EAC9565}" type="presOf" srcId="{20885F9A-CF47-4F87-AF28-19B35EB401EF}" destId="{BB8E14EA-BC01-4534-9772-4965570C2EAE}" srcOrd="0" destOrd="0" presId="urn:microsoft.com/office/officeart/2018/2/layout/IconLabelList"/>
    <dgm:cxn modelId="{F103DC36-10C7-4341-83CC-EAACC06B9E77}" srcId="{EC9DD31F-3DF9-4736-9008-97C79A020465}" destId="{20885F9A-CF47-4F87-AF28-19B35EB401EF}" srcOrd="3" destOrd="0" parTransId="{829C3A4C-B0C6-4FF8-A9E7-23A5879D85CD}" sibTransId="{270D1BBA-843E-435D-A2DD-30DA432EBE69}"/>
    <dgm:cxn modelId="{B354503F-54A3-4F3C-AE34-96C33AF13B48}" type="presOf" srcId="{EC9DD31F-3DF9-4736-9008-97C79A020465}" destId="{5602CB70-7704-41ED-8F41-DEC0B692B17D}" srcOrd="0" destOrd="0" presId="urn:microsoft.com/office/officeart/2018/2/layout/IconLabelList"/>
    <dgm:cxn modelId="{F5C82363-435A-4EA9-AF73-63C0C7616D2A}" type="presOf" srcId="{91616C7E-DA81-4513-A798-31F3551E3EB8}" destId="{E5593181-F65F-4ED1-86BD-09DC2A63DE6B}" srcOrd="0" destOrd="0" presId="urn:microsoft.com/office/officeart/2018/2/layout/IconLabelList"/>
    <dgm:cxn modelId="{7D2B6566-FB41-4C6B-964C-3A2A4A9245E6}" type="presOf" srcId="{F32521C8-9024-4994-82FA-583BFBC4B132}" destId="{425AF48D-EFFA-469D-B5BE-D41E58F74AE0}" srcOrd="0" destOrd="0" presId="urn:microsoft.com/office/officeart/2018/2/layout/IconLabelList"/>
    <dgm:cxn modelId="{D1107388-300A-4C91-83A9-11D608AEDE87}" srcId="{EC9DD31F-3DF9-4736-9008-97C79A020465}" destId="{6518FE4A-B2B2-4177-A6C0-815DA5C205C8}" srcOrd="0" destOrd="0" parTransId="{BF9BB46E-CCC6-4292-894E-EAC6DEF6CF26}" sibTransId="{D2E701B8-7A13-453C-A9E8-0DA201D67C5B}"/>
    <dgm:cxn modelId="{18A7EEA5-CF84-419B-81D0-C1FDC0058889}" type="presOf" srcId="{6518FE4A-B2B2-4177-A6C0-815DA5C205C8}" destId="{A68AFF2B-18B3-4FEE-9BB6-038033ACBD2E}" srcOrd="0" destOrd="0" presId="urn:microsoft.com/office/officeart/2018/2/layout/IconLabelList"/>
    <dgm:cxn modelId="{55B564FC-833D-42D8-A595-DD64DCF7D707}" srcId="{EC9DD31F-3DF9-4736-9008-97C79A020465}" destId="{F32521C8-9024-4994-82FA-583BFBC4B132}" srcOrd="2" destOrd="0" parTransId="{D6FEC8DD-F511-4B2E-ACD2-CFC0A26FD399}" sibTransId="{26CB8FAC-9F5F-4209-A952-E355C192DDA1}"/>
    <dgm:cxn modelId="{FE17C7A2-1EE7-4ECE-98C8-32BEAB18380A}" type="presParOf" srcId="{5602CB70-7704-41ED-8F41-DEC0B692B17D}" destId="{B5EAA890-69EA-453F-A35E-BCEBD3EB957C}" srcOrd="0" destOrd="0" presId="urn:microsoft.com/office/officeart/2018/2/layout/IconLabelList"/>
    <dgm:cxn modelId="{83D43DBB-ACC6-46F2-98E4-D60E188FD2FF}" type="presParOf" srcId="{B5EAA890-69EA-453F-A35E-BCEBD3EB957C}" destId="{CC564C70-D288-47B0-A38C-2DE60E8CB579}" srcOrd="0" destOrd="0" presId="urn:microsoft.com/office/officeart/2018/2/layout/IconLabelList"/>
    <dgm:cxn modelId="{A5445BA8-7468-43A2-A4CB-4AAA050F64E7}" type="presParOf" srcId="{B5EAA890-69EA-453F-A35E-BCEBD3EB957C}" destId="{43010BCC-AD70-471F-AF8E-71A70EF5D320}" srcOrd="1" destOrd="0" presId="urn:microsoft.com/office/officeart/2018/2/layout/IconLabelList"/>
    <dgm:cxn modelId="{F8F500A9-3D70-4C1D-9E0D-4DA0EEC532FD}" type="presParOf" srcId="{B5EAA890-69EA-453F-A35E-BCEBD3EB957C}" destId="{A68AFF2B-18B3-4FEE-9BB6-038033ACBD2E}" srcOrd="2" destOrd="0" presId="urn:microsoft.com/office/officeart/2018/2/layout/IconLabelList"/>
    <dgm:cxn modelId="{3432B49E-80DE-459F-B8E3-97C7752C0007}" type="presParOf" srcId="{5602CB70-7704-41ED-8F41-DEC0B692B17D}" destId="{93CCC533-FCED-4F7E-AE76-6FF640A48E2A}" srcOrd="1" destOrd="0" presId="urn:microsoft.com/office/officeart/2018/2/layout/IconLabelList"/>
    <dgm:cxn modelId="{E69C97E1-0B24-4285-BEA4-D8D99167BF7E}" type="presParOf" srcId="{5602CB70-7704-41ED-8F41-DEC0B692B17D}" destId="{F955BC07-8532-4CF7-8DA8-68053F8CD0C1}" srcOrd="2" destOrd="0" presId="urn:microsoft.com/office/officeart/2018/2/layout/IconLabelList"/>
    <dgm:cxn modelId="{CF3605BC-25DE-454C-BBCD-4AB45676C9F5}" type="presParOf" srcId="{F955BC07-8532-4CF7-8DA8-68053F8CD0C1}" destId="{1168D869-05FA-4634-83C7-D51A36AE62AC}" srcOrd="0" destOrd="0" presId="urn:microsoft.com/office/officeart/2018/2/layout/IconLabelList"/>
    <dgm:cxn modelId="{A3FCBFA7-DBF7-4BE0-85EA-894EEB72DC27}" type="presParOf" srcId="{F955BC07-8532-4CF7-8DA8-68053F8CD0C1}" destId="{21D25277-4280-4B68-AA1E-2FB1922D9F7C}" srcOrd="1" destOrd="0" presId="urn:microsoft.com/office/officeart/2018/2/layout/IconLabelList"/>
    <dgm:cxn modelId="{999E0EDC-72E2-452B-93A8-82D4D29CBE7C}" type="presParOf" srcId="{F955BC07-8532-4CF7-8DA8-68053F8CD0C1}" destId="{E5593181-F65F-4ED1-86BD-09DC2A63DE6B}" srcOrd="2" destOrd="0" presId="urn:microsoft.com/office/officeart/2018/2/layout/IconLabelList"/>
    <dgm:cxn modelId="{7358EEAA-6028-49C2-8B0C-2488873BAA33}" type="presParOf" srcId="{5602CB70-7704-41ED-8F41-DEC0B692B17D}" destId="{2BE62ECB-CFBA-4946-965A-625FB5024F73}" srcOrd="3" destOrd="0" presId="urn:microsoft.com/office/officeart/2018/2/layout/IconLabelList"/>
    <dgm:cxn modelId="{0FEAF782-83BD-430E-90C0-60BD204539CC}" type="presParOf" srcId="{5602CB70-7704-41ED-8F41-DEC0B692B17D}" destId="{4F2DBB07-0221-4602-A3DC-60CB41C7FCE4}" srcOrd="4" destOrd="0" presId="urn:microsoft.com/office/officeart/2018/2/layout/IconLabelList"/>
    <dgm:cxn modelId="{5016238A-5F05-4E36-80DC-E530709B8CD2}" type="presParOf" srcId="{4F2DBB07-0221-4602-A3DC-60CB41C7FCE4}" destId="{496170E1-EE39-4C6A-B24C-F56198EF4376}" srcOrd="0" destOrd="0" presId="urn:microsoft.com/office/officeart/2018/2/layout/IconLabelList"/>
    <dgm:cxn modelId="{32E4906C-D918-4EE7-BD49-10D542AD1DE9}" type="presParOf" srcId="{4F2DBB07-0221-4602-A3DC-60CB41C7FCE4}" destId="{720AF50B-C8A0-4965-8E13-756BCE0ADAEE}" srcOrd="1" destOrd="0" presId="urn:microsoft.com/office/officeart/2018/2/layout/IconLabelList"/>
    <dgm:cxn modelId="{C894AFD8-DEEF-4D3C-82EA-A5FB487DB444}" type="presParOf" srcId="{4F2DBB07-0221-4602-A3DC-60CB41C7FCE4}" destId="{425AF48D-EFFA-469D-B5BE-D41E58F74AE0}" srcOrd="2" destOrd="0" presId="urn:microsoft.com/office/officeart/2018/2/layout/IconLabelList"/>
    <dgm:cxn modelId="{6F73921D-03A7-480A-A26E-1B3355D3353C}" type="presParOf" srcId="{5602CB70-7704-41ED-8F41-DEC0B692B17D}" destId="{CB57B16D-B517-436F-B658-14D9864536B1}" srcOrd="5" destOrd="0" presId="urn:microsoft.com/office/officeart/2018/2/layout/IconLabelList"/>
    <dgm:cxn modelId="{E5F7A196-3E52-4056-887C-188E1F98866B}" type="presParOf" srcId="{5602CB70-7704-41ED-8F41-DEC0B692B17D}" destId="{BCEE9E79-1273-4E01-879B-40FA8CAA59FB}" srcOrd="6" destOrd="0" presId="urn:microsoft.com/office/officeart/2018/2/layout/IconLabelList"/>
    <dgm:cxn modelId="{3302FE60-C97F-4370-9100-A87626C37BEE}" type="presParOf" srcId="{BCEE9E79-1273-4E01-879B-40FA8CAA59FB}" destId="{1330363E-C16E-4A58-8A3A-08C8B56D477B}" srcOrd="0" destOrd="0" presId="urn:microsoft.com/office/officeart/2018/2/layout/IconLabelList"/>
    <dgm:cxn modelId="{CE4AA7C4-C877-4234-9ABB-5E109F33ED1F}" type="presParOf" srcId="{BCEE9E79-1273-4E01-879B-40FA8CAA59FB}" destId="{3F8FED22-1011-4977-8BB7-86EE0F05FC0F}" srcOrd="1" destOrd="0" presId="urn:microsoft.com/office/officeart/2018/2/layout/IconLabelList"/>
    <dgm:cxn modelId="{EC7D282B-33E7-476A-B1E4-CE67CDFF1FEF}" type="presParOf" srcId="{BCEE9E79-1273-4E01-879B-40FA8CAA59FB}" destId="{BB8E14EA-BC01-4534-9772-4965570C2EA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439319-0DAC-9147-B12C-FFE9B5FEF5A5}">
      <dsp:nvSpPr>
        <dsp:cNvPr id="0" name=""/>
        <dsp:cNvSpPr/>
      </dsp:nvSpPr>
      <dsp:spPr>
        <a:xfrm>
          <a:off x="0" y="82067"/>
          <a:ext cx="5737860" cy="74353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100" kern="1200" dirty="0"/>
            <a:t>Cele Szkolenia </a:t>
          </a:r>
          <a:endParaRPr lang="en-US" sz="3100" kern="1200" dirty="0"/>
        </a:p>
      </dsp:txBody>
      <dsp:txXfrm>
        <a:off x="36296" y="118363"/>
        <a:ext cx="5665268" cy="670943"/>
      </dsp:txXfrm>
    </dsp:sp>
    <dsp:sp modelId="{EC0F3619-C313-2841-B144-F09A6F0239B3}">
      <dsp:nvSpPr>
        <dsp:cNvPr id="0" name=""/>
        <dsp:cNvSpPr/>
      </dsp:nvSpPr>
      <dsp:spPr>
        <a:xfrm>
          <a:off x="0" y="825602"/>
          <a:ext cx="5737860" cy="27593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177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l-PL" sz="2400" kern="1200"/>
            <a:t>Podstawowe Pojęcia 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l-PL" sz="2400" kern="1200"/>
            <a:t>Metryki Wydajnościowe 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l-PL" sz="2400" kern="1200"/>
            <a:t>Narzędzia do Testów 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l-PL" sz="2400" kern="1200"/>
            <a:t>Apache Locust - Wprowadzenie Scenariusze Testowe 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l-PL" sz="2400" kern="1200" dirty="0"/>
            <a:t>Analiza Wyników</a:t>
          </a: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l-PL" sz="2400" kern="1200" dirty="0"/>
            <a:t>Ćwiczenia Praktyczne</a:t>
          </a:r>
          <a:endParaRPr lang="en-US" sz="2400" kern="1200" dirty="0"/>
        </a:p>
      </dsp:txBody>
      <dsp:txXfrm>
        <a:off x="0" y="825602"/>
        <a:ext cx="5737860" cy="275930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EDE0F0-C783-4EE2-A3DC-7B473E85B6C6}">
      <dsp:nvSpPr>
        <dsp:cNvPr id="0" name=""/>
        <dsp:cNvSpPr/>
      </dsp:nvSpPr>
      <dsp:spPr>
        <a:xfrm>
          <a:off x="2232464" y="69431"/>
          <a:ext cx="2196000" cy="2196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26780B-1469-4958-9417-2897E410B29F}">
      <dsp:nvSpPr>
        <dsp:cNvPr id="0" name=""/>
        <dsp:cNvSpPr/>
      </dsp:nvSpPr>
      <dsp:spPr>
        <a:xfrm>
          <a:off x="2700464" y="537431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058AE6-69F3-4158-9744-86772A2B6C14}">
      <dsp:nvSpPr>
        <dsp:cNvPr id="0" name=""/>
        <dsp:cNvSpPr/>
      </dsp:nvSpPr>
      <dsp:spPr>
        <a:xfrm>
          <a:off x="1530464" y="2949431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l-PL" sz="2100" kern="1200"/>
            <a:t>Godziny pracy wsparcia (24/7, Business hours, itp.) </a:t>
          </a:r>
          <a:endParaRPr lang="en-US" sz="2100" kern="1200"/>
        </a:p>
      </dsp:txBody>
      <dsp:txXfrm>
        <a:off x="1530464" y="2949431"/>
        <a:ext cx="3600000" cy="720000"/>
      </dsp:txXfrm>
    </dsp:sp>
    <dsp:sp modelId="{81372563-E1DC-46CA-91F2-3F3E01FABA5C}">
      <dsp:nvSpPr>
        <dsp:cNvPr id="0" name=""/>
        <dsp:cNvSpPr/>
      </dsp:nvSpPr>
      <dsp:spPr>
        <a:xfrm>
          <a:off x="6462464" y="69431"/>
          <a:ext cx="2196000" cy="2196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075227-73E6-47B5-BF80-91A9AE7F2831}">
      <dsp:nvSpPr>
        <dsp:cNvPr id="0" name=""/>
        <dsp:cNvSpPr/>
      </dsp:nvSpPr>
      <dsp:spPr>
        <a:xfrm>
          <a:off x="6930464" y="537431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5757FA-6F6F-426F-B919-18812F9DCEAB}">
      <dsp:nvSpPr>
        <dsp:cNvPr id="0" name=""/>
        <dsp:cNvSpPr/>
      </dsp:nvSpPr>
      <dsp:spPr>
        <a:xfrm>
          <a:off x="5760464" y="2949431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l-PL" sz="2100" kern="1200"/>
            <a:t>Okresy maintenance'u</a:t>
          </a:r>
          <a:endParaRPr lang="en-US" sz="2100" kern="1200"/>
        </a:p>
      </dsp:txBody>
      <dsp:txXfrm>
        <a:off x="5760464" y="2949431"/>
        <a:ext cx="36000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2719EF-4632-C94A-861F-644764F9D3CF}">
      <dsp:nvSpPr>
        <dsp:cNvPr id="0" name=""/>
        <dsp:cNvSpPr/>
      </dsp:nvSpPr>
      <dsp:spPr>
        <a:xfrm>
          <a:off x="3190" y="97530"/>
          <a:ext cx="2531290" cy="3543806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7349" tIns="330200" rIns="197349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100" b="1" kern="1200"/>
            <a:t>P1 (Critical)</a:t>
          </a:r>
          <a:r>
            <a:rPr lang="pl-PL" sz="2100" kern="1200"/>
            <a:t> – System niedostępny, 1h response time </a:t>
          </a:r>
          <a:endParaRPr lang="en-US" sz="2100" kern="1200"/>
        </a:p>
      </dsp:txBody>
      <dsp:txXfrm>
        <a:off x="3190" y="1444177"/>
        <a:ext cx="2531290" cy="2126283"/>
      </dsp:txXfrm>
    </dsp:sp>
    <dsp:sp modelId="{AAAE3F2F-4E83-5F47-8672-14F4227BD403}">
      <dsp:nvSpPr>
        <dsp:cNvPr id="0" name=""/>
        <dsp:cNvSpPr/>
      </dsp:nvSpPr>
      <dsp:spPr>
        <a:xfrm>
          <a:off x="737264" y="451911"/>
          <a:ext cx="1063141" cy="106314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887" tIns="12700" rIns="82887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892957" y="607604"/>
        <a:ext cx="751755" cy="751755"/>
      </dsp:txXfrm>
    </dsp:sp>
    <dsp:sp modelId="{542FA557-19ED-4447-BD2F-4C214379A184}">
      <dsp:nvSpPr>
        <dsp:cNvPr id="0" name=""/>
        <dsp:cNvSpPr/>
      </dsp:nvSpPr>
      <dsp:spPr>
        <a:xfrm>
          <a:off x="3190" y="3641265"/>
          <a:ext cx="2531290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7DC533-5D1F-3C47-9B45-D4041ACA1129}">
      <dsp:nvSpPr>
        <dsp:cNvPr id="0" name=""/>
        <dsp:cNvSpPr/>
      </dsp:nvSpPr>
      <dsp:spPr>
        <a:xfrm>
          <a:off x="2787609" y="97530"/>
          <a:ext cx="2531290" cy="3543806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7349" tIns="330200" rIns="197349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100" b="1" kern="1200"/>
            <a:t>P2 (High)</a:t>
          </a:r>
          <a:r>
            <a:rPr lang="pl-PL" sz="2100" kern="1200"/>
            <a:t> – Funkcjonalność ograniczona, 4h response time </a:t>
          </a:r>
          <a:endParaRPr lang="en-US" sz="2100" kern="1200"/>
        </a:p>
      </dsp:txBody>
      <dsp:txXfrm>
        <a:off x="2787609" y="1444177"/>
        <a:ext cx="2531290" cy="2126283"/>
      </dsp:txXfrm>
    </dsp:sp>
    <dsp:sp modelId="{0B5A8CC2-BA85-C14E-A7E9-70D1ED80F495}">
      <dsp:nvSpPr>
        <dsp:cNvPr id="0" name=""/>
        <dsp:cNvSpPr/>
      </dsp:nvSpPr>
      <dsp:spPr>
        <a:xfrm>
          <a:off x="3521683" y="451911"/>
          <a:ext cx="1063141" cy="106314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887" tIns="12700" rIns="82887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3677376" y="607604"/>
        <a:ext cx="751755" cy="751755"/>
      </dsp:txXfrm>
    </dsp:sp>
    <dsp:sp modelId="{5822674E-0D02-CF4E-BB92-FFFA1ED7739F}">
      <dsp:nvSpPr>
        <dsp:cNvPr id="0" name=""/>
        <dsp:cNvSpPr/>
      </dsp:nvSpPr>
      <dsp:spPr>
        <a:xfrm>
          <a:off x="2787609" y="3641265"/>
          <a:ext cx="2531290" cy="7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8818F7-4585-0E43-8F51-78938E20180E}">
      <dsp:nvSpPr>
        <dsp:cNvPr id="0" name=""/>
        <dsp:cNvSpPr/>
      </dsp:nvSpPr>
      <dsp:spPr>
        <a:xfrm>
          <a:off x="5572029" y="97530"/>
          <a:ext cx="2531290" cy="3543806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7349" tIns="330200" rIns="197349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100" b="1" kern="1200"/>
            <a:t>P3 (Medium)</a:t>
          </a:r>
          <a:r>
            <a:rPr lang="pl-PL" sz="2100" kern="1200"/>
            <a:t> – Drobne problemy, 8h response time </a:t>
          </a:r>
          <a:endParaRPr lang="en-US" sz="2100" kern="1200"/>
        </a:p>
      </dsp:txBody>
      <dsp:txXfrm>
        <a:off x="5572029" y="1444177"/>
        <a:ext cx="2531290" cy="2126283"/>
      </dsp:txXfrm>
    </dsp:sp>
    <dsp:sp modelId="{19EFA605-BF4D-5549-B88F-6A5AA51CD215}">
      <dsp:nvSpPr>
        <dsp:cNvPr id="0" name=""/>
        <dsp:cNvSpPr/>
      </dsp:nvSpPr>
      <dsp:spPr>
        <a:xfrm>
          <a:off x="6306103" y="451911"/>
          <a:ext cx="1063141" cy="1063141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887" tIns="12700" rIns="82887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6461796" y="607604"/>
        <a:ext cx="751755" cy="751755"/>
      </dsp:txXfrm>
    </dsp:sp>
    <dsp:sp modelId="{38BD8D8F-B9AD-7548-9C2B-87C384F99E96}">
      <dsp:nvSpPr>
        <dsp:cNvPr id="0" name=""/>
        <dsp:cNvSpPr/>
      </dsp:nvSpPr>
      <dsp:spPr>
        <a:xfrm>
          <a:off x="5572029" y="3641265"/>
          <a:ext cx="2531290" cy="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038CF3-1F6C-B349-8BD8-7FA237D463F4}">
      <dsp:nvSpPr>
        <dsp:cNvPr id="0" name=""/>
        <dsp:cNvSpPr/>
      </dsp:nvSpPr>
      <dsp:spPr>
        <a:xfrm>
          <a:off x="8356448" y="97530"/>
          <a:ext cx="2531290" cy="3543806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7349" tIns="330200" rIns="197349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100" b="1" kern="1200"/>
            <a:t>P4 (Low)</a:t>
          </a:r>
          <a:r>
            <a:rPr lang="pl-PL" sz="2100" kern="1200"/>
            <a:t> – Pytania informacyjne, 24h response time</a:t>
          </a:r>
          <a:endParaRPr lang="en-US" sz="2100" kern="1200"/>
        </a:p>
      </dsp:txBody>
      <dsp:txXfrm>
        <a:off x="8356448" y="1444177"/>
        <a:ext cx="2531290" cy="2126283"/>
      </dsp:txXfrm>
    </dsp:sp>
    <dsp:sp modelId="{5906EEED-E6D3-0B46-947A-FCE20E78CF9C}">
      <dsp:nvSpPr>
        <dsp:cNvPr id="0" name=""/>
        <dsp:cNvSpPr/>
      </dsp:nvSpPr>
      <dsp:spPr>
        <a:xfrm>
          <a:off x="9090522" y="451911"/>
          <a:ext cx="1063141" cy="106314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887" tIns="12700" rIns="82887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4</a:t>
          </a:r>
        </a:p>
      </dsp:txBody>
      <dsp:txXfrm>
        <a:off x="9246215" y="607604"/>
        <a:ext cx="751755" cy="751755"/>
      </dsp:txXfrm>
    </dsp:sp>
    <dsp:sp modelId="{FF2D4F40-AD96-2543-B4FA-B5F6F921E71B}">
      <dsp:nvSpPr>
        <dsp:cNvPr id="0" name=""/>
        <dsp:cNvSpPr/>
      </dsp:nvSpPr>
      <dsp:spPr>
        <a:xfrm>
          <a:off x="8356448" y="3641265"/>
          <a:ext cx="2531290" cy="7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564C70-D288-47B0-A38C-2DE60E8CB579}">
      <dsp:nvSpPr>
        <dsp:cNvPr id="0" name=""/>
        <dsp:cNvSpPr/>
      </dsp:nvSpPr>
      <dsp:spPr>
        <a:xfrm>
          <a:off x="738700" y="818966"/>
          <a:ext cx="1065682" cy="106568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8AFF2B-18B3-4FEE-9BB6-038033ACBD2E}">
      <dsp:nvSpPr>
        <dsp:cNvPr id="0" name=""/>
        <dsp:cNvSpPr/>
      </dsp:nvSpPr>
      <dsp:spPr>
        <a:xfrm>
          <a:off x="87450" y="2199896"/>
          <a:ext cx="236818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600" b="1" kern="1200"/>
            <a:t>Podstawowa instalacja:</a:t>
          </a:r>
          <a:endParaRPr lang="en-US" sz="2600" kern="1200"/>
        </a:p>
      </dsp:txBody>
      <dsp:txXfrm>
        <a:off x="87450" y="2199896"/>
        <a:ext cx="2368183" cy="720000"/>
      </dsp:txXfrm>
    </dsp:sp>
    <dsp:sp modelId="{1168D869-05FA-4634-83C7-D51A36AE62AC}">
      <dsp:nvSpPr>
        <dsp:cNvPr id="0" name=""/>
        <dsp:cNvSpPr/>
      </dsp:nvSpPr>
      <dsp:spPr>
        <a:xfrm>
          <a:off x="3521315" y="818966"/>
          <a:ext cx="1065682" cy="106568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593181-F65F-4ED1-86BD-09DC2A63DE6B}">
      <dsp:nvSpPr>
        <dsp:cNvPr id="0" name=""/>
        <dsp:cNvSpPr/>
      </dsp:nvSpPr>
      <dsp:spPr>
        <a:xfrm>
          <a:off x="2870065" y="2199896"/>
          <a:ext cx="236818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600" kern="1200"/>
            <a:t>pip install locust</a:t>
          </a:r>
          <a:endParaRPr lang="en-US" sz="2600" kern="1200"/>
        </a:p>
      </dsp:txBody>
      <dsp:txXfrm>
        <a:off x="2870065" y="2199896"/>
        <a:ext cx="2368183" cy="720000"/>
      </dsp:txXfrm>
    </dsp:sp>
    <dsp:sp modelId="{496170E1-EE39-4C6A-B24C-F56198EF4376}">
      <dsp:nvSpPr>
        <dsp:cNvPr id="0" name=""/>
        <dsp:cNvSpPr/>
      </dsp:nvSpPr>
      <dsp:spPr>
        <a:xfrm>
          <a:off x="6303930" y="818966"/>
          <a:ext cx="1065682" cy="106568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5AF48D-EFFA-469D-B5BE-D41E58F74AE0}">
      <dsp:nvSpPr>
        <dsp:cNvPr id="0" name=""/>
        <dsp:cNvSpPr/>
      </dsp:nvSpPr>
      <dsp:spPr>
        <a:xfrm>
          <a:off x="5652680" y="2199896"/>
          <a:ext cx="236818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600" b="1" kern="1200"/>
            <a:t>Weryfikacja:</a:t>
          </a:r>
          <a:endParaRPr lang="en-US" sz="2600" kern="1200"/>
        </a:p>
      </dsp:txBody>
      <dsp:txXfrm>
        <a:off x="5652680" y="2199896"/>
        <a:ext cx="2368183" cy="720000"/>
      </dsp:txXfrm>
    </dsp:sp>
    <dsp:sp modelId="{1330363E-C16E-4A58-8A3A-08C8B56D477B}">
      <dsp:nvSpPr>
        <dsp:cNvPr id="0" name=""/>
        <dsp:cNvSpPr/>
      </dsp:nvSpPr>
      <dsp:spPr>
        <a:xfrm>
          <a:off x="9086545" y="818966"/>
          <a:ext cx="1065682" cy="106568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8E14EA-BC01-4534-9772-4965570C2EAE}">
      <dsp:nvSpPr>
        <dsp:cNvPr id="0" name=""/>
        <dsp:cNvSpPr/>
      </dsp:nvSpPr>
      <dsp:spPr>
        <a:xfrm>
          <a:off x="8435295" y="2199896"/>
          <a:ext cx="236818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600" kern="1200"/>
            <a:t>locust --version</a:t>
          </a:r>
          <a:endParaRPr lang="en-US" sz="2600" kern="1200"/>
        </a:p>
      </dsp:txBody>
      <dsp:txXfrm>
        <a:off x="8435295" y="2199896"/>
        <a:ext cx="2368183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4D447C-60D9-4943-897A-BC3CC04C8012}" type="datetimeFigureOut">
              <a:rPr lang="pl-PL" smtClean="0"/>
              <a:t>8.03.2026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364DF5-FCE9-3745-BAF5-99D2A3CB7A9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16123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364DF5-FCE9-3745-BAF5-99D2A3CB7A9E}" type="slidenum">
              <a:rPr lang="pl-PL" smtClean="0"/>
              <a:t>21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174332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364DF5-FCE9-3745-BAF5-99D2A3CB7A9E}" type="slidenum">
              <a:rPr lang="pl-PL" smtClean="0"/>
              <a:t>52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288248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136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319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6462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56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3/8/26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82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3/8/26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031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3/8/26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80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468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920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347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5223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2971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api.example.com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2" name="Rectangle 1037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56FED4A4-33C0-54EC-C5DE-2BCC6F5D0E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573" y="1371600"/>
            <a:ext cx="3250069" cy="2696866"/>
          </a:xfrm>
        </p:spPr>
        <p:txBody>
          <a:bodyPr anchor="t">
            <a:normAutofit/>
          </a:bodyPr>
          <a:lstStyle/>
          <a:p>
            <a:r>
              <a:rPr lang="pl-PL" sz="3400"/>
              <a:t>Testy wydajnościowe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AD8233CE-14DF-2F2C-D7B9-986AC8424C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950" y="4532626"/>
            <a:ext cx="3250068" cy="1140304"/>
          </a:xfrm>
        </p:spPr>
        <p:txBody>
          <a:bodyPr anchor="b">
            <a:normAutofit/>
          </a:bodyPr>
          <a:lstStyle/>
          <a:p>
            <a:r>
              <a:rPr lang="pl-PL" dirty="0"/>
              <a:t>Jakub Gajda</a:t>
            </a:r>
          </a:p>
        </p:txBody>
      </p:sp>
      <p:cxnSp>
        <p:nvCxnSpPr>
          <p:cNvPr id="1043" name="Straight Connector 1039">
            <a:extLst>
              <a:ext uri="{FF2B5EF4-FFF2-40B4-BE49-F238E27FC236}">
                <a16:creationId xmlns:a16="http://schemas.microsoft.com/office/drawing/2014/main" id="{8CED01B4-40F2-4CAE-8062-1D4CE8454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2835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Politechnika Gdańska – Trójmiejska Mapa Akademicka">
            <a:extLst>
              <a:ext uri="{FF2B5EF4-FFF2-40B4-BE49-F238E27FC236}">
                <a16:creationId xmlns:a16="http://schemas.microsoft.com/office/drawing/2014/main" id="{8C10624C-3B14-3FA0-E0D7-3D54149881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444723" y="1031001"/>
            <a:ext cx="6884655" cy="4873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4514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9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76362121-8BE1-3E72-6C43-0205A05F2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737859" cy="1097280"/>
          </a:xfrm>
        </p:spPr>
        <p:txBody>
          <a:bodyPr>
            <a:normAutofit/>
          </a:bodyPr>
          <a:lstStyle/>
          <a:p>
            <a:r>
              <a:rPr lang="pl-PL" dirty="0"/>
              <a:t>Plan zajęć</a:t>
            </a:r>
          </a:p>
        </p:txBody>
      </p:sp>
      <p:cxnSp>
        <p:nvCxnSpPr>
          <p:cNvPr id="15" name="Straight Connector 11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Politechnika Gdańska – Trójmiejska Mapa Akademicka">
            <a:extLst>
              <a:ext uri="{FF2B5EF4-FFF2-40B4-BE49-F238E27FC236}">
                <a16:creationId xmlns:a16="http://schemas.microsoft.com/office/drawing/2014/main" id="{A66D3483-599E-597A-B95F-4BFB55B216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940916" y="5264537"/>
            <a:ext cx="2251084" cy="1593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E6ECD17B-B47D-47A5-E0C1-CF79E07ACC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5396808"/>
              </p:ext>
            </p:extLst>
          </p:nvPr>
        </p:nvGraphicFramePr>
        <p:xfrm>
          <a:off x="640080" y="2633236"/>
          <a:ext cx="5737860" cy="36669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0628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CC89BA0-9F48-6C1F-FC4C-5943E10BF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Cel szkolenia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3314915-55C9-A259-AA65-4126577C0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Po ukończeniu szkolenia uczestnicy będą w stanie:</a:t>
            </a:r>
          </a:p>
          <a:p>
            <a:pPr marL="0" indent="0">
              <a:buNone/>
            </a:pPr>
            <a:r>
              <a:rPr lang="pl-PL" dirty="0"/>
              <a:t>✓ Zrozumieć koncepcje testów wydajnościowych i ich znaczenie</a:t>
            </a:r>
          </a:p>
          <a:p>
            <a:pPr marL="0" indent="0">
              <a:buNone/>
            </a:pPr>
            <a:r>
              <a:rPr lang="pl-PL" dirty="0"/>
              <a:t>✓ Zidentyfikować wąskie gardła w systemach informatycznych</a:t>
            </a:r>
          </a:p>
          <a:p>
            <a:pPr marL="0" indent="0">
              <a:buNone/>
            </a:pPr>
            <a:r>
              <a:rPr lang="pl-PL" dirty="0"/>
              <a:t>✓ Planować i projektować testy obciążeniowe</a:t>
            </a:r>
          </a:p>
          <a:p>
            <a:pPr marL="0" indent="0">
              <a:buNone/>
            </a:pPr>
            <a:r>
              <a:rPr lang="pl-PL" dirty="0"/>
              <a:t>✓ Używać Apache Locust do tworzenia scenariuszy testowych</a:t>
            </a:r>
          </a:p>
          <a:p>
            <a:pPr marL="0" indent="0">
              <a:buNone/>
            </a:pPr>
            <a:r>
              <a:rPr lang="pl-PL" dirty="0"/>
              <a:t>✓ Analizować wyniki testów i rekomendować optymalizacje</a:t>
            </a:r>
          </a:p>
          <a:p>
            <a:pPr marL="0" indent="0">
              <a:buNone/>
            </a:pPr>
            <a:r>
              <a:rPr lang="pl-PL" dirty="0"/>
              <a:t>✓ Integrować testy wydajnościowe z procesami CI/CD</a:t>
            </a:r>
          </a:p>
          <a:p>
            <a:endParaRPr lang="pl-PL" dirty="0"/>
          </a:p>
        </p:txBody>
      </p:sp>
      <p:pic>
        <p:nvPicPr>
          <p:cNvPr id="4" name="Picture 2" descr="Politechnika Gdańska – Trójmiejska Mapa Akademicka">
            <a:extLst>
              <a:ext uri="{FF2B5EF4-FFF2-40B4-BE49-F238E27FC236}">
                <a16:creationId xmlns:a16="http://schemas.microsoft.com/office/drawing/2014/main" id="{7DFFA2A6-8E8C-45D8-ACC9-8FAA39C30C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940916" y="5264537"/>
            <a:ext cx="2251084" cy="1593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633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EA413153-D036-485C-84E9-EB958D691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737859" cy="1097280"/>
          </a:xfrm>
        </p:spPr>
        <p:txBody>
          <a:bodyPr>
            <a:normAutofit/>
          </a:bodyPr>
          <a:lstStyle/>
          <a:p>
            <a:r>
              <a:rPr lang="pl-PL" dirty="0"/>
              <a:t>Podstawowe pojęcia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E7395C3D-FE78-0EB1-433C-120E8FF130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236"/>
            <a:ext cx="5737860" cy="36669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dirty="0"/>
              <a:t>Typy testów wydajnościowych</a:t>
            </a:r>
          </a:p>
        </p:txBody>
      </p:sp>
      <p:pic>
        <p:nvPicPr>
          <p:cNvPr id="5" name="Picture 2" descr="Politechnika Gdańska – Trójmiejska Mapa Akademicka">
            <a:extLst>
              <a:ext uri="{FF2B5EF4-FFF2-40B4-BE49-F238E27FC236}">
                <a16:creationId xmlns:a16="http://schemas.microsoft.com/office/drawing/2014/main" id="{C88D01C1-F507-1B55-0A2C-E6CBDEB46E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55179" y="3202720"/>
            <a:ext cx="4375829" cy="3097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9248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1D1481E-9144-6EB6-9861-79A1F1D6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Loading</a:t>
            </a:r>
            <a:r>
              <a:rPr lang="pl-PL" dirty="0"/>
              <a:t> </a:t>
            </a:r>
            <a:r>
              <a:rPr lang="pl-PL" dirty="0" err="1"/>
              <a:t>Testing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DBE136F-CC42-D24A-8FF6-92B0E16D6F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b="1" dirty="0" err="1"/>
              <a:t>Load</a:t>
            </a:r>
            <a:r>
              <a:rPr lang="pl-PL" b="1" dirty="0"/>
              <a:t> </a:t>
            </a:r>
            <a:r>
              <a:rPr lang="pl-PL" b="1" dirty="0" err="1"/>
              <a:t>Testing</a:t>
            </a:r>
            <a:r>
              <a:rPr lang="pl-PL" b="1" dirty="0"/>
              <a:t>:</a:t>
            </a:r>
          </a:p>
          <a:p>
            <a:pPr marL="0" indent="0">
              <a:buNone/>
            </a:pPr>
            <a:r>
              <a:rPr lang="pl-PL" dirty="0"/>
              <a:t>Testowanie systemu ze zwykłym obciążeniem</a:t>
            </a:r>
          </a:p>
          <a:p>
            <a:pPr marL="0" indent="0">
              <a:buNone/>
            </a:pPr>
            <a:r>
              <a:rPr lang="pl-PL" b="1" dirty="0"/>
              <a:t>Cel:</a:t>
            </a:r>
            <a:r>
              <a:rPr lang="pl-PL" dirty="0"/>
              <a:t> Weryfikacja, czy system działa prawidłowo w warunkach normalnego użytku</a:t>
            </a:r>
          </a:p>
          <a:p>
            <a:pPr marL="0" indent="0">
              <a:buNone/>
            </a:pPr>
            <a:r>
              <a:rPr lang="pl-PL" b="1" dirty="0"/>
              <a:t>Przykład:</a:t>
            </a:r>
            <a:r>
              <a:rPr lang="pl-PL" dirty="0"/>
              <a:t> 100 równoczesnych użytkowników przeglądających produkt</a:t>
            </a:r>
          </a:p>
          <a:p>
            <a:endParaRPr lang="pl-PL" dirty="0"/>
          </a:p>
        </p:txBody>
      </p:sp>
      <p:pic>
        <p:nvPicPr>
          <p:cNvPr id="6" name="Picture 2" descr="Politechnika Gdańska – Trójmiejska Mapa Akademicka">
            <a:extLst>
              <a:ext uri="{FF2B5EF4-FFF2-40B4-BE49-F238E27FC236}">
                <a16:creationId xmlns:a16="http://schemas.microsoft.com/office/drawing/2014/main" id="{E23D3463-74CB-AFF3-8F34-BA19B9C9DC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940916" y="5264537"/>
            <a:ext cx="2251084" cy="1593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8133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5DB043BB-8882-94CB-ED4C-4481AB878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737859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Stress Testing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ole tekstowe 5">
            <a:extLst>
              <a:ext uri="{FF2B5EF4-FFF2-40B4-BE49-F238E27FC236}">
                <a16:creationId xmlns:a16="http://schemas.microsoft.com/office/drawing/2014/main" id="{8B08266E-23BF-C92A-E956-F7CF496054F6}"/>
              </a:ext>
            </a:extLst>
          </p:cNvPr>
          <p:cNvSpPr txBox="1"/>
          <p:nvPr/>
        </p:nvSpPr>
        <p:spPr>
          <a:xfrm>
            <a:off x="640079" y="2633236"/>
            <a:ext cx="8034363" cy="3666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buSzPct val="87000"/>
            </a:pPr>
            <a:r>
              <a:rPr lang="en-US" dirty="0" err="1"/>
              <a:t>Testowanie</a:t>
            </a:r>
            <a:r>
              <a:rPr lang="en-US" dirty="0"/>
              <a:t> </a:t>
            </a:r>
            <a:r>
              <a:rPr lang="en-US" dirty="0" err="1"/>
              <a:t>systemu</a:t>
            </a:r>
            <a:r>
              <a:rPr lang="en-US" dirty="0"/>
              <a:t> pod </a:t>
            </a:r>
            <a:r>
              <a:rPr lang="en-US" dirty="0" err="1"/>
              <a:t>skrajnym</a:t>
            </a:r>
            <a:r>
              <a:rPr lang="en-US" dirty="0"/>
              <a:t> </a:t>
            </a:r>
            <a:r>
              <a:rPr lang="en-US" dirty="0" err="1"/>
              <a:t>obciążeniem</a:t>
            </a:r>
            <a:endParaRPr lang="en-US" b="1" dirty="0"/>
          </a:p>
          <a:p>
            <a:pPr>
              <a:lnSpc>
                <a:spcPct val="120000"/>
              </a:lnSpc>
              <a:spcAft>
                <a:spcPts val="600"/>
              </a:spcAft>
              <a:buSzPct val="87000"/>
            </a:pPr>
            <a:r>
              <a:rPr lang="en-US" b="1" dirty="0" err="1"/>
              <a:t>Cel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Znalezienie</a:t>
            </a:r>
            <a:r>
              <a:rPr lang="en-US" dirty="0"/>
              <a:t> </a:t>
            </a:r>
            <a:r>
              <a:rPr lang="en-US" dirty="0" err="1"/>
              <a:t>maksymalnej</a:t>
            </a:r>
            <a:r>
              <a:rPr lang="en-US" dirty="0"/>
              <a:t> </a:t>
            </a:r>
            <a:r>
              <a:rPr lang="en-US" dirty="0" err="1"/>
              <a:t>pojemności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punktu</a:t>
            </a:r>
            <a:r>
              <a:rPr lang="en-US" dirty="0"/>
              <a:t> </a:t>
            </a:r>
            <a:r>
              <a:rPr lang="en-US" dirty="0" err="1"/>
              <a:t>załamania</a:t>
            </a:r>
            <a:endParaRPr lang="en-US" b="1" dirty="0"/>
          </a:p>
          <a:p>
            <a:pPr>
              <a:lnSpc>
                <a:spcPct val="120000"/>
              </a:lnSpc>
              <a:spcAft>
                <a:spcPts val="600"/>
              </a:spcAft>
              <a:buSzPct val="87000"/>
            </a:pPr>
            <a:r>
              <a:rPr lang="en-US" b="1" dirty="0" err="1"/>
              <a:t>Przykład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Zwiększanie</a:t>
            </a:r>
            <a:r>
              <a:rPr lang="en-US" dirty="0"/>
              <a:t> </a:t>
            </a:r>
            <a:r>
              <a:rPr lang="en-US" dirty="0" err="1"/>
              <a:t>użytkowników</a:t>
            </a:r>
            <a:r>
              <a:rPr lang="en-US" dirty="0"/>
              <a:t> do 1000+ do </a:t>
            </a:r>
            <a:r>
              <a:rPr lang="en-US" dirty="0" err="1"/>
              <a:t>momentu</a:t>
            </a:r>
            <a:r>
              <a:rPr lang="en-US" dirty="0"/>
              <a:t> </a:t>
            </a:r>
            <a:r>
              <a:rPr lang="en-US" dirty="0" err="1"/>
              <a:t>awarii</a:t>
            </a:r>
            <a:endParaRPr lang="en-US" dirty="0"/>
          </a:p>
        </p:txBody>
      </p:sp>
      <p:pic>
        <p:nvPicPr>
          <p:cNvPr id="7" name="Picture 2" descr="Politechnika Gdańska – Trójmiejska Mapa Akademicka">
            <a:extLst>
              <a:ext uri="{FF2B5EF4-FFF2-40B4-BE49-F238E27FC236}">
                <a16:creationId xmlns:a16="http://schemas.microsoft.com/office/drawing/2014/main" id="{47B268C8-D19C-FD45-1A0B-87F24E13A0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940916" y="5264537"/>
            <a:ext cx="2251084" cy="1593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8637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05AF9-B24D-17A9-4ABD-AEA063762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B479A9E-3828-8AD8-73DF-7E5ABF85E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737859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 dirty="0" err="1"/>
              <a:t>Spike</a:t>
            </a:r>
            <a:r>
              <a:rPr lang="pl-PL" dirty="0"/>
              <a:t> </a:t>
            </a:r>
            <a:r>
              <a:rPr lang="pl-PL" dirty="0" err="1"/>
              <a:t>Testing</a:t>
            </a:r>
            <a:endParaRPr lang="en-US" dirty="0"/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14368D0D-3C56-DC3B-0181-B762AE9A6DAC}"/>
              </a:ext>
            </a:extLst>
          </p:cNvPr>
          <p:cNvSpPr txBox="1"/>
          <p:nvPr/>
        </p:nvSpPr>
        <p:spPr>
          <a:xfrm>
            <a:off x="640079" y="2633236"/>
            <a:ext cx="8034363" cy="3666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pl-PL" dirty="0"/>
              <a:t>Testowanie z nagłymi skokami obciążenia</a:t>
            </a:r>
          </a:p>
          <a:p>
            <a:endParaRPr lang="pl-PL" b="1" dirty="0"/>
          </a:p>
          <a:p>
            <a:r>
              <a:rPr lang="pl-PL" b="1" dirty="0"/>
              <a:t>Cel:</a:t>
            </a:r>
            <a:r>
              <a:rPr lang="pl-PL" dirty="0"/>
              <a:t> Sprawdzenie, czy system poradzi sobie z nieoczekiwanymi wzrostami</a:t>
            </a:r>
          </a:p>
          <a:p>
            <a:endParaRPr lang="pl-PL" b="1" dirty="0"/>
          </a:p>
          <a:p>
            <a:r>
              <a:rPr lang="pl-PL" b="1" dirty="0"/>
              <a:t>Przykład:</a:t>
            </a:r>
            <a:r>
              <a:rPr lang="pl-PL" dirty="0"/>
              <a:t> Flash sale - nagły skok z 100 do 5000 użytkowników</a:t>
            </a:r>
          </a:p>
        </p:txBody>
      </p:sp>
      <p:pic>
        <p:nvPicPr>
          <p:cNvPr id="7" name="Picture 2" descr="Politechnika Gdańska – Trójmiejska Mapa Akademicka">
            <a:extLst>
              <a:ext uri="{FF2B5EF4-FFF2-40B4-BE49-F238E27FC236}">
                <a16:creationId xmlns:a16="http://schemas.microsoft.com/office/drawing/2014/main" id="{99B53223-DA48-2204-938D-CE1A834F89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940916" y="5264537"/>
            <a:ext cx="2251084" cy="1593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0323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5A84A-2B6F-7CBC-A7D0-D5590C13F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24FDFB1-E096-CEE8-F35A-7F3ABCA1E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8672086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 dirty="0" err="1"/>
              <a:t>Endurance</a:t>
            </a:r>
            <a:r>
              <a:rPr lang="pl-PL" dirty="0"/>
              <a:t> </a:t>
            </a:r>
            <a:r>
              <a:rPr lang="pl-PL" dirty="0" err="1"/>
              <a:t>Testing</a:t>
            </a:r>
            <a:r>
              <a:rPr lang="pl-PL" dirty="0"/>
              <a:t>/</a:t>
            </a:r>
            <a:r>
              <a:rPr lang="pl-PL" dirty="0" err="1"/>
              <a:t>Soak</a:t>
            </a:r>
            <a:r>
              <a:rPr lang="pl-PL" dirty="0"/>
              <a:t> </a:t>
            </a:r>
            <a:r>
              <a:rPr lang="pl-PL" dirty="0" err="1"/>
              <a:t>Testing</a:t>
            </a:r>
            <a:endParaRPr lang="en-US" dirty="0"/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1F990336-9B29-512E-AC31-54B29A530634}"/>
              </a:ext>
            </a:extLst>
          </p:cNvPr>
          <p:cNvSpPr txBox="1"/>
          <p:nvPr/>
        </p:nvSpPr>
        <p:spPr>
          <a:xfrm>
            <a:off x="640079" y="2633236"/>
            <a:ext cx="8034363" cy="3666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pl-PL" dirty="0"/>
              <a:t>Testowanie systemu przez dłuższy okres czasu</a:t>
            </a:r>
          </a:p>
          <a:p>
            <a:endParaRPr lang="pl-PL" b="1" dirty="0"/>
          </a:p>
          <a:p>
            <a:r>
              <a:rPr lang="pl-PL" dirty="0"/>
              <a:t>Testowanie systemu przez dłuższy okres czasu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b="1" dirty="0"/>
              <a:t>Cel:</a:t>
            </a:r>
            <a:r>
              <a:rPr lang="pl-PL" dirty="0"/>
              <a:t> Wykrycie wycieków pamięci i degradacji wydajności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b="1" dirty="0"/>
              <a:t>Przykład:</a:t>
            </a:r>
            <a:r>
              <a:rPr lang="pl-PL" dirty="0"/>
              <a:t> 8-godzinny test ze stałym obciążeniem 200 użytkowników</a:t>
            </a:r>
          </a:p>
          <a:p>
            <a:r>
              <a:rPr lang="pl-PL" b="1" dirty="0"/>
              <a:t>el:</a:t>
            </a:r>
            <a:r>
              <a:rPr lang="pl-PL" dirty="0"/>
              <a:t> Wykrycie wycieków pamięci i degradacji wydajności</a:t>
            </a:r>
          </a:p>
          <a:p>
            <a:endParaRPr lang="pl-PL" b="1" dirty="0"/>
          </a:p>
          <a:p>
            <a:r>
              <a:rPr lang="pl-PL" b="1" dirty="0"/>
              <a:t>Przykład:</a:t>
            </a:r>
            <a:r>
              <a:rPr lang="pl-PL" dirty="0"/>
              <a:t> 8-godzinny test ze stałym obciążeniem 200 użytkowników</a:t>
            </a:r>
          </a:p>
        </p:txBody>
      </p:sp>
      <p:pic>
        <p:nvPicPr>
          <p:cNvPr id="7" name="Picture 2" descr="Politechnika Gdańska – Trójmiejska Mapa Akademicka">
            <a:extLst>
              <a:ext uri="{FF2B5EF4-FFF2-40B4-BE49-F238E27FC236}">
                <a16:creationId xmlns:a16="http://schemas.microsoft.com/office/drawing/2014/main" id="{CBD5C799-C3ED-009A-7D23-13F7957A16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940916" y="5264537"/>
            <a:ext cx="2251084" cy="1593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1137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E7798CF-7E4E-70F7-438A-F8CF3A11A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Metryki podstawowe</a:t>
            </a:r>
          </a:p>
        </p:txBody>
      </p:sp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9F523B1B-F3DE-C3A0-D02F-A1461BF3CCCE}"/>
              </a:ext>
            </a:extLst>
          </p:cNvPr>
          <p:cNvGraphicFramePr>
            <a:graphicFrameLocks noGrp="1"/>
          </p:cNvGraphicFramePr>
          <p:nvPr/>
        </p:nvGraphicFramePr>
        <p:xfrm>
          <a:off x="639763" y="2907665"/>
          <a:ext cx="10891836" cy="3017520"/>
        </p:xfrm>
        <a:graphic>
          <a:graphicData uri="http://schemas.openxmlformats.org/drawingml/2006/table">
            <a:tbl>
              <a:tblPr/>
              <a:tblGrid>
                <a:gridCol w="3630612">
                  <a:extLst>
                    <a:ext uri="{9D8B030D-6E8A-4147-A177-3AD203B41FA5}">
                      <a16:colId xmlns:a16="http://schemas.microsoft.com/office/drawing/2014/main" val="2744078819"/>
                    </a:ext>
                  </a:extLst>
                </a:gridCol>
                <a:gridCol w="3630612">
                  <a:extLst>
                    <a:ext uri="{9D8B030D-6E8A-4147-A177-3AD203B41FA5}">
                      <a16:colId xmlns:a16="http://schemas.microsoft.com/office/drawing/2014/main" val="3357035583"/>
                    </a:ext>
                  </a:extLst>
                </a:gridCol>
                <a:gridCol w="3630612">
                  <a:extLst>
                    <a:ext uri="{9D8B030D-6E8A-4147-A177-3AD203B41FA5}">
                      <a16:colId xmlns:a16="http://schemas.microsoft.com/office/drawing/2014/main" val="19644855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l-PL"/>
                        <a:t>Metryka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l-PL"/>
                        <a:t>Definicja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l-PL"/>
                        <a:t>Znaczenie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8560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l-PL" b="1"/>
                        <a:t>Response Time</a:t>
                      </a:r>
                      <a:endParaRPr lang="pl-PL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l-PL"/>
                        <a:t>Czas między wysłaniem żądania a otrzymaniem odpowiedzi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l-PL"/>
                        <a:t>Wpływ na doświadczenie użytkownika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9825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l-PL" b="1"/>
                        <a:t>Throughput</a:t>
                      </a:r>
                      <a:endParaRPr lang="pl-PL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l-PL"/>
                        <a:t>Liczba żądań/transakcji na jednostkę czasu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l-PL"/>
                        <a:t>Pojemność i niezawodność systemu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39653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l-PL" b="1"/>
                        <a:t>CPU / Memory</a:t>
                      </a:r>
                      <a:endParaRPr lang="pl-PL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l-PL"/>
                        <a:t>Wykorzystanie zasobów systemowych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l-PL"/>
                        <a:t>Identyfikacja bottlenecków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63431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l-PL" b="1"/>
                        <a:t>Error Rate</a:t>
                      </a:r>
                      <a:endParaRPr lang="pl-PL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l-PL"/>
                        <a:t>Procent nieudanych żądań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l-PL"/>
                        <a:t>Stabilność i niezawodność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00803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l-PL" b="1"/>
                        <a:t>Percentiles</a:t>
                      </a:r>
                      <a:endParaRPr lang="pl-PL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l-PL"/>
                        <a:t>P50, P90, P95, P99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Rozkład czasów odpowiedzi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3297417"/>
                  </a:ext>
                </a:extLst>
              </a:tr>
            </a:tbl>
          </a:graphicData>
        </a:graphic>
      </p:graphicFrame>
      <p:pic>
        <p:nvPicPr>
          <p:cNvPr id="12" name="Picture 2" descr="Politechnika Gdańska – Trójmiejska Mapa Akademicka">
            <a:extLst>
              <a:ext uri="{FF2B5EF4-FFF2-40B4-BE49-F238E27FC236}">
                <a16:creationId xmlns:a16="http://schemas.microsoft.com/office/drawing/2014/main" id="{13319377-FAE0-2FCB-5461-5789E5C9F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874212" y="5925185"/>
            <a:ext cx="1317787" cy="932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94512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0DEF89B-09D3-1F91-A9DB-A2FD36C8B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Percentile</a:t>
            </a:r>
            <a:endParaRPr lang="pl-PL" dirty="0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921829AF-91EA-65E3-D32F-2F1E803C27DA}"/>
              </a:ext>
            </a:extLst>
          </p:cNvPr>
          <p:cNvSpPr txBox="1"/>
          <p:nvPr/>
        </p:nvSpPr>
        <p:spPr>
          <a:xfrm>
            <a:off x="640079" y="3234958"/>
            <a:ext cx="609805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dirty="0"/>
              <a:t>Wyobraź sobie:</a:t>
            </a:r>
          </a:p>
          <a:p>
            <a:r>
              <a:rPr lang="pl-PL" dirty="0"/>
              <a:t>- Żądanie 1:   50ms</a:t>
            </a:r>
          </a:p>
          <a:p>
            <a:r>
              <a:rPr lang="pl-PL" dirty="0"/>
              <a:t>- Żądanie 2:   50ms</a:t>
            </a:r>
          </a:p>
          <a:p>
            <a:r>
              <a:rPr lang="pl-PL" dirty="0"/>
              <a:t>- Żądanie 3:   50ms</a:t>
            </a:r>
          </a:p>
          <a:p>
            <a:r>
              <a:rPr lang="pl-PL" dirty="0"/>
              <a:t>- Żądanie 4:   50ms</a:t>
            </a:r>
          </a:p>
          <a:p>
            <a:r>
              <a:rPr lang="pl-PL" dirty="0"/>
              <a:t>- Żądanie 5: 2000ms  ← jeden wolny </a:t>
            </a:r>
            <a:r>
              <a:rPr lang="pl-PL" dirty="0" err="1"/>
              <a:t>user</a:t>
            </a:r>
            <a:r>
              <a:rPr lang="pl-PL" dirty="0"/>
              <a:t>!</a:t>
            </a:r>
          </a:p>
          <a:p>
            <a:endParaRPr lang="pl-PL" dirty="0"/>
          </a:p>
          <a:p>
            <a:r>
              <a:rPr lang="pl-PL" dirty="0"/>
              <a:t>ŚREDNIA = (50+50+50+50+2000) / 5 = 420ms</a:t>
            </a:r>
          </a:p>
        </p:txBody>
      </p:sp>
      <p:sp>
        <p:nvSpPr>
          <p:cNvPr id="8" name="Symbol zastępczy zawartości 7">
            <a:extLst>
              <a:ext uri="{FF2B5EF4-FFF2-40B4-BE49-F238E27FC236}">
                <a16:creationId xmlns:a16="http://schemas.microsoft.com/office/drawing/2014/main" id="{9E7A4E0F-60FC-1983-2BE2-D6B257D18E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Problem z średnią</a:t>
            </a:r>
          </a:p>
        </p:txBody>
      </p:sp>
      <p:pic>
        <p:nvPicPr>
          <p:cNvPr id="9" name="Picture 2" descr="Politechnika Gdańska – Trójmiejska Mapa Akademicka">
            <a:extLst>
              <a:ext uri="{FF2B5EF4-FFF2-40B4-BE49-F238E27FC236}">
                <a16:creationId xmlns:a16="http://schemas.microsoft.com/office/drawing/2014/main" id="{F95F1EBA-6C46-DC81-07D4-91653420DC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940916" y="5264537"/>
            <a:ext cx="2251084" cy="1593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Wybuch 1 10">
            <a:extLst>
              <a:ext uri="{FF2B5EF4-FFF2-40B4-BE49-F238E27FC236}">
                <a16:creationId xmlns:a16="http://schemas.microsoft.com/office/drawing/2014/main" id="{34CAD1F1-42A3-3556-81CE-892761ACB8CB}"/>
              </a:ext>
            </a:extLst>
          </p:cNvPr>
          <p:cNvSpPr/>
          <p:nvPr/>
        </p:nvSpPr>
        <p:spPr>
          <a:xfrm>
            <a:off x="5055476" y="1314718"/>
            <a:ext cx="5570205" cy="3648619"/>
          </a:xfrm>
          <a:prstGeom prst="irregularSeal1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Średnia 420ms brzmi dobrze... ale 20% użytkowników czeka 2 sekundy! </a:t>
            </a:r>
          </a:p>
        </p:txBody>
      </p:sp>
    </p:spTree>
    <p:extLst>
      <p:ext uri="{BB962C8B-B14F-4D97-AF65-F5344CB8AC3E}">
        <p14:creationId xmlns:p14="http://schemas.microsoft.com/office/powerpoint/2010/main" val="34664170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8125C03-3B5D-37C5-FBC0-517BAF742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P50 (Mediana)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0AF907E-AB5B-D4BC-3FBC-9351DE1B73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Posortuj czas 1000 żądań od szybkiego do wolnego:</a:t>
            </a:r>
          </a:p>
          <a:p>
            <a:endParaRPr lang="pl-PL" dirty="0"/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CF572482-A7A9-1A5D-F78D-373925ECF724}"/>
              </a:ext>
            </a:extLst>
          </p:cNvPr>
          <p:cNvSpPr/>
          <p:nvPr/>
        </p:nvSpPr>
        <p:spPr>
          <a:xfrm>
            <a:off x="861848" y="3699641"/>
            <a:ext cx="2480442" cy="10405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Szybko </a:t>
            </a:r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92F6F6CA-AD1E-0210-29F6-84E8CB29BF18}"/>
              </a:ext>
            </a:extLst>
          </p:cNvPr>
          <p:cNvSpPr/>
          <p:nvPr/>
        </p:nvSpPr>
        <p:spPr>
          <a:xfrm>
            <a:off x="4346027" y="3699641"/>
            <a:ext cx="2480442" cy="1040525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P50 – tutaj jest podział populacji </a:t>
            </a:r>
          </a:p>
        </p:txBody>
      </p:sp>
      <p:sp>
        <p:nvSpPr>
          <p:cNvPr id="6" name="Prostokąt 5">
            <a:extLst>
              <a:ext uri="{FF2B5EF4-FFF2-40B4-BE49-F238E27FC236}">
                <a16:creationId xmlns:a16="http://schemas.microsoft.com/office/drawing/2014/main" id="{83E9D4DB-35B1-E73A-D447-EC1CF2F7E78A}"/>
              </a:ext>
            </a:extLst>
          </p:cNvPr>
          <p:cNvSpPr/>
          <p:nvPr/>
        </p:nvSpPr>
        <p:spPr>
          <a:xfrm>
            <a:off x="8059386" y="3699641"/>
            <a:ext cx="2480442" cy="10405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Wolno </a:t>
            </a:r>
          </a:p>
        </p:txBody>
      </p:sp>
      <p:sp>
        <p:nvSpPr>
          <p:cNvPr id="7" name="Strzałka w górę i w dół 6">
            <a:extLst>
              <a:ext uri="{FF2B5EF4-FFF2-40B4-BE49-F238E27FC236}">
                <a16:creationId xmlns:a16="http://schemas.microsoft.com/office/drawing/2014/main" id="{8C1C80E6-38E5-8919-E18D-0BDB8D2157A0}"/>
              </a:ext>
            </a:extLst>
          </p:cNvPr>
          <p:cNvSpPr/>
          <p:nvPr/>
        </p:nvSpPr>
        <p:spPr>
          <a:xfrm rot="5400000">
            <a:off x="5545981" y="967345"/>
            <a:ext cx="309713" cy="9677980"/>
          </a:xfrm>
          <a:prstGeom prst="up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Nawias klamrowy otwierający 7">
            <a:extLst>
              <a:ext uri="{FF2B5EF4-FFF2-40B4-BE49-F238E27FC236}">
                <a16:creationId xmlns:a16="http://schemas.microsoft.com/office/drawing/2014/main" id="{2F4DDE42-B994-7079-EC30-AE5BED6C2F00}"/>
              </a:ext>
            </a:extLst>
          </p:cNvPr>
          <p:cNvSpPr/>
          <p:nvPr/>
        </p:nvSpPr>
        <p:spPr>
          <a:xfrm rot="16200000">
            <a:off x="1947211" y="3868720"/>
            <a:ext cx="309714" cy="248044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9" name="Nawias klamrowy otwierający 8">
            <a:extLst>
              <a:ext uri="{FF2B5EF4-FFF2-40B4-BE49-F238E27FC236}">
                <a16:creationId xmlns:a16="http://schemas.microsoft.com/office/drawing/2014/main" id="{E530BFDB-DF67-6664-B82D-2C9030EC65CB}"/>
              </a:ext>
            </a:extLst>
          </p:cNvPr>
          <p:cNvSpPr/>
          <p:nvPr/>
        </p:nvSpPr>
        <p:spPr>
          <a:xfrm rot="16200000">
            <a:off x="9144750" y="3868720"/>
            <a:ext cx="309714" cy="248044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C6B6EF08-4D21-7EC4-32C7-FA9702AC45E4}"/>
              </a:ext>
            </a:extLst>
          </p:cNvPr>
          <p:cNvSpPr txBox="1"/>
          <p:nvPr/>
        </p:nvSpPr>
        <p:spPr>
          <a:xfrm>
            <a:off x="1849821" y="5272972"/>
            <a:ext cx="746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50%</a:t>
            </a: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7148977F-9956-B687-35C1-5BCD31577806}"/>
              </a:ext>
            </a:extLst>
          </p:cNvPr>
          <p:cNvSpPr txBox="1"/>
          <p:nvPr/>
        </p:nvSpPr>
        <p:spPr>
          <a:xfrm>
            <a:off x="9065173" y="5265750"/>
            <a:ext cx="746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50%</a:t>
            </a:r>
          </a:p>
        </p:txBody>
      </p:sp>
      <p:sp>
        <p:nvSpPr>
          <p:cNvPr id="12" name="Wybuch 1 11">
            <a:extLst>
              <a:ext uri="{FF2B5EF4-FFF2-40B4-BE49-F238E27FC236}">
                <a16:creationId xmlns:a16="http://schemas.microsoft.com/office/drawing/2014/main" id="{FF213A76-DDD3-08A8-E8A2-448C02975F3C}"/>
              </a:ext>
            </a:extLst>
          </p:cNvPr>
          <p:cNvSpPr/>
          <p:nvPr/>
        </p:nvSpPr>
        <p:spPr>
          <a:xfrm>
            <a:off x="4834759" y="4689129"/>
            <a:ext cx="1505026" cy="1040524"/>
          </a:xfrm>
          <a:prstGeom prst="irregularSeal1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200 ms</a:t>
            </a: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EC2B620D-F953-AE9D-B399-10E73713838D}"/>
              </a:ext>
            </a:extLst>
          </p:cNvPr>
          <p:cNvSpPr txBox="1"/>
          <p:nvPr/>
        </p:nvSpPr>
        <p:spPr>
          <a:xfrm>
            <a:off x="5223641" y="1537494"/>
            <a:ext cx="68737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b="1" dirty="0"/>
              <a:t>Zastosowanie:</a:t>
            </a:r>
            <a:r>
              <a:rPr lang="pl-PL" dirty="0"/>
              <a:t> Czysta informacja, mało przydatna sam w sobie</a:t>
            </a:r>
          </a:p>
        </p:txBody>
      </p:sp>
      <p:pic>
        <p:nvPicPr>
          <p:cNvPr id="15" name="Picture 2" descr="Politechnika Gdańska – Trójmiejska Mapa Akademicka">
            <a:extLst>
              <a:ext uri="{FF2B5EF4-FFF2-40B4-BE49-F238E27FC236}">
                <a16:creationId xmlns:a16="http://schemas.microsoft.com/office/drawing/2014/main" id="{6E139C1F-B5F1-6B6E-6BBF-529701CA4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641872" y="5760720"/>
            <a:ext cx="1550127" cy="1097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70746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7F909-8751-7CF1-D7C5-1AB49134F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14DFC45-C3F0-0064-1C2B-30AED5842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P90 (</a:t>
            </a:r>
            <a:r>
              <a:rPr lang="pl-PL" b="1" dirty="0"/>
              <a:t>Doświadczenie Większości</a:t>
            </a:r>
            <a:r>
              <a:rPr lang="pl-PL" dirty="0"/>
              <a:t> )</a:t>
            </a:r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E4E70076-7EAB-8B50-9294-EF3E16F92F08}"/>
              </a:ext>
            </a:extLst>
          </p:cNvPr>
          <p:cNvSpPr/>
          <p:nvPr/>
        </p:nvSpPr>
        <p:spPr>
          <a:xfrm>
            <a:off x="861848" y="3699641"/>
            <a:ext cx="3762704" cy="10405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Szybko </a:t>
            </a:r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0FF17768-D436-8E04-14CF-9AAA0AAC0BD0}"/>
              </a:ext>
            </a:extLst>
          </p:cNvPr>
          <p:cNvSpPr/>
          <p:nvPr/>
        </p:nvSpPr>
        <p:spPr>
          <a:xfrm>
            <a:off x="5150069" y="3699641"/>
            <a:ext cx="1676400" cy="10405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P90 = 500 ms</a:t>
            </a:r>
          </a:p>
        </p:txBody>
      </p:sp>
      <p:sp>
        <p:nvSpPr>
          <p:cNvPr id="6" name="Prostokąt 5">
            <a:extLst>
              <a:ext uri="{FF2B5EF4-FFF2-40B4-BE49-F238E27FC236}">
                <a16:creationId xmlns:a16="http://schemas.microsoft.com/office/drawing/2014/main" id="{CB70B7C0-BF55-304D-F373-3D68BB71B3BE}"/>
              </a:ext>
            </a:extLst>
          </p:cNvPr>
          <p:cNvSpPr/>
          <p:nvPr/>
        </p:nvSpPr>
        <p:spPr>
          <a:xfrm>
            <a:off x="8408276" y="3699641"/>
            <a:ext cx="2131552" cy="10405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Wolno </a:t>
            </a:r>
          </a:p>
        </p:txBody>
      </p:sp>
      <p:sp>
        <p:nvSpPr>
          <p:cNvPr id="7" name="Strzałka w górę i w dół 6">
            <a:extLst>
              <a:ext uri="{FF2B5EF4-FFF2-40B4-BE49-F238E27FC236}">
                <a16:creationId xmlns:a16="http://schemas.microsoft.com/office/drawing/2014/main" id="{9BD8E59C-57CD-ECA5-CD83-B1E15E3EFE2E}"/>
              </a:ext>
            </a:extLst>
          </p:cNvPr>
          <p:cNvSpPr/>
          <p:nvPr/>
        </p:nvSpPr>
        <p:spPr>
          <a:xfrm rot="5400000">
            <a:off x="5545981" y="967345"/>
            <a:ext cx="309713" cy="9677980"/>
          </a:xfrm>
          <a:prstGeom prst="up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Nawias klamrowy otwierający 7">
            <a:extLst>
              <a:ext uri="{FF2B5EF4-FFF2-40B4-BE49-F238E27FC236}">
                <a16:creationId xmlns:a16="http://schemas.microsoft.com/office/drawing/2014/main" id="{60BDC981-1C7D-800F-FD61-1C3D19DE282D}"/>
              </a:ext>
            </a:extLst>
          </p:cNvPr>
          <p:cNvSpPr/>
          <p:nvPr/>
        </p:nvSpPr>
        <p:spPr>
          <a:xfrm rot="16200000">
            <a:off x="3689301" y="2126630"/>
            <a:ext cx="309714" cy="596462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9" name="Nawias klamrowy otwierający 8">
            <a:extLst>
              <a:ext uri="{FF2B5EF4-FFF2-40B4-BE49-F238E27FC236}">
                <a16:creationId xmlns:a16="http://schemas.microsoft.com/office/drawing/2014/main" id="{842BE091-4B64-C858-A508-0DD0568B704B}"/>
              </a:ext>
            </a:extLst>
          </p:cNvPr>
          <p:cNvSpPr/>
          <p:nvPr/>
        </p:nvSpPr>
        <p:spPr>
          <a:xfrm rot="16200000">
            <a:off x="9326417" y="4035943"/>
            <a:ext cx="295270" cy="213155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9CAF8C85-C42B-B3AE-0108-AB5CE216C060}"/>
              </a:ext>
            </a:extLst>
          </p:cNvPr>
          <p:cNvSpPr txBox="1"/>
          <p:nvPr/>
        </p:nvSpPr>
        <p:spPr>
          <a:xfrm>
            <a:off x="3639206" y="5282145"/>
            <a:ext cx="746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90%</a:t>
            </a: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708F8EB2-6CF4-5342-16EB-008AF46CEF61}"/>
              </a:ext>
            </a:extLst>
          </p:cNvPr>
          <p:cNvSpPr txBox="1"/>
          <p:nvPr/>
        </p:nvSpPr>
        <p:spPr>
          <a:xfrm>
            <a:off x="9230711" y="5278607"/>
            <a:ext cx="746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10%</a:t>
            </a: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227FEEAB-F7C8-4852-7532-CCB4810995D4}"/>
              </a:ext>
            </a:extLst>
          </p:cNvPr>
          <p:cNvSpPr txBox="1"/>
          <p:nvPr/>
        </p:nvSpPr>
        <p:spPr>
          <a:xfrm>
            <a:off x="660992" y="2281541"/>
            <a:ext cx="68737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b="1" u="sng" dirty="0"/>
              <a:t>Zastosowanie</a:t>
            </a:r>
            <a:r>
              <a:rPr lang="pl-PL" b="1" dirty="0"/>
              <a:t>:</a:t>
            </a:r>
            <a:r>
              <a:rPr lang="pl-PL" dirty="0"/>
              <a:t> Wizja </a:t>
            </a:r>
            <a:r>
              <a:rPr lang="pl-PL" b="1" dirty="0"/>
              <a:t>dobrego UX dla większości</a:t>
            </a:r>
            <a:endParaRPr lang="pl-PL" dirty="0"/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F0A60D0A-8D40-DE67-81CA-B2ACCD083B9E}"/>
              </a:ext>
            </a:extLst>
          </p:cNvPr>
          <p:cNvSpPr txBox="1"/>
          <p:nvPr/>
        </p:nvSpPr>
        <p:spPr>
          <a:xfrm>
            <a:off x="6096000" y="2182130"/>
            <a:ext cx="831368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b="1" u="sng" dirty="0"/>
              <a:t>Cele biznesowe: </a:t>
            </a:r>
          </a:p>
          <a:p>
            <a:endParaRPr lang="pl-PL" b="1" u="sng" dirty="0"/>
          </a:p>
          <a:p>
            <a:r>
              <a:rPr lang="pl-PL" dirty="0"/>
              <a:t>✅ "90% użytkowników powinno czekać &lt; 500ms" </a:t>
            </a:r>
          </a:p>
          <a:p>
            <a:r>
              <a:rPr lang="pl-PL" dirty="0"/>
              <a:t>✅ To naprawdę wpływa na konwersje</a:t>
            </a:r>
          </a:p>
        </p:txBody>
      </p:sp>
      <p:pic>
        <p:nvPicPr>
          <p:cNvPr id="16" name="Picture 2" descr="Politechnika Gdańska – Trójmiejska Mapa Akademicka">
            <a:extLst>
              <a:ext uri="{FF2B5EF4-FFF2-40B4-BE49-F238E27FC236}">
                <a16:creationId xmlns:a16="http://schemas.microsoft.com/office/drawing/2014/main" id="{0248C0B6-2876-C2BA-1424-EB2964131F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641872" y="5760720"/>
            <a:ext cx="1550127" cy="1097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29894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12804-6923-BC10-A92A-F42D21773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EA28981-ECB3-C697-147E-2E9FFBCA5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P95 </a:t>
            </a:r>
            <a:r>
              <a:rPr lang="pl-PL" b="1" dirty="0"/>
              <a:t>SLA (Service Level Agreement)</a:t>
            </a:r>
            <a:r>
              <a:rPr lang="pl-PL" dirty="0"/>
              <a:t> </a:t>
            </a:r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518339A2-B4E2-DF6A-6D1D-12F6D8D55449}"/>
              </a:ext>
            </a:extLst>
          </p:cNvPr>
          <p:cNvSpPr/>
          <p:nvPr/>
        </p:nvSpPr>
        <p:spPr>
          <a:xfrm>
            <a:off x="861848" y="3699641"/>
            <a:ext cx="4351284" cy="10405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Szybko </a:t>
            </a:r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DCC4EFBF-4124-6EAD-0367-4F2E8DE9B652}"/>
              </a:ext>
            </a:extLst>
          </p:cNvPr>
          <p:cNvSpPr/>
          <p:nvPr/>
        </p:nvSpPr>
        <p:spPr>
          <a:xfrm>
            <a:off x="6978869" y="3699641"/>
            <a:ext cx="1902372" cy="10405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P95 = 800 ms</a:t>
            </a:r>
          </a:p>
        </p:txBody>
      </p:sp>
      <p:sp>
        <p:nvSpPr>
          <p:cNvPr id="6" name="Prostokąt 5">
            <a:extLst>
              <a:ext uri="{FF2B5EF4-FFF2-40B4-BE49-F238E27FC236}">
                <a16:creationId xmlns:a16="http://schemas.microsoft.com/office/drawing/2014/main" id="{B4173377-F285-259D-1DB6-D8BD7B7F0E88}"/>
              </a:ext>
            </a:extLst>
          </p:cNvPr>
          <p:cNvSpPr/>
          <p:nvPr/>
        </p:nvSpPr>
        <p:spPr>
          <a:xfrm>
            <a:off x="9196552" y="3699641"/>
            <a:ext cx="1343276" cy="10405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Wolno </a:t>
            </a:r>
          </a:p>
        </p:txBody>
      </p:sp>
      <p:sp>
        <p:nvSpPr>
          <p:cNvPr id="7" name="Strzałka w górę i w dół 6">
            <a:extLst>
              <a:ext uri="{FF2B5EF4-FFF2-40B4-BE49-F238E27FC236}">
                <a16:creationId xmlns:a16="http://schemas.microsoft.com/office/drawing/2014/main" id="{91EB4A00-E48D-8A51-F961-8DF2745D282A}"/>
              </a:ext>
            </a:extLst>
          </p:cNvPr>
          <p:cNvSpPr/>
          <p:nvPr/>
        </p:nvSpPr>
        <p:spPr>
          <a:xfrm rot="5400000">
            <a:off x="5545981" y="967345"/>
            <a:ext cx="309713" cy="9677980"/>
          </a:xfrm>
          <a:prstGeom prst="up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Nawias klamrowy otwierający 7">
            <a:extLst>
              <a:ext uri="{FF2B5EF4-FFF2-40B4-BE49-F238E27FC236}">
                <a16:creationId xmlns:a16="http://schemas.microsoft.com/office/drawing/2014/main" id="{D80614FF-2F26-DC36-458A-974501EE89A2}"/>
              </a:ext>
            </a:extLst>
          </p:cNvPr>
          <p:cNvSpPr/>
          <p:nvPr/>
        </p:nvSpPr>
        <p:spPr>
          <a:xfrm rot="16200000">
            <a:off x="4716687" y="1099244"/>
            <a:ext cx="309714" cy="801939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9" name="Nawias klamrowy otwierający 8">
            <a:extLst>
              <a:ext uri="{FF2B5EF4-FFF2-40B4-BE49-F238E27FC236}">
                <a16:creationId xmlns:a16="http://schemas.microsoft.com/office/drawing/2014/main" id="{6286D163-B2CA-28F7-9FA4-949F5658AFCE}"/>
              </a:ext>
            </a:extLst>
          </p:cNvPr>
          <p:cNvSpPr/>
          <p:nvPr/>
        </p:nvSpPr>
        <p:spPr>
          <a:xfrm rot="16200000">
            <a:off x="9713333" y="4437303"/>
            <a:ext cx="309714" cy="134327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1CDD2720-16A1-5201-54E0-84B095FCD1F7}"/>
              </a:ext>
            </a:extLst>
          </p:cNvPr>
          <p:cNvSpPr txBox="1"/>
          <p:nvPr/>
        </p:nvSpPr>
        <p:spPr>
          <a:xfrm>
            <a:off x="4648199" y="5272972"/>
            <a:ext cx="746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95%</a:t>
            </a: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D42FBCC9-3C76-4DB4-078F-11DE47F93C36}"/>
              </a:ext>
            </a:extLst>
          </p:cNvPr>
          <p:cNvSpPr txBox="1"/>
          <p:nvPr/>
        </p:nvSpPr>
        <p:spPr>
          <a:xfrm>
            <a:off x="9601201" y="5275846"/>
            <a:ext cx="746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5%</a:t>
            </a: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F51D66BD-6FFD-DC70-B404-3D0BF4BE5464}"/>
              </a:ext>
            </a:extLst>
          </p:cNvPr>
          <p:cNvSpPr txBox="1"/>
          <p:nvPr/>
        </p:nvSpPr>
        <p:spPr>
          <a:xfrm>
            <a:off x="420414" y="2274489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dirty="0"/>
              <a:t>Co to znaczy ? </a:t>
            </a:r>
          </a:p>
          <a:p>
            <a:r>
              <a:rPr lang="pl-PL" b="1" dirty="0"/>
              <a:t>95%</a:t>
            </a:r>
            <a:r>
              <a:rPr lang="pl-PL" dirty="0"/>
              <a:t> żądań szybciej ?</a:t>
            </a:r>
          </a:p>
          <a:p>
            <a:r>
              <a:rPr lang="pl-PL" b="1" dirty="0"/>
              <a:t>5%  </a:t>
            </a:r>
            <a:r>
              <a:rPr lang="pl-PL" dirty="0"/>
              <a:t>szybko się poddaje (przeglądarka </a:t>
            </a:r>
            <a:r>
              <a:rPr lang="pl-PL" dirty="0" err="1"/>
              <a:t>timeout</a:t>
            </a:r>
            <a:r>
              <a:rPr lang="pl-PL" dirty="0"/>
              <a:t>)?</a:t>
            </a:r>
          </a:p>
        </p:txBody>
      </p: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B6B836E4-CEB2-0AF8-1D39-90E978CC4A54}"/>
              </a:ext>
            </a:extLst>
          </p:cNvPr>
          <p:cNvSpPr txBox="1"/>
          <p:nvPr/>
        </p:nvSpPr>
        <p:spPr>
          <a:xfrm>
            <a:off x="2514599" y="6029983"/>
            <a:ext cx="68921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dirty="0"/>
              <a:t>❌ "Gwarantujemy P95 &lt; 800ms" </a:t>
            </a:r>
          </a:p>
          <a:p>
            <a:r>
              <a:rPr lang="pl-PL" dirty="0"/>
              <a:t>✅ "Gwarantujemy 95% żądań &lt; 800ms, dopuszczamy 5% wolnych"</a:t>
            </a:r>
          </a:p>
        </p:txBody>
      </p:sp>
      <p:pic>
        <p:nvPicPr>
          <p:cNvPr id="17" name="Picture 2" descr="Politechnika Gdańska – Trójmiejska Mapa Akademicka">
            <a:extLst>
              <a:ext uri="{FF2B5EF4-FFF2-40B4-BE49-F238E27FC236}">
                <a16:creationId xmlns:a16="http://schemas.microsoft.com/office/drawing/2014/main" id="{4F27AAAA-0B54-4553-7040-DF49E8E473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641872" y="5760720"/>
            <a:ext cx="1550127" cy="1097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62681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818D7-B765-D1EB-D331-99359C544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5F69806-E2C1-6812-5C4F-0D0049B0E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P99 Edge </a:t>
            </a:r>
            <a:r>
              <a:rPr lang="pl-PL" dirty="0" err="1"/>
              <a:t>Cases</a:t>
            </a:r>
            <a:r>
              <a:rPr lang="pl-PL" dirty="0"/>
              <a:t> </a:t>
            </a:r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07819256-075F-5755-AF84-EDACFC31B35F}"/>
              </a:ext>
            </a:extLst>
          </p:cNvPr>
          <p:cNvSpPr/>
          <p:nvPr/>
        </p:nvSpPr>
        <p:spPr>
          <a:xfrm>
            <a:off x="861848" y="3699641"/>
            <a:ext cx="6484882" cy="10405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Szybko </a:t>
            </a:r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54E7DE24-43F5-7FB0-CCF3-D05146F65B33}"/>
              </a:ext>
            </a:extLst>
          </p:cNvPr>
          <p:cNvSpPr/>
          <p:nvPr/>
        </p:nvSpPr>
        <p:spPr>
          <a:xfrm>
            <a:off x="7662041" y="3699641"/>
            <a:ext cx="1219200" cy="10405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P99 = 2000 ms</a:t>
            </a:r>
          </a:p>
        </p:txBody>
      </p:sp>
      <p:sp>
        <p:nvSpPr>
          <p:cNvPr id="6" name="Prostokąt 5">
            <a:extLst>
              <a:ext uri="{FF2B5EF4-FFF2-40B4-BE49-F238E27FC236}">
                <a16:creationId xmlns:a16="http://schemas.microsoft.com/office/drawing/2014/main" id="{802993C9-8BF9-1CB0-CDF2-663D5E55498E}"/>
              </a:ext>
            </a:extLst>
          </p:cNvPr>
          <p:cNvSpPr/>
          <p:nvPr/>
        </p:nvSpPr>
        <p:spPr>
          <a:xfrm>
            <a:off x="9196552" y="3699641"/>
            <a:ext cx="1343276" cy="10405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Wolno </a:t>
            </a:r>
          </a:p>
        </p:txBody>
      </p:sp>
      <p:sp>
        <p:nvSpPr>
          <p:cNvPr id="7" name="Strzałka w górę i w dół 6">
            <a:extLst>
              <a:ext uri="{FF2B5EF4-FFF2-40B4-BE49-F238E27FC236}">
                <a16:creationId xmlns:a16="http://schemas.microsoft.com/office/drawing/2014/main" id="{635CD35A-F7BD-0229-0BC7-A196BF10818B}"/>
              </a:ext>
            </a:extLst>
          </p:cNvPr>
          <p:cNvSpPr/>
          <p:nvPr/>
        </p:nvSpPr>
        <p:spPr>
          <a:xfrm rot="5400000">
            <a:off x="5545981" y="967345"/>
            <a:ext cx="309713" cy="9677980"/>
          </a:xfrm>
          <a:prstGeom prst="up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Nawias klamrowy otwierający 7">
            <a:extLst>
              <a:ext uri="{FF2B5EF4-FFF2-40B4-BE49-F238E27FC236}">
                <a16:creationId xmlns:a16="http://schemas.microsoft.com/office/drawing/2014/main" id="{5E68DD06-E2FD-2B23-1467-ED82C09608FC}"/>
              </a:ext>
            </a:extLst>
          </p:cNvPr>
          <p:cNvSpPr/>
          <p:nvPr/>
        </p:nvSpPr>
        <p:spPr>
          <a:xfrm rot="16200000">
            <a:off x="4716687" y="1099244"/>
            <a:ext cx="309714" cy="801939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9" name="Nawias klamrowy otwierający 8">
            <a:extLst>
              <a:ext uri="{FF2B5EF4-FFF2-40B4-BE49-F238E27FC236}">
                <a16:creationId xmlns:a16="http://schemas.microsoft.com/office/drawing/2014/main" id="{2E7558FE-8E94-8812-C51D-7C652E4CE4F0}"/>
              </a:ext>
            </a:extLst>
          </p:cNvPr>
          <p:cNvSpPr/>
          <p:nvPr/>
        </p:nvSpPr>
        <p:spPr>
          <a:xfrm rot="16200000">
            <a:off x="9713333" y="4437303"/>
            <a:ext cx="309714" cy="134327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EA246D86-DA6B-0750-F3AF-35B43B8C362F}"/>
              </a:ext>
            </a:extLst>
          </p:cNvPr>
          <p:cNvSpPr txBox="1"/>
          <p:nvPr/>
        </p:nvSpPr>
        <p:spPr>
          <a:xfrm>
            <a:off x="4648199" y="5272972"/>
            <a:ext cx="746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95%</a:t>
            </a: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5D23083A-BFE7-478E-5F29-134955717649}"/>
              </a:ext>
            </a:extLst>
          </p:cNvPr>
          <p:cNvSpPr txBox="1"/>
          <p:nvPr/>
        </p:nvSpPr>
        <p:spPr>
          <a:xfrm>
            <a:off x="9601201" y="5275846"/>
            <a:ext cx="746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1 %</a:t>
            </a:r>
          </a:p>
        </p:txBody>
      </p: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BDECFD89-720A-1C7C-B99C-6C99A56A6380}"/>
              </a:ext>
            </a:extLst>
          </p:cNvPr>
          <p:cNvSpPr txBox="1"/>
          <p:nvPr/>
        </p:nvSpPr>
        <p:spPr>
          <a:xfrm>
            <a:off x="2514599" y="6029983"/>
            <a:ext cx="68921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dirty="0"/>
              <a:t>✅ "99% żądań szybciej" </a:t>
            </a:r>
          </a:p>
          <a:p>
            <a:r>
              <a:rPr lang="pl-PL" dirty="0"/>
              <a:t>❌ ”1% czeka BARDZO długo"</a:t>
            </a: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DD130391-3355-3838-D21A-7EBF71762926}"/>
              </a:ext>
            </a:extLst>
          </p:cNvPr>
          <p:cNvSpPr txBox="1"/>
          <p:nvPr/>
        </p:nvSpPr>
        <p:spPr>
          <a:xfrm>
            <a:off x="5623034" y="616420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dirty="0"/>
              <a:t>= ~36,000 wolnych żądań dziennie (na 3.6M żądań)</a:t>
            </a:r>
          </a:p>
        </p:txBody>
      </p:sp>
      <p:pic>
        <p:nvPicPr>
          <p:cNvPr id="14" name="Picture 2" descr="Politechnika Gdańska – Trójmiejska Mapa Akademicka">
            <a:extLst>
              <a:ext uri="{FF2B5EF4-FFF2-40B4-BE49-F238E27FC236}">
                <a16:creationId xmlns:a16="http://schemas.microsoft.com/office/drawing/2014/main" id="{B67D0CB3-6E5E-77FF-C1F1-82F4EBB7C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641872" y="5760720"/>
            <a:ext cx="1550127" cy="1097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80133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24626CB-4BFA-C0D4-0C2F-4AA27E2AE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87050477-BC10-C3FD-C734-1E6166874ECB}"/>
              </a:ext>
            </a:extLst>
          </p:cNvPr>
          <p:cNvSpPr txBox="1"/>
          <p:nvPr/>
        </p:nvSpPr>
        <p:spPr>
          <a:xfrm>
            <a:off x="3573571" y="1678376"/>
            <a:ext cx="6096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dirty="0"/>
              <a:t>Sklep internetowy: czas ładowania produktu</a:t>
            </a:r>
          </a:p>
          <a:p>
            <a:r>
              <a:rPr lang="pl-PL" dirty="0"/>
              <a:t>Średnia: 200ms ← ZWODNICZE! </a:t>
            </a:r>
          </a:p>
          <a:p>
            <a:r>
              <a:rPr lang="pl-PL" dirty="0"/>
              <a:t>P50: 150ms </a:t>
            </a:r>
          </a:p>
          <a:p>
            <a:r>
              <a:rPr lang="pl-PL" dirty="0"/>
              <a:t>P90: 400ms       ←     90% użytkowników pracuje OK </a:t>
            </a:r>
          </a:p>
          <a:p>
            <a:r>
              <a:rPr lang="pl-PL" dirty="0"/>
              <a:t>P95: 800ms       ←     SLA gwarantujemy </a:t>
            </a:r>
          </a:p>
          <a:p>
            <a:r>
              <a:rPr lang="pl-PL" dirty="0"/>
              <a:t>P99: 2000ms     ←     Kilka % czeka 2s </a:t>
            </a:r>
          </a:p>
          <a:p>
            <a:endParaRPr lang="pl-PL" dirty="0"/>
          </a:p>
          <a:p>
            <a:r>
              <a:rPr lang="pl-PL" dirty="0"/>
              <a:t>Analiza: </a:t>
            </a:r>
          </a:p>
          <a:p>
            <a:r>
              <a:rPr lang="pl-PL" dirty="0"/>
              <a:t>❌ Średnia      200ms    - super!</a:t>
            </a:r>
          </a:p>
          <a:p>
            <a:r>
              <a:rPr lang="pl-PL" dirty="0"/>
              <a:t>✅ P95            800ms    - mogą się odsunąć </a:t>
            </a:r>
          </a:p>
          <a:p>
            <a:r>
              <a:rPr lang="pl-PL" dirty="0"/>
              <a:t>✅ P99            2000ms  - przydałoby się rozwiązać </a:t>
            </a:r>
          </a:p>
          <a:p>
            <a:endParaRPr lang="pl-PL" dirty="0"/>
          </a:p>
          <a:p>
            <a:r>
              <a:rPr lang="pl-PL" dirty="0"/>
              <a:t>Co robić? </a:t>
            </a:r>
          </a:p>
          <a:p>
            <a:pPr marL="342900" indent="-342900">
              <a:buAutoNum type="arabicPeriod"/>
            </a:pPr>
            <a:r>
              <a:rPr lang="pl-PL" dirty="0"/>
              <a:t>Zoptymalizować P99 (cache, CDN)</a:t>
            </a:r>
          </a:p>
          <a:p>
            <a:pPr marL="342900" indent="-342900">
              <a:buAutoNum type="arabicPeriod"/>
            </a:pPr>
            <a:r>
              <a:rPr lang="pl-PL" dirty="0"/>
              <a:t>Monitorować P90 (to główna grupa) </a:t>
            </a:r>
          </a:p>
          <a:p>
            <a:pPr marL="342900" indent="-342900">
              <a:buAutoNum type="arabicPeriod"/>
            </a:pPr>
            <a:r>
              <a:rPr lang="pl-PL" dirty="0"/>
              <a:t>Nie patrzyć na średnią!</a:t>
            </a:r>
          </a:p>
        </p:txBody>
      </p:sp>
      <p:pic>
        <p:nvPicPr>
          <p:cNvPr id="8" name="Picture 2" descr="Politechnika Gdańska – Trójmiejska Mapa Akademicka">
            <a:extLst>
              <a:ext uri="{FF2B5EF4-FFF2-40B4-BE49-F238E27FC236}">
                <a16:creationId xmlns:a16="http://schemas.microsoft.com/office/drawing/2014/main" id="{15ADEC50-F7CF-50FB-F8C6-778F7F59D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641872" y="5760720"/>
            <a:ext cx="1550127" cy="1097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18772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A47DD09-EF2C-A9B3-CD24-AE8F9A6B3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Dlaczego </a:t>
            </a:r>
            <a:r>
              <a:rPr lang="pl-PL" b="1" dirty="0" err="1"/>
              <a:t>Percentyle</a:t>
            </a:r>
            <a:r>
              <a:rPr lang="pl-PL" b="1" dirty="0"/>
              <a:t> vs Średnia?</a:t>
            </a:r>
            <a:r>
              <a:rPr lang="pl-PL" dirty="0"/>
              <a:t> 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BF6329D9-CE05-A990-FF1F-7BF3C3EFF1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8895337"/>
              </p:ext>
            </p:extLst>
          </p:nvPr>
        </p:nvGraphicFramePr>
        <p:xfrm>
          <a:off x="639172" y="2577739"/>
          <a:ext cx="10891836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30612">
                  <a:extLst>
                    <a:ext uri="{9D8B030D-6E8A-4147-A177-3AD203B41FA5}">
                      <a16:colId xmlns:a16="http://schemas.microsoft.com/office/drawing/2014/main" val="994324891"/>
                    </a:ext>
                  </a:extLst>
                </a:gridCol>
                <a:gridCol w="3630612">
                  <a:extLst>
                    <a:ext uri="{9D8B030D-6E8A-4147-A177-3AD203B41FA5}">
                      <a16:colId xmlns:a16="http://schemas.microsoft.com/office/drawing/2014/main" val="3835861222"/>
                    </a:ext>
                  </a:extLst>
                </a:gridCol>
                <a:gridCol w="3630612">
                  <a:extLst>
                    <a:ext uri="{9D8B030D-6E8A-4147-A177-3AD203B41FA5}">
                      <a16:colId xmlns:a16="http://schemas.microsoft.com/office/drawing/2014/main" val="27309117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l-PL" dirty="0"/>
                        <a:t>Metryka</a:t>
                      </a: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/>
                        <a:t>Co mówi</a:t>
                      </a: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Problem</a:t>
                      </a: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90907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l-PL" b="1"/>
                        <a:t>Średnia</a:t>
                      </a:r>
                      <a:endParaRPr lang="pl-PL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l-PL"/>
                        <a:t>Przeciętny czas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l-PL"/>
                        <a:t>Jeden outlier je musi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55023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l-PL" b="1" dirty="0"/>
                        <a:t>P50</a:t>
                      </a:r>
                      <a:endParaRPr lang="pl-PL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l-PL"/>
                        <a:t>Mediana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l-PL"/>
                        <a:t>Ignoruje 50% problemu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753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l-PL" b="1"/>
                        <a:t>P90</a:t>
                      </a:r>
                      <a:endParaRPr lang="pl-PL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l-PL"/>
                        <a:t>Większość użytkowników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l-PL" b="1" dirty="0"/>
                        <a:t>Biznes go słucha</a:t>
                      </a:r>
                      <a:r>
                        <a:rPr lang="pl-PL" dirty="0"/>
                        <a:t>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8857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l-PL" b="1" dirty="0"/>
                        <a:t>P95</a:t>
                      </a:r>
                      <a:endParaRPr lang="pl-PL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l-PL"/>
                        <a:t>SLA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l-PL" b="1" dirty="0"/>
                        <a:t>Umowa z klientem</a:t>
                      </a:r>
                      <a:r>
                        <a:rPr lang="pl-PL" dirty="0"/>
                        <a:t>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2116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l-PL" b="1"/>
                        <a:t>P99</a:t>
                      </a:r>
                      <a:endParaRPr lang="pl-PL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l-PL"/>
                        <a:t>Outliers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l-PL" b="1" dirty="0"/>
                        <a:t>Znajduj </a:t>
                      </a:r>
                      <a:r>
                        <a:rPr lang="pl-PL" b="1" dirty="0" err="1"/>
                        <a:t>bottlenecks</a:t>
                      </a:r>
                      <a:r>
                        <a:rPr lang="pl-PL" dirty="0"/>
                        <a:t>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0367017"/>
                  </a:ext>
                </a:extLst>
              </a:tr>
            </a:tbl>
          </a:graphicData>
        </a:graphic>
      </p:graphicFrame>
      <p:pic>
        <p:nvPicPr>
          <p:cNvPr id="5" name="Picture 2" descr="Politechnika Gdańska – Trójmiejska Mapa Akademicka">
            <a:extLst>
              <a:ext uri="{FF2B5EF4-FFF2-40B4-BE49-F238E27FC236}">
                <a16:creationId xmlns:a16="http://schemas.microsoft.com/office/drawing/2014/main" id="{9890C3FD-0086-BF73-D2E7-26872048E0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641872" y="5760720"/>
            <a:ext cx="1550127" cy="1097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55593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DBF31B3-DAA3-4AC0-7465-C9F686374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Podsumowując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4EBF1121-28E5-0B5A-DF52-E9B72B17C943}"/>
              </a:ext>
            </a:extLst>
          </p:cNvPr>
          <p:cNvSpPr txBox="1"/>
          <p:nvPr/>
        </p:nvSpPr>
        <p:spPr>
          <a:xfrm>
            <a:off x="640079" y="270042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dirty="0"/>
              <a:t>NIGDY nie patrz na średnią → Zawsze patrz na P90 i P95</a:t>
            </a: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A6E86CB1-8B3D-A8DC-C59B-F31ACE6EDAEB}"/>
              </a:ext>
            </a:extLst>
          </p:cNvPr>
          <p:cNvSpPr txBox="1"/>
          <p:nvPr/>
        </p:nvSpPr>
        <p:spPr>
          <a:xfrm>
            <a:off x="640079" y="3269766"/>
            <a:ext cx="93016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dirty="0"/>
              <a:t>P90/P95 = UX decyzji biznesowe → Jeśli P95 &gt; 1s → użytkownicy odchodzą </a:t>
            </a: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476276DD-0F10-A1F5-BD43-C09E6327458B}"/>
              </a:ext>
            </a:extLst>
          </p:cNvPr>
          <p:cNvSpPr txBox="1"/>
          <p:nvPr/>
        </p:nvSpPr>
        <p:spPr>
          <a:xfrm>
            <a:off x="640079" y="3843412"/>
            <a:ext cx="96695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dirty="0"/>
              <a:t>P99 = wskaźnik zdrowia systemu → Jeśli P99 rośnie → masz problem</a:t>
            </a:r>
          </a:p>
        </p:txBody>
      </p:sp>
      <p:pic>
        <p:nvPicPr>
          <p:cNvPr id="14" name="Picture 2" descr="Politechnika Gdańska – Trójmiejska Mapa Akademicka">
            <a:extLst>
              <a:ext uri="{FF2B5EF4-FFF2-40B4-BE49-F238E27FC236}">
                <a16:creationId xmlns:a16="http://schemas.microsoft.com/office/drawing/2014/main" id="{937BCC82-CDB0-36DD-39AE-F6AE9ED5FE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641872" y="5760720"/>
            <a:ext cx="1550127" cy="1097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32828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66FC88D-FAEF-0EE8-D488-045DBB833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Zadanie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2DAF703-6CD0-0A93-82A0-E29B609888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b="1" dirty="0"/>
              <a:t>Arkusz 1: </a:t>
            </a:r>
            <a:r>
              <a:rPr lang="pl-PL" b="1" dirty="0" err="1"/>
              <a:t>Percentyle</a:t>
            </a:r>
            <a:r>
              <a:rPr lang="pl-PL" b="1" dirty="0"/>
              <a:t> - Zadanie 📋</a:t>
            </a:r>
          </a:p>
          <a:p>
            <a:r>
              <a:rPr lang="pl-PL" dirty="0"/>
              <a:t>Zawiera </a:t>
            </a:r>
            <a:r>
              <a:rPr lang="pl-PL" b="1" dirty="0"/>
              <a:t>dwa scenariusze</a:t>
            </a:r>
            <a:r>
              <a:rPr lang="pl-PL" dirty="0"/>
              <a:t> z rzeczywistymi danymi:</a:t>
            </a:r>
          </a:p>
          <a:p>
            <a:r>
              <a:rPr lang="pl-PL" b="1" dirty="0"/>
              <a:t>Scenariusz 1 - PRZED optymalizacją:</a:t>
            </a:r>
            <a:endParaRPr lang="pl-PL" dirty="0"/>
          </a:p>
          <a:p>
            <a:pPr>
              <a:buFont typeface="Arial" panose="020B0604020202020204" pitchFamily="34" charset="0"/>
              <a:buChar char="•"/>
            </a:pPr>
            <a:r>
              <a:rPr lang="pl-PL" dirty="0"/>
              <a:t>100 czasów odpowiedzi (ms) z szumem - większość 100-300ms, ale są </a:t>
            </a:r>
            <a:r>
              <a:rPr lang="pl-PL" dirty="0" err="1"/>
              <a:t>outliers</a:t>
            </a:r>
            <a:r>
              <a:rPr lang="pl-PL" dirty="0"/>
              <a:t> do 3000ms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dirty="0"/>
              <a:t>Formuły do policzenia: Średnia, P50, P90, P95, P99</a:t>
            </a:r>
          </a:p>
          <a:p>
            <a:endParaRPr lang="pl-PL" dirty="0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6C21AF54-C718-AF88-0A0E-F4C0B18C5233}"/>
              </a:ext>
            </a:extLst>
          </p:cNvPr>
          <p:cNvSpPr txBox="1"/>
          <p:nvPr/>
        </p:nvSpPr>
        <p:spPr>
          <a:xfrm>
            <a:off x="660992" y="5440893"/>
            <a:ext cx="863015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b="1" dirty="0"/>
              <a:t>Scenariusz 2 - PO optymalizacji:</a:t>
            </a:r>
            <a:endParaRPr lang="pl-PL" dirty="0"/>
          </a:p>
          <a:p>
            <a:pPr>
              <a:buFont typeface="Arial" panose="020B0604020202020204" pitchFamily="34" charset="0"/>
              <a:buChar char="•"/>
            </a:pPr>
            <a:r>
              <a:rPr lang="pl-PL" dirty="0"/>
              <a:t>100 czasów odpowiedzi (ms) - szybsze (50-150ms), mniej </a:t>
            </a:r>
            <a:r>
              <a:rPr lang="pl-PL" dirty="0" err="1"/>
              <a:t>outlierów</a:t>
            </a:r>
            <a:endParaRPr lang="pl-PL" dirty="0"/>
          </a:p>
          <a:p>
            <a:pPr>
              <a:buFont typeface="Arial" panose="020B0604020202020204" pitchFamily="34" charset="0"/>
              <a:buChar char="•"/>
            </a:pPr>
            <a:r>
              <a:rPr lang="pl-PL" dirty="0"/>
              <a:t>Te same metryki</a:t>
            </a:r>
          </a:p>
        </p:txBody>
      </p:sp>
      <p:pic>
        <p:nvPicPr>
          <p:cNvPr id="6" name="Picture 2" descr="Politechnika Gdańska – Trójmiejska Mapa Akademicka">
            <a:extLst>
              <a:ext uri="{FF2B5EF4-FFF2-40B4-BE49-F238E27FC236}">
                <a16:creationId xmlns:a16="http://schemas.microsoft.com/office/drawing/2014/main" id="{55F83B39-F4CA-1CF8-61BA-F09D753D5D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641872" y="5760720"/>
            <a:ext cx="1550127" cy="1097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30841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96A383FA-3EF5-0491-312A-AD964C19A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737859" cy="10972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l-PL" sz="3400">
                <a:effectLst/>
                <a:latin typeface="Helvetica" pitchFamily="2" charset="0"/>
              </a:rPr>
              <a:t>SLA (Service Level Agreement)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193F244-2632-B29B-877C-E3BA4BAAB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236"/>
            <a:ext cx="5737860" cy="3666980"/>
          </a:xfrm>
        </p:spPr>
        <p:txBody>
          <a:bodyPr>
            <a:normAutofit/>
          </a:bodyPr>
          <a:lstStyle/>
          <a:p>
            <a:r>
              <a:rPr lang="pl-PL" dirty="0"/>
              <a:t>SLA to dokument lub umowa definiująca </a:t>
            </a:r>
            <a:r>
              <a:rPr lang="pl-PL" dirty="0" err="1"/>
              <a:t>standards</a:t>
            </a:r>
            <a:r>
              <a:rPr lang="pl-PL" dirty="0"/>
              <a:t> wydajności i dostępności usługi, którą dostawca zobowiązuje się dostarczać klientowi. Określa konsekwencje, jeśli te standardy nie będą spełnione.</a:t>
            </a:r>
          </a:p>
        </p:txBody>
      </p:sp>
      <p:pic>
        <p:nvPicPr>
          <p:cNvPr id="8" name="Graphic 7" descr="Contract">
            <a:extLst>
              <a:ext uri="{FF2B5EF4-FFF2-40B4-BE49-F238E27FC236}">
                <a16:creationId xmlns:a16="http://schemas.microsoft.com/office/drawing/2014/main" id="{BB45E3A1-4AD9-9081-985F-8E97BCD6EA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55179" y="1924386"/>
            <a:ext cx="4375829" cy="4375829"/>
          </a:xfrm>
          <a:prstGeom prst="rect">
            <a:avLst/>
          </a:prstGeom>
        </p:spPr>
      </p:pic>
      <p:pic>
        <p:nvPicPr>
          <p:cNvPr id="4" name="Picture 2" descr="Politechnika Gdańska – Trójmiejska Mapa Akademicka">
            <a:extLst>
              <a:ext uri="{FF2B5EF4-FFF2-40B4-BE49-F238E27FC236}">
                <a16:creationId xmlns:a16="http://schemas.microsoft.com/office/drawing/2014/main" id="{CC23D96E-46B8-0E59-0D71-5857E54286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641872" y="5760720"/>
            <a:ext cx="1550127" cy="1097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14470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640CE28B-F368-A9DE-949A-EFD03551D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737859" cy="10972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l-PL" sz="3400"/>
              <a:t>Kluczowe Komponenty SLA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ymbol zastępczy zawartości 2">
            <a:extLst>
              <a:ext uri="{FF2B5EF4-FFF2-40B4-BE49-F238E27FC236}">
                <a16:creationId xmlns:a16="http://schemas.microsoft.com/office/drawing/2014/main" id="{466F63A0-8E4B-25C9-36DA-E8591E7C0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236"/>
            <a:ext cx="5737860" cy="3666980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pl-PL" sz="1700" b="1"/>
              <a:t>1. </a:t>
            </a:r>
            <a:r>
              <a:rPr lang="pl-PL" sz="1700" b="1" err="1"/>
              <a:t>Metrics</a:t>
            </a:r>
            <a:r>
              <a:rPr lang="pl-PL" sz="1700" b="1"/>
              <a:t> (Metryki)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pl-PL" sz="1700" b="1" err="1"/>
              <a:t>Availability</a:t>
            </a:r>
            <a:r>
              <a:rPr lang="pl-PL" sz="1700" b="1"/>
              <a:t> (Dostępność)</a:t>
            </a:r>
            <a:r>
              <a:rPr lang="pl-PL" sz="1700"/>
              <a:t> – np. 99.9% (Three </a:t>
            </a:r>
            <a:r>
              <a:rPr lang="pl-PL" sz="1700" err="1"/>
              <a:t>Nines</a:t>
            </a:r>
            <a:r>
              <a:rPr lang="pl-PL" sz="1700"/>
              <a:t>) = max 43 minuty </a:t>
            </a:r>
            <a:r>
              <a:rPr lang="pl-PL" sz="1700" err="1"/>
              <a:t>downtime</a:t>
            </a:r>
            <a:r>
              <a:rPr lang="pl-PL" sz="1700"/>
              <a:t>/miesiąc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pl-PL" sz="1700" b="1" err="1"/>
              <a:t>Response</a:t>
            </a:r>
            <a:r>
              <a:rPr lang="pl-PL" sz="1700" b="1"/>
              <a:t> Time</a:t>
            </a:r>
            <a:r>
              <a:rPr lang="pl-PL" sz="1700"/>
              <a:t> – np. maksymalnie 2 godziny na odpowiedź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pl-PL" sz="1700" b="1"/>
              <a:t>Resolution Time</a:t>
            </a:r>
            <a:r>
              <a:rPr lang="pl-PL" sz="1700"/>
              <a:t> – np. 24 godziny na rozwiązanie problemu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pl-PL" sz="1700" b="1" err="1"/>
              <a:t>Uptime</a:t>
            </a:r>
            <a:r>
              <a:rPr lang="pl-PL" sz="1700"/>
              <a:t> – procent czasu, w którym system jest dostępny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pl-PL" sz="1700" b="1"/>
              <a:t>Performance</a:t>
            </a:r>
            <a:r>
              <a:rPr lang="pl-PL" sz="1700"/>
              <a:t> – prędkość, przepustowość, opóźnienia</a:t>
            </a:r>
          </a:p>
          <a:p>
            <a:pPr marL="0" indent="0">
              <a:lnSpc>
                <a:spcPct val="110000"/>
              </a:lnSpc>
              <a:buNone/>
            </a:pPr>
            <a:endParaRPr lang="pl-PL" sz="1700"/>
          </a:p>
        </p:txBody>
      </p:sp>
      <p:pic>
        <p:nvPicPr>
          <p:cNvPr id="7" name="Graphic 6" descr="Bezpieczeństwo laptopa">
            <a:extLst>
              <a:ext uri="{FF2B5EF4-FFF2-40B4-BE49-F238E27FC236}">
                <a16:creationId xmlns:a16="http://schemas.microsoft.com/office/drawing/2014/main" id="{7612D11E-6F79-82E8-9473-D326D2C0A5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55179" y="1924386"/>
            <a:ext cx="4375829" cy="4375829"/>
          </a:xfrm>
          <a:prstGeom prst="rect">
            <a:avLst/>
          </a:prstGeom>
        </p:spPr>
      </p:pic>
      <p:pic>
        <p:nvPicPr>
          <p:cNvPr id="4" name="Picture 2" descr="Politechnika Gdańska – Trójmiejska Mapa Akademicka">
            <a:extLst>
              <a:ext uri="{FF2B5EF4-FFF2-40B4-BE49-F238E27FC236}">
                <a16:creationId xmlns:a16="http://schemas.microsoft.com/office/drawing/2014/main" id="{1A47A649-F57D-3E13-72ED-E85B8748B3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641872" y="5760720"/>
            <a:ext cx="1550127" cy="1097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59818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9A5227B8-15ED-69BA-6B95-3E8D5F9DC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pl-PL" b="1" dirty="0"/>
              <a:t>Service </a:t>
            </a:r>
            <a:r>
              <a:rPr lang="pl-PL" b="1"/>
              <a:t>Hours</a:t>
            </a:r>
            <a:endParaRPr lang="pl-PL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E3F7A12D-2F5E-65AD-C9F0-EBEDA14FD2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7111934"/>
              </p:ext>
            </p:extLst>
          </p:nvPr>
        </p:nvGraphicFramePr>
        <p:xfrm>
          <a:off x="640079" y="2559050"/>
          <a:ext cx="10890929" cy="373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Picture 2" descr="Politechnika Gdańska – Trójmiejska Mapa Akademicka">
            <a:extLst>
              <a:ext uri="{FF2B5EF4-FFF2-40B4-BE49-F238E27FC236}">
                <a16:creationId xmlns:a16="http://schemas.microsoft.com/office/drawing/2014/main" id="{50ACA47E-F95D-C3C9-6B03-CCC881A1C7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641872" y="5760720"/>
            <a:ext cx="1550127" cy="1097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32871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1C69525-1BE4-4BA0-A23C-3BB6C162E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345A2C63-6703-D3B1-CE24-769365C56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</p:spPr>
        <p:txBody>
          <a:bodyPr>
            <a:normAutofit/>
          </a:bodyPr>
          <a:lstStyle/>
          <a:p>
            <a:r>
              <a:rPr lang="pl-PL" dirty="0" err="1"/>
              <a:t>Support</a:t>
            </a:r>
            <a:r>
              <a:rPr lang="pl-PL" dirty="0"/>
              <a:t> </a:t>
            </a:r>
            <a:r>
              <a:rPr lang="pl-PL" dirty="0" err="1"/>
              <a:t>Levels</a:t>
            </a:r>
            <a:endParaRPr lang="pl-PL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68AF875-C18B-4B48-AE4C-A63FD3CEF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67C6631C-92DB-7BDA-039C-934DD5024D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2596140"/>
              </p:ext>
            </p:extLst>
          </p:nvPr>
        </p:nvGraphicFramePr>
        <p:xfrm>
          <a:off x="640079" y="2559050"/>
          <a:ext cx="10890929" cy="37388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189063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DD2E7949-B444-CBAC-6A76-957D97913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737859" cy="1097280"/>
          </a:xfrm>
        </p:spPr>
        <p:txBody>
          <a:bodyPr>
            <a:normAutofit/>
          </a:bodyPr>
          <a:lstStyle/>
          <a:p>
            <a:r>
              <a:rPr lang="pl-PL" dirty="0" err="1"/>
              <a:t>Remedies</a:t>
            </a:r>
            <a:r>
              <a:rPr lang="pl-PL" dirty="0"/>
              <a:t>/</a:t>
            </a:r>
            <a:r>
              <a:rPr lang="pl-PL" dirty="0" err="1"/>
              <a:t>Credits</a:t>
            </a:r>
            <a:endParaRPr lang="pl-PL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47569F6-05D4-F463-0FFF-0E7C293830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236"/>
            <a:ext cx="5737860" cy="36669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b="1" dirty="0"/>
              <a:t>Service </a:t>
            </a:r>
            <a:r>
              <a:rPr lang="pl-PL" b="1" dirty="0" err="1"/>
              <a:t>Credits</a:t>
            </a:r>
            <a:r>
              <a:rPr lang="pl-PL" dirty="0"/>
              <a:t> – zwrot pieniędzy za niedotrzymanie SLA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l-PL" dirty="0"/>
              <a:t>Np. 99.5%-99.9% </a:t>
            </a:r>
            <a:r>
              <a:rPr lang="pl-PL" dirty="0" err="1"/>
              <a:t>uptime</a:t>
            </a:r>
            <a:r>
              <a:rPr lang="pl-PL" dirty="0"/>
              <a:t> = 10% kredytu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l-PL" dirty="0"/>
              <a:t>Poniżej 99% = 30% kredytu</a:t>
            </a:r>
          </a:p>
          <a:p>
            <a:endParaRPr lang="pl-PL" dirty="0"/>
          </a:p>
        </p:txBody>
      </p:sp>
      <p:pic>
        <p:nvPicPr>
          <p:cNvPr id="7" name="Graphic 6" descr="Bitcoin">
            <a:extLst>
              <a:ext uri="{FF2B5EF4-FFF2-40B4-BE49-F238E27FC236}">
                <a16:creationId xmlns:a16="http://schemas.microsoft.com/office/drawing/2014/main" id="{95747938-CAE0-810F-3591-951211788B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55179" y="1924386"/>
            <a:ext cx="4375829" cy="4375829"/>
          </a:xfrm>
          <a:prstGeom prst="rect">
            <a:avLst/>
          </a:prstGeom>
        </p:spPr>
      </p:pic>
      <p:pic>
        <p:nvPicPr>
          <p:cNvPr id="4" name="Picture 2" descr="Politechnika Gdańska – Trójmiejska Mapa Akademicka">
            <a:extLst>
              <a:ext uri="{FF2B5EF4-FFF2-40B4-BE49-F238E27FC236}">
                <a16:creationId xmlns:a16="http://schemas.microsoft.com/office/drawing/2014/main" id="{EE4678CE-98DD-4A75-E64C-E7DC4ADC9F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641872" y="5760720"/>
            <a:ext cx="1550127" cy="1097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0565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89E0294D-3AE4-DA50-9873-B6DDD450E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02091"/>
            <a:ext cx="3291840" cy="277021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/>
              <a:t>Poziomy Dostępności (Nines)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9D7B6BE-A4E0-4483-BEC5-493AC3E5D2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4596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ADEFC0DD-6BF8-1EEF-6FB8-0A66E2E95F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6052848"/>
              </p:ext>
            </p:extLst>
          </p:nvPr>
        </p:nvGraphicFramePr>
        <p:xfrm>
          <a:off x="4443984" y="2031302"/>
          <a:ext cx="7086602" cy="2745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587">
                  <a:extLst>
                    <a:ext uri="{9D8B030D-6E8A-4147-A177-3AD203B41FA5}">
                      <a16:colId xmlns:a16="http://schemas.microsoft.com/office/drawing/2014/main" val="4175859326"/>
                    </a:ext>
                  </a:extLst>
                </a:gridCol>
                <a:gridCol w="1596392">
                  <a:extLst>
                    <a:ext uri="{9D8B030D-6E8A-4147-A177-3AD203B41FA5}">
                      <a16:colId xmlns:a16="http://schemas.microsoft.com/office/drawing/2014/main" val="1956832621"/>
                    </a:ext>
                  </a:extLst>
                </a:gridCol>
                <a:gridCol w="1743978">
                  <a:extLst>
                    <a:ext uri="{9D8B030D-6E8A-4147-A177-3AD203B41FA5}">
                      <a16:colId xmlns:a16="http://schemas.microsoft.com/office/drawing/2014/main" val="2810855605"/>
                    </a:ext>
                  </a:extLst>
                </a:gridCol>
                <a:gridCol w="2100645">
                  <a:extLst>
                    <a:ext uri="{9D8B030D-6E8A-4147-A177-3AD203B41FA5}">
                      <a16:colId xmlns:a16="http://schemas.microsoft.com/office/drawing/2014/main" val="1770836947"/>
                    </a:ext>
                  </a:extLst>
                </a:gridCol>
              </a:tblGrid>
              <a:tr h="389628">
                <a:tc>
                  <a:txBody>
                    <a:bodyPr/>
                    <a:lstStyle/>
                    <a:p>
                      <a:r>
                        <a:rPr lang="pl-PL" sz="1700" err="1"/>
                        <a:t>Nines</a:t>
                      </a:r>
                      <a:endParaRPr lang="pl-PL" sz="1700"/>
                    </a:p>
                  </a:txBody>
                  <a:tcPr marL="88552" marR="88552" marT="44276" marB="44276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 sz="1700"/>
                        <a:t>Uptime/Rok</a:t>
                      </a:r>
                    </a:p>
                  </a:txBody>
                  <a:tcPr marL="88552" marR="88552" marT="44276" marB="44276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 sz="1700"/>
                        <a:t>Downtime/Rok</a:t>
                      </a:r>
                    </a:p>
                  </a:txBody>
                  <a:tcPr marL="88552" marR="88552" marT="44276" marB="44276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 sz="1700" err="1"/>
                        <a:t>Downtime</a:t>
                      </a:r>
                      <a:r>
                        <a:rPr lang="pl-PL" sz="1700"/>
                        <a:t>/Miesiąc</a:t>
                      </a:r>
                    </a:p>
                  </a:txBody>
                  <a:tcPr marL="88552" marR="88552" marT="44276" marB="44276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350858"/>
                  </a:ext>
                </a:extLst>
              </a:tr>
              <a:tr h="655283">
                <a:tc>
                  <a:txBody>
                    <a:bodyPr/>
                    <a:lstStyle/>
                    <a:p>
                      <a:r>
                        <a:rPr lang="pl-PL" sz="1700" b="1"/>
                        <a:t>99.9%</a:t>
                      </a:r>
                      <a:r>
                        <a:rPr lang="pl-PL" sz="1700"/>
                        <a:t> (Three Nines)</a:t>
                      </a:r>
                    </a:p>
                  </a:txBody>
                  <a:tcPr marL="88552" marR="88552" marT="44276" marB="44276" anchor="ctr"/>
                </a:tc>
                <a:tc>
                  <a:txBody>
                    <a:bodyPr/>
                    <a:lstStyle/>
                    <a:p>
                      <a:r>
                        <a:rPr lang="pl-PL" sz="1700"/>
                        <a:t>365d 8h 46m</a:t>
                      </a:r>
                    </a:p>
                  </a:txBody>
                  <a:tcPr marL="88552" marR="88552" marT="44276" marB="44276" anchor="ctr"/>
                </a:tc>
                <a:tc>
                  <a:txBody>
                    <a:bodyPr/>
                    <a:lstStyle/>
                    <a:p>
                      <a:r>
                        <a:rPr lang="pl-PL" sz="1700"/>
                        <a:t>8h 46m</a:t>
                      </a:r>
                    </a:p>
                  </a:txBody>
                  <a:tcPr marL="88552" marR="88552" marT="44276" marB="44276" anchor="ctr"/>
                </a:tc>
                <a:tc>
                  <a:txBody>
                    <a:bodyPr/>
                    <a:lstStyle/>
                    <a:p>
                      <a:r>
                        <a:rPr lang="pl-PL" sz="1700"/>
                        <a:t>43 min</a:t>
                      </a:r>
                    </a:p>
                  </a:txBody>
                  <a:tcPr marL="88552" marR="88552" marT="44276" marB="44276" anchor="ctr"/>
                </a:tc>
                <a:extLst>
                  <a:ext uri="{0D108BD9-81ED-4DB2-BD59-A6C34878D82A}">
                    <a16:rowId xmlns:a16="http://schemas.microsoft.com/office/drawing/2014/main" val="1234337153"/>
                  </a:ext>
                </a:extLst>
              </a:tr>
              <a:tr h="389628">
                <a:tc>
                  <a:txBody>
                    <a:bodyPr/>
                    <a:lstStyle/>
                    <a:p>
                      <a:r>
                        <a:rPr lang="pl-PL" sz="1700" b="1"/>
                        <a:t>99.95%</a:t>
                      </a:r>
                      <a:endParaRPr lang="pl-PL" sz="1700"/>
                    </a:p>
                  </a:txBody>
                  <a:tcPr marL="88552" marR="88552" marT="44276" marB="44276" anchor="ctr"/>
                </a:tc>
                <a:tc>
                  <a:txBody>
                    <a:bodyPr/>
                    <a:lstStyle/>
                    <a:p>
                      <a:r>
                        <a:rPr lang="pl-PL" sz="1700"/>
                        <a:t>365d 10h 57m</a:t>
                      </a:r>
                    </a:p>
                  </a:txBody>
                  <a:tcPr marL="88552" marR="88552" marT="44276" marB="44276" anchor="ctr"/>
                </a:tc>
                <a:tc>
                  <a:txBody>
                    <a:bodyPr/>
                    <a:lstStyle/>
                    <a:p>
                      <a:r>
                        <a:rPr lang="pl-PL" sz="1700"/>
                        <a:t>4h 23m</a:t>
                      </a:r>
                    </a:p>
                  </a:txBody>
                  <a:tcPr marL="88552" marR="88552" marT="44276" marB="44276" anchor="ctr"/>
                </a:tc>
                <a:tc>
                  <a:txBody>
                    <a:bodyPr/>
                    <a:lstStyle/>
                    <a:p>
                      <a:r>
                        <a:rPr lang="pl-PL" sz="1700"/>
                        <a:t>22 min</a:t>
                      </a:r>
                    </a:p>
                  </a:txBody>
                  <a:tcPr marL="88552" marR="88552" marT="44276" marB="44276" anchor="ctr"/>
                </a:tc>
                <a:extLst>
                  <a:ext uri="{0D108BD9-81ED-4DB2-BD59-A6C34878D82A}">
                    <a16:rowId xmlns:a16="http://schemas.microsoft.com/office/drawing/2014/main" val="1256328878"/>
                  </a:ext>
                </a:extLst>
              </a:tr>
              <a:tr h="655283">
                <a:tc>
                  <a:txBody>
                    <a:bodyPr/>
                    <a:lstStyle/>
                    <a:p>
                      <a:r>
                        <a:rPr lang="pl-PL" sz="1700" b="1"/>
                        <a:t>99.99%</a:t>
                      </a:r>
                      <a:r>
                        <a:rPr lang="pl-PL" sz="1700"/>
                        <a:t> (Four Nines)</a:t>
                      </a:r>
                    </a:p>
                  </a:txBody>
                  <a:tcPr marL="88552" marR="88552" marT="44276" marB="44276" anchor="ctr"/>
                </a:tc>
                <a:tc>
                  <a:txBody>
                    <a:bodyPr/>
                    <a:lstStyle/>
                    <a:p>
                      <a:r>
                        <a:rPr lang="pl-PL" sz="1700"/>
                        <a:t>365d 23h 56m</a:t>
                      </a:r>
                    </a:p>
                  </a:txBody>
                  <a:tcPr marL="88552" marR="88552" marT="44276" marB="44276" anchor="ctr"/>
                </a:tc>
                <a:tc>
                  <a:txBody>
                    <a:bodyPr/>
                    <a:lstStyle/>
                    <a:p>
                      <a:r>
                        <a:rPr lang="pl-PL" sz="1700"/>
                        <a:t>52m 36s</a:t>
                      </a:r>
                    </a:p>
                  </a:txBody>
                  <a:tcPr marL="88552" marR="88552" marT="44276" marB="44276" anchor="ctr"/>
                </a:tc>
                <a:tc>
                  <a:txBody>
                    <a:bodyPr/>
                    <a:lstStyle/>
                    <a:p>
                      <a:r>
                        <a:rPr lang="pl-PL" sz="1700"/>
                        <a:t>4 min</a:t>
                      </a:r>
                    </a:p>
                  </a:txBody>
                  <a:tcPr marL="88552" marR="88552" marT="44276" marB="44276" anchor="ctr"/>
                </a:tc>
                <a:extLst>
                  <a:ext uri="{0D108BD9-81ED-4DB2-BD59-A6C34878D82A}">
                    <a16:rowId xmlns:a16="http://schemas.microsoft.com/office/drawing/2014/main" val="1080963430"/>
                  </a:ext>
                </a:extLst>
              </a:tr>
              <a:tr h="655283">
                <a:tc>
                  <a:txBody>
                    <a:bodyPr/>
                    <a:lstStyle/>
                    <a:p>
                      <a:r>
                        <a:rPr lang="pl-PL" sz="1700" b="1"/>
                        <a:t>99.999%</a:t>
                      </a:r>
                      <a:r>
                        <a:rPr lang="pl-PL" sz="1700"/>
                        <a:t> (Five Nines)</a:t>
                      </a:r>
                    </a:p>
                  </a:txBody>
                  <a:tcPr marL="88552" marR="88552" marT="44276" marB="44276" anchor="ctr"/>
                </a:tc>
                <a:tc>
                  <a:txBody>
                    <a:bodyPr/>
                    <a:lstStyle/>
                    <a:p>
                      <a:r>
                        <a:rPr lang="pl-PL" sz="1700"/>
                        <a:t>~8760h - 5.26m</a:t>
                      </a:r>
                    </a:p>
                  </a:txBody>
                  <a:tcPr marL="88552" marR="88552" marT="44276" marB="44276" anchor="ctr"/>
                </a:tc>
                <a:tc>
                  <a:txBody>
                    <a:bodyPr/>
                    <a:lstStyle/>
                    <a:p>
                      <a:r>
                        <a:rPr lang="pl-PL" sz="1700"/>
                        <a:t>5.26m</a:t>
                      </a:r>
                    </a:p>
                  </a:txBody>
                  <a:tcPr marL="88552" marR="88552" marT="44276" marB="44276" anchor="ctr"/>
                </a:tc>
                <a:tc>
                  <a:txBody>
                    <a:bodyPr/>
                    <a:lstStyle/>
                    <a:p>
                      <a:r>
                        <a:rPr lang="pl-PL" sz="1700"/>
                        <a:t>26 sec</a:t>
                      </a:r>
                    </a:p>
                  </a:txBody>
                  <a:tcPr marL="88552" marR="88552" marT="44276" marB="44276" anchor="ctr"/>
                </a:tc>
                <a:extLst>
                  <a:ext uri="{0D108BD9-81ED-4DB2-BD59-A6C34878D82A}">
                    <a16:rowId xmlns:a16="http://schemas.microsoft.com/office/drawing/2014/main" val="3811778685"/>
                  </a:ext>
                </a:extLst>
              </a:tr>
            </a:tbl>
          </a:graphicData>
        </a:graphic>
      </p:graphicFrame>
      <p:pic>
        <p:nvPicPr>
          <p:cNvPr id="5" name="Picture 2" descr="Politechnika Gdańska – Trójmiejska Mapa Akademicka">
            <a:extLst>
              <a:ext uri="{FF2B5EF4-FFF2-40B4-BE49-F238E27FC236}">
                <a16:creationId xmlns:a16="http://schemas.microsoft.com/office/drawing/2014/main" id="{FDA0D824-128D-FBFC-7E12-A02F5EC434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641872" y="5760720"/>
            <a:ext cx="1550127" cy="1097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29094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D38A75E4-0A25-E0DC-2605-1684F97D8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1"/>
            <a:ext cx="4876801" cy="1569516"/>
          </a:xfrm>
        </p:spPr>
        <p:txBody>
          <a:bodyPr anchor="t">
            <a:normAutofit/>
          </a:bodyPr>
          <a:lstStyle/>
          <a:p>
            <a:r>
              <a:rPr lang="pl-PL"/>
              <a:t>SLA w Kontekście Bankowym</a:t>
            </a:r>
            <a:endParaRPr lang="pl-PL" dirty="0"/>
          </a:p>
        </p:txBody>
      </p:sp>
      <p:pic>
        <p:nvPicPr>
          <p:cNvPr id="7" name="Graphic 6" descr="Tęcza">
            <a:extLst>
              <a:ext uri="{FF2B5EF4-FFF2-40B4-BE49-F238E27FC236}">
                <a16:creationId xmlns:a16="http://schemas.microsoft.com/office/drawing/2014/main" id="{47024307-33E4-E0DF-3E80-C25C07AFDC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3232" y="2857499"/>
            <a:ext cx="3125269" cy="3125269"/>
          </a:xfrm>
          <a:prstGeom prst="rect">
            <a:avLst/>
          </a:prstGeom>
        </p:spPr>
      </p:pic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B9836F5-C225-2E67-A2DE-3CE67EBECE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9" y="960119"/>
            <a:ext cx="5130210" cy="50226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dirty="0"/>
              <a:t>W Santander czy innymi instytucjach finansowymi: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b="1" dirty="0" err="1"/>
              <a:t>Uptime</a:t>
            </a:r>
            <a:r>
              <a:rPr lang="pl-PL" b="1" dirty="0"/>
              <a:t> wymagany</a:t>
            </a:r>
            <a:r>
              <a:rPr lang="pl-PL" dirty="0"/>
              <a:t>: 99.99% (</a:t>
            </a:r>
            <a:r>
              <a:rPr lang="pl-PL" dirty="0" err="1"/>
              <a:t>Four</a:t>
            </a:r>
            <a:r>
              <a:rPr lang="pl-PL" dirty="0"/>
              <a:t> </a:t>
            </a:r>
            <a:r>
              <a:rPr lang="pl-PL" dirty="0" err="1"/>
              <a:t>Nines</a:t>
            </a:r>
            <a:r>
              <a:rPr lang="pl-PL" dirty="0"/>
              <a:t>) dla systemów krytycznych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b="1" dirty="0" err="1"/>
              <a:t>Recovery</a:t>
            </a:r>
            <a:r>
              <a:rPr lang="pl-PL" b="1" dirty="0"/>
              <a:t> Time </a:t>
            </a:r>
            <a:r>
              <a:rPr lang="pl-PL" b="1" dirty="0" err="1"/>
              <a:t>Objective</a:t>
            </a:r>
            <a:r>
              <a:rPr lang="pl-PL" b="1" dirty="0"/>
              <a:t> (RTO)</a:t>
            </a:r>
            <a:r>
              <a:rPr lang="pl-PL" dirty="0"/>
              <a:t>: &lt; 1 godzina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b="1" dirty="0" err="1"/>
              <a:t>Recovery</a:t>
            </a:r>
            <a:r>
              <a:rPr lang="pl-PL" b="1" dirty="0"/>
              <a:t> Point </a:t>
            </a:r>
            <a:r>
              <a:rPr lang="pl-PL" b="1" dirty="0" err="1"/>
              <a:t>Objective</a:t>
            </a:r>
            <a:r>
              <a:rPr lang="pl-PL" b="1" dirty="0"/>
              <a:t> (RPO)</a:t>
            </a:r>
            <a:r>
              <a:rPr lang="pl-PL" dirty="0"/>
              <a:t>: &lt; 15 minut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b="1" dirty="0" err="1"/>
              <a:t>Compliance</a:t>
            </a:r>
            <a:r>
              <a:rPr lang="pl-PL" dirty="0"/>
              <a:t>: RODO, PSD2, wymogi regulacyjne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b="1" dirty="0" err="1"/>
              <a:t>Audit</a:t>
            </a:r>
            <a:r>
              <a:rPr lang="pl-PL" dirty="0"/>
              <a:t>: regularne przeglądy SLA co kwartał</a:t>
            </a:r>
          </a:p>
          <a:p>
            <a:endParaRPr lang="pl-PL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40DBD50-3CB1-A513-2321-1891E3F09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47713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CBDE367-EBBD-7DBF-5378-4E85869C2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Best </a:t>
            </a:r>
            <a:r>
              <a:rPr lang="pl-PL" dirty="0" err="1"/>
              <a:t>Practices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F3FACA3-29F2-F516-1B1E-58E6F0F5EA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b="1" dirty="0"/>
              <a:t>Realistyczne cele</a:t>
            </a:r>
            <a:r>
              <a:rPr lang="pl-PL" dirty="0"/>
              <a:t> – nie obiecuj 99.99% jeśli infrastruktura na to nie pozwala</a:t>
            </a:r>
          </a:p>
          <a:p>
            <a:r>
              <a:rPr lang="pl-PL" b="1" dirty="0"/>
              <a:t>Jasne metryki</a:t>
            </a:r>
            <a:r>
              <a:rPr lang="pl-PL" dirty="0"/>
              <a:t> – zmierz to, co możesz monitorować</a:t>
            </a:r>
          </a:p>
          <a:p>
            <a:r>
              <a:rPr lang="pl-PL" b="1" dirty="0"/>
              <a:t>Dokumentacja</a:t>
            </a:r>
            <a:r>
              <a:rPr lang="pl-PL" dirty="0"/>
              <a:t> – wszystko w piśmie</a:t>
            </a:r>
          </a:p>
          <a:p>
            <a:r>
              <a:rPr lang="pl-PL" b="1" dirty="0"/>
              <a:t>Monitoring</a:t>
            </a:r>
            <a:r>
              <a:rPr lang="pl-PL" dirty="0"/>
              <a:t> – automatyczne alerty i </a:t>
            </a:r>
            <a:r>
              <a:rPr lang="pl-PL" dirty="0" err="1"/>
              <a:t>dashboards</a:t>
            </a:r>
            <a:endParaRPr lang="pl-PL" dirty="0"/>
          </a:p>
          <a:p>
            <a:r>
              <a:rPr lang="pl-PL" b="1" dirty="0" err="1"/>
              <a:t>Regular</a:t>
            </a:r>
            <a:r>
              <a:rPr lang="pl-PL" b="1" dirty="0"/>
              <a:t> </a:t>
            </a:r>
            <a:r>
              <a:rPr lang="pl-PL" b="1" dirty="0" err="1"/>
              <a:t>reviews</a:t>
            </a:r>
            <a:r>
              <a:rPr lang="pl-PL" dirty="0"/>
              <a:t> – przegląd i aktualizacja co 6-12 miesięcy</a:t>
            </a:r>
          </a:p>
          <a:p>
            <a:r>
              <a:rPr lang="pl-PL" b="1" dirty="0" err="1"/>
              <a:t>Communication</a:t>
            </a:r>
            <a:r>
              <a:rPr lang="pl-PL" b="1" dirty="0"/>
              <a:t> plan</a:t>
            </a:r>
            <a:r>
              <a:rPr lang="pl-PL" dirty="0"/>
              <a:t> – jasny proces eskalacji i komunikacji </a:t>
            </a:r>
          </a:p>
          <a:p>
            <a:r>
              <a:rPr lang="pl-PL" b="1" dirty="0" err="1"/>
              <a:t>Excludensions</a:t>
            </a:r>
            <a:r>
              <a:rPr lang="pl-PL" dirty="0"/>
              <a:t> – jasno określ, co SLA nie obejmuje</a:t>
            </a:r>
          </a:p>
        </p:txBody>
      </p:sp>
      <p:pic>
        <p:nvPicPr>
          <p:cNvPr id="4" name="Picture 2" descr="Politechnika Gdańska – Trójmiejska Mapa Akademicka">
            <a:extLst>
              <a:ext uri="{FF2B5EF4-FFF2-40B4-BE49-F238E27FC236}">
                <a16:creationId xmlns:a16="http://schemas.microsoft.com/office/drawing/2014/main" id="{B0C14BEE-DBFD-CA5C-5E74-FE165CC913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641872" y="5760720"/>
            <a:ext cx="1550127" cy="1097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70875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8B4FA6B5-60FC-0CA5-7D0C-6CC880C4E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7528" y="1032764"/>
            <a:ext cx="4308672" cy="3224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NARZĘDZIA </a:t>
            </a:r>
          </a:p>
        </p:txBody>
      </p:sp>
      <p:pic>
        <p:nvPicPr>
          <p:cNvPr id="5" name="Picture 4" descr="Narzędzia D-I-Y i rzemieślnicze">
            <a:extLst>
              <a:ext uri="{FF2B5EF4-FFF2-40B4-BE49-F238E27FC236}">
                <a16:creationId xmlns:a16="http://schemas.microsoft.com/office/drawing/2014/main" id="{F21EE6BE-F880-172F-D647-2AD7174304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2537" b="-1"/>
          <a:stretch>
            <a:fillRect/>
          </a:stretch>
        </p:blipFill>
        <p:spPr>
          <a:xfrm>
            <a:off x="20" y="10"/>
            <a:ext cx="6931132" cy="6857990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CA391F1-4B2C-521B-F6A5-52C74B303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75848" y="47115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16902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559" name="Rectangle 2355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799464B8-6972-5CE5-A73B-06A22E19E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anchor="t">
            <a:normAutofit/>
          </a:bodyPr>
          <a:lstStyle/>
          <a:p>
            <a:r>
              <a:rPr lang="pl-PL" b="1"/>
              <a:t>JMeter</a:t>
            </a:r>
            <a:r>
              <a:rPr lang="pl-PL" dirty="0"/>
              <a:t> (Apache </a:t>
            </a:r>
            <a:r>
              <a:rPr lang="pl-PL"/>
              <a:t>JMeter</a:t>
            </a:r>
            <a:r>
              <a:rPr lang="pl-PL" dirty="0"/>
              <a:t>)</a:t>
            </a:r>
          </a:p>
        </p:txBody>
      </p:sp>
      <p:pic>
        <p:nvPicPr>
          <p:cNvPr id="23554" name="Picture 2" descr="JMeter Tutorial For Beginners - OctoPerf">
            <a:extLst>
              <a:ext uri="{FF2B5EF4-FFF2-40B4-BE49-F238E27FC236}">
                <a16:creationId xmlns:a16="http://schemas.microsoft.com/office/drawing/2014/main" id="{17578727-7A77-19D3-6D2A-30BB013ED4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3232" y="2724468"/>
            <a:ext cx="5648193" cy="282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EE71511-D34F-CC5E-508B-AFE2A2A5A8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1439" y="2256287"/>
            <a:ext cx="5313404" cy="3760459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pl-PL" b="1" dirty="0"/>
              <a:t>Charakterystyka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b="1" dirty="0"/>
              <a:t>Open-</a:t>
            </a:r>
            <a:r>
              <a:rPr lang="pl-PL" b="1" dirty="0" err="1"/>
              <a:t>source</a:t>
            </a:r>
            <a:r>
              <a:rPr lang="pl-PL" dirty="0"/>
              <a:t>, napisany w Java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b="1" dirty="0"/>
              <a:t>Wieloplatformowy</a:t>
            </a:r>
            <a:r>
              <a:rPr lang="pl-PL" dirty="0"/>
              <a:t> (Windows, Linux, </a:t>
            </a:r>
            <a:r>
              <a:rPr lang="pl-PL" dirty="0" err="1"/>
              <a:t>macOS</a:t>
            </a:r>
            <a:r>
              <a:rPr lang="pl-PL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b="1" dirty="0"/>
              <a:t>Brak specjalnych wymagań</a:t>
            </a:r>
            <a:r>
              <a:rPr lang="pl-PL" dirty="0"/>
              <a:t> – działa wszędzie, gdzie jest Java</a:t>
            </a:r>
          </a:p>
          <a:p>
            <a:pPr marL="0" indent="0">
              <a:buNone/>
            </a:pPr>
            <a:endParaRPr lang="pl-PL" dirty="0"/>
          </a:p>
        </p:txBody>
      </p:sp>
      <p:cxnSp>
        <p:nvCxnSpPr>
          <p:cNvPr id="23561" name="Straight Connector 23560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Politechnika Gdańska – Trójmiejska Mapa Akademicka">
            <a:extLst>
              <a:ext uri="{FF2B5EF4-FFF2-40B4-BE49-F238E27FC236}">
                <a16:creationId xmlns:a16="http://schemas.microsoft.com/office/drawing/2014/main" id="{B96249A3-0BED-88FC-9D89-6E3A32357B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641872" y="5760720"/>
            <a:ext cx="1550127" cy="1097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32832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3C2BC23D-17BC-B1B8-CA27-56D5254D3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1"/>
            <a:ext cx="4876801" cy="1569516"/>
          </a:xfrm>
        </p:spPr>
        <p:txBody>
          <a:bodyPr anchor="t">
            <a:normAutofit/>
          </a:bodyPr>
          <a:lstStyle/>
          <a:p>
            <a:r>
              <a:rPr lang="pl-PL" dirty="0"/>
              <a:t>GŁÓWNE CECHY</a:t>
            </a:r>
          </a:p>
        </p:txBody>
      </p:sp>
      <p:pic>
        <p:nvPicPr>
          <p:cNvPr id="4" name="Picture 2" descr="JMeter Tutorial For Beginners - OctoPerf">
            <a:extLst>
              <a:ext uri="{FF2B5EF4-FFF2-40B4-BE49-F238E27FC236}">
                <a16:creationId xmlns:a16="http://schemas.microsoft.com/office/drawing/2014/main" id="{0FEFB149-F00B-02F5-B48F-50C29111B8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3232" y="3579623"/>
            <a:ext cx="4806291" cy="2403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290C1FF-00E6-2984-28A9-F81B523C0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9" y="960119"/>
            <a:ext cx="5130210" cy="5022661"/>
          </a:xfrm>
        </p:spPr>
        <p:txBody>
          <a:bodyPr>
            <a:normAutofit/>
          </a:bodyPr>
          <a:lstStyle/>
          <a:p>
            <a:r>
              <a:rPr lang="pl-PL" b="1"/>
              <a:t>Główne cechy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/>
              <a:t>Protokoły: HTTP, HTTPS, FTP, JDBC, SOAP, LDAP, JMS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/>
              <a:t>Intuicyjny GUI z drzewem testów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/>
              <a:t>Rozproszone testowanie (slave-master architecture)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/>
              <a:t>Zaawansowane asercje i extractory danych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/>
              <a:t>Extensible – možliwość pisania własnych pluginów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/>
              <a:t>Raportowanie i wykresy</a:t>
            </a:r>
          </a:p>
          <a:p>
            <a:pPr marL="0" indent="0">
              <a:buNone/>
            </a:pPr>
            <a:endParaRPr lang="pl-PL" dirty="0"/>
          </a:p>
        </p:txBody>
      </p:sp>
      <p:cxnSp>
        <p:nvCxnSpPr>
          <p:cNvPr id="14" name="Straight Connector 10">
            <a:extLst>
              <a:ext uri="{FF2B5EF4-FFF2-40B4-BE49-F238E27FC236}">
                <a16:creationId xmlns:a16="http://schemas.microsoft.com/office/drawing/2014/main" id="{540DBD50-3CB1-A513-2321-1891E3F09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2" descr="Politechnika Gdańska – Trójmiejska Mapa Akademicka">
            <a:extLst>
              <a:ext uri="{FF2B5EF4-FFF2-40B4-BE49-F238E27FC236}">
                <a16:creationId xmlns:a16="http://schemas.microsoft.com/office/drawing/2014/main" id="{4E004780-B953-52E9-E4C4-EA52E0FEDA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641872" y="5760720"/>
            <a:ext cx="1550127" cy="1097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12933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1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AD59F8C2-55CC-5893-5731-C0B016740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1"/>
            <a:ext cx="4876801" cy="156951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Zalety i Wady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7F84FEB6-9DD3-7BF2-186F-B032560C2B43}"/>
              </a:ext>
            </a:extLst>
          </p:cNvPr>
          <p:cNvSpPr txBox="1"/>
          <p:nvPr/>
        </p:nvSpPr>
        <p:spPr>
          <a:xfrm>
            <a:off x="6400799" y="960119"/>
            <a:ext cx="5130210" cy="5022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b="1"/>
              <a:t>Zalety</a:t>
            </a:r>
          </a:p>
          <a:p>
            <a:pPr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/>
              <a:t>✅ Darmowe, otwarty kod źródłowy</a:t>
            </a:r>
            <a:br>
              <a:rPr lang="en-US"/>
            </a:br>
            <a:r>
              <a:rPr lang="en-US"/>
              <a:t>✅ Duża społeczność i dokumentacja</a:t>
            </a:r>
            <a:br>
              <a:rPr lang="en-US"/>
            </a:br>
            <a:r>
              <a:rPr lang="en-US"/>
              <a:t>✅ Wsparcie wielu protokołów</a:t>
            </a:r>
            <a:br>
              <a:rPr lang="en-US"/>
            </a:br>
            <a:r>
              <a:rPr lang="en-US"/>
              <a:t>✅ Możliwość automatyzacji przez CLI</a:t>
            </a:r>
          </a:p>
          <a:p>
            <a:pPr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endParaRPr lang="en-US" b="1"/>
          </a:p>
          <a:p>
            <a:pPr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b="1"/>
              <a:t>Wady</a:t>
            </a:r>
          </a:p>
          <a:p>
            <a:pPr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/>
              <a:t>❌ GUI może być zawiła dla początkujących</a:t>
            </a:r>
            <a:br>
              <a:rPr lang="en-US"/>
            </a:br>
            <a:r>
              <a:rPr lang="en-US"/>
              <a:t>❌ Mniej intuicyjne niż LoadRunner</a:t>
            </a:r>
            <a:br>
              <a:rPr lang="en-US"/>
            </a:br>
            <a:r>
              <a:rPr lang="en-US"/>
              <a:t>❌ Wymagane tuning JVM dla dużych testów</a:t>
            </a:r>
          </a:p>
        </p:txBody>
      </p:sp>
      <p:cxnSp>
        <p:nvCxnSpPr>
          <p:cNvPr id="18" name="Straight Connector 13">
            <a:extLst>
              <a:ext uri="{FF2B5EF4-FFF2-40B4-BE49-F238E27FC236}">
                <a16:creationId xmlns:a16="http://schemas.microsoft.com/office/drawing/2014/main" id="{540DBD50-3CB1-A513-2321-1891E3F09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 descr="JMeter Tutorial For Beginners - OctoPerf">
            <a:extLst>
              <a:ext uri="{FF2B5EF4-FFF2-40B4-BE49-F238E27FC236}">
                <a16:creationId xmlns:a16="http://schemas.microsoft.com/office/drawing/2014/main" id="{374D708B-2572-E75B-DEED-282B97D03A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0590" y="2267813"/>
            <a:ext cx="4806291" cy="2403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Politechnika Gdańska – Trójmiejska Mapa Akademicka">
            <a:extLst>
              <a:ext uri="{FF2B5EF4-FFF2-40B4-BE49-F238E27FC236}">
                <a16:creationId xmlns:a16="http://schemas.microsoft.com/office/drawing/2014/main" id="{4394F0F3-ADAA-EDC9-D86A-E3B857C42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641872" y="5760720"/>
            <a:ext cx="1550127" cy="1097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75883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631" name="Rectangle 26630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9DEC96BA-A069-5FB1-D4DE-028213F57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1"/>
            <a:ext cx="4876801" cy="1569516"/>
          </a:xfrm>
        </p:spPr>
        <p:txBody>
          <a:bodyPr anchor="t">
            <a:normAutofit/>
          </a:bodyPr>
          <a:lstStyle/>
          <a:p>
            <a:r>
              <a:rPr lang="pl-PL"/>
              <a:t>Loadrunner</a:t>
            </a:r>
            <a:endParaRPr lang="pl-PL" dirty="0"/>
          </a:p>
        </p:txBody>
      </p:sp>
      <p:pic>
        <p:nvPicPr>
          <p:cNvPr id="26626" name="Picture 2" descr="LoadRunner - Introduction - What is LoadRuner | Advantage |">
            <a:extLst>
              <a:ext uri="{FF2B5EF4-FFF2-40B4-BE49-F238E27FC236}">
                <a16:creationId xmlns:a16="http://schemas.microsoft.com/office/drawing/2014/main" id="{51D64B2C-253E-CDFC-8763-3EC135EC56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3232" y="2857499"/>
            <a:ext cx="4696442" cy="3125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F196A38-AF86-6ADC-0D43-AD54DD66F7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7989" y="960119"/>
            <a:ext cx="6956854" cy="50226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b="1" dirty="0"/>
              <a:t>Charakterystyka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b="1" dirty="0"/>
              <a:t>Komercyjne narzędzie</a:t>
            </a:r>
            <a:r>
              <a:rPr lang="pl-PL" dirty="0"/>
              <a:t> </a:t>
            </a:r>
            <a:r>
              <a:rPr lang="pl-PL" dirty="0" err="1"/>
              <a:t>premium</a:t>
            </a:r>
            <a:r>
              <a:rPr lang="pl-PL" dirty="0"/>
              <a:t> (Micro Focus)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b="1" dirty="0"/>
              <a:t>Enterprise-</a:t>
            </a:r>
            <a:r>
              <a:rPr lang="pl-PL" b="1" dirty="0" err="1"/>
              <a:t>grade</a:t>
            </a:r>
            <a:r>
              <a:rPr lang="pl-PL" dirty="0"/>
              <a:t> – standard w dużych korporacjach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dirty="0"/>
              <a:t>Bardzo zaawansowane możliwości profilowania i analizy</a:t>
            </a:r>
          </a:p>
          <a:p>
            <a:pPr marL="0" indent="0">
              <a:buNone/>
            </a:pPr>
            <a:endParaRPr lang="pl-PL" dirty="0"/>
          </a:p>
        </p:txBody>
      </p:sp>
      <p:cxnSp>
        <p:nvCxnSpPr>
          <p:cNvPr id="26633" name="Straight Connector 26632">
            <a:extLst>
              <a:ext uri="{FF2B5EF4-FFF2-40B4-BE49-F238E27FC236}">
                <a16:creationId xmlns:a16="http://schemas.microsoft.com/office/drawing/2014/main" id="{540DBD50-3CB1-A513-2321-1891E3F09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Politechnika Gdańska – Trójmiejska Mapa Akademicka">
            <a:extLst>
              <a:ext uri="{FF2B5EF4-FFF2-40B4-BE49-F238E27FC236}">
                <a16:creationId xmlns:a16="http://schemas.microsoft.com/office/drawing/2014/main" id="{3A979B5F-61F3-B391-3F1E-F4F88E3D14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641872" y="5760720"/>
            <a:ext cx="1550127" cy="1097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525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8C0E8-4A8B-69F4-B623-7810FDD31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5ECF8CA-DECF-3C0A-23F4-1C8CF7B33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1"/>
            <a:ext cx="4876801" cy="1569516"/>
          </a:xfrm>
        </p:spPr>
        <p:txBody>
          <a:bodyPr anchor="t">
            <a:normAutofit/>
          </a:bodyPr>
          <a:lstStyle/>
          <a:p>
            <a:r>
              <a:rPr lang="pl-PL"/>
              <a:t>Loadrunner</a:t>
            </a:r>
            <a:endParaRPr lang="pl-PL" dirty="0"/>
          </a:p>
        </p:txBody>
      </p:sp>
      <p:pic>
        <p:nvPicPr>
          <p:cNvPr id="26626" name="Picture 2" descr="LoadRunner - Introduction - What is LoadRuner | Advantage |">
            <a:extLst>
              <a:ext uri="{FF2B5EF4-FFF2-40B4-BE49-F238E27FC236}">
                <a16:creationId xmlns:a16="http://schemas.microsoft.com/office/drawing/2014/main" id="{0567D8AF-B39D-0184-76A2-745DEA1F8A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3232" y="2857499"/>
            <a:ext cx="4696442" cy="3125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604332A-D031-F81F-E812-87C5625D0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7989" y="960119"/>
            <a:ext cx="6956854" cy="50226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b="1" dirty="0"/>
              <a:t>Charakterystyka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b="1" dirty="0"/>
              <a:t>Komercyjne narzędzie</a:t>
            </a:r>
            <a:r>
              <a:rPr lang="pl-PL" dirty="0"/>
              <a:t> </a:t>
            </a:r>
            <a:r>
              <a:rPr lang="pl-PL" dirty="0" err="1"/>
              <a:t>premium</a:t>
            </a:r>
            <a:r>
              <a:rPr lang="pl-PL" dirty="0"/>
              <a:t> (Micro Focus)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b="1" dirty="0"/>
              <a:t>Enterprise-</a:t>
            </a:r>
            <a:r>
              <a:rPr lang="pl-PL" b="1" dirty="0" err="1"/>
              <a:t>grade</a:t>
            </a:r>
            <a:r>
              <a:rPr lang="pl-PL" dirty="0"/>
              <a:t> – standard w dużych korporacjach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dirty="0"/>
              <a:t>Bardzo zaawansowane możliwości profilowania i analizy</a:t>
            </a:r>
          </a:p>
          <a:p>
            <a:pPr marL="0" indent="0">
              <a:buNone/>
            </a:pPr>
            <a:endParaRPr lang="pl-PL" dirty="0"/>
          </a:p>
        </p:txBody>
      </p:sp>
      <p:pic>
        <p:nvPicPr>
          <p:cNvPr id="4" name="Picture 2" descr="Politechnika Gdańska – Trójmiejska Mapa Akademicka">
            <a:extLst>
              <a:ext uri="{FF2B5EF4-FFF2-40B4-BE49-F238E27FC236}">
                <a16:creationId xmlns:a16="http://schemas.microsoft.com/office/drawing/2014/main" id="{C2F01644-2B4F-D4D9-D449-6892D71A34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641872" y="5760720"/>
            <a:ext cx="1550127" cy="1097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34226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70499180-1C7E-F4AC-8D38-C4E4A186F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1"/>
            <a:ext cx="4876801" cy="1569516"/>
          </a:xfrm>
        </p:spPr>
        <p:txBody>
          <a:bodyPr anchor="t">
            <a:normAutofit/>
          </a:bodyPr>
          <a:lstStyle/>
          <a:p>
            <a:r>
              <a:rPr lang="pl-PL" dirty="0"/>
              <a:t>Główne cechy</a:t>
            </a:r>
          </a:p>
        </p:txBody>
      </p:sp>
      <p:pic>
        <p:nvPicPr>
          <p:cNvPr id="4" name="Picture 2" descr="LoadRunner - Introduction - What is LoadRuner | Advantage |">
            <a:extLst>
              <a:ext uri="{FF2B5EF4-FFF2-40B4-BE49-F238E27FC236}">
                <a16:creationId xmlns:a16="http://schemas.microsoft.com/office/drawing/2014/main" id="{0B116F8F-057E-F921-2EAA-2A5DBD3E2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6352" y="2334934"/>
            <a:ext cx="4696442" cy="3125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5B89FDA-0283-C857-10FC-A208B1FBA1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9" y="960119"/>
            <a:ext cx="5130210" cy="5022661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pl-PL" b="1" dirty="0"/>
              <a:t>Główne cechy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pl-PL" dirty="0"/>
              <a:t>Obsługa 200+ protokołów (SAP, Oracle, </a:t>
            </a:r>
            <a:r>
              <a:rPr lang="pl-PL" dirty="0" err="1"/>
              <a:t>Salesforce</a:t>
            </a:r>
            <a:r>
              <a:rPr lang="pl-PL" dirty="0"/>
              <a:t>, REST, itp.)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pl-PL" b="1" dirty="0" err="1"/>
              <a:t>VuGen</a:t>
            </a:r>
            <a:r>
              <a:rPr lang="pl-PL" dirty="0"/>
              <a:t> – edytor skryptów (C-</a:t>
            </a:r>
            <a:r>
              <a:rPr lang="pl-PL" dirty="0" err="1"/>
              <a:t>like</a:t>
            </a:r>
            <a:r>
              <a:rPr lang="pl-PL" dirty="0"/>
              <a:t> </a:t>
            </a:r>
            <a:r>
              <a:rPr lang="pl-PL" dirty="0" err="1"/>
              <a:t>language</a:t>
            </a:r>
            <a:r>
              <a:rPr lang="pl-PL" dirty="0"/>
              <a:t>)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pl-PL" b="1" dirty="0"/>
              <a:t>Controller</a:t>
            </a:r>
            <a:r>
              <a:rPr lang="pl-PL" dirty="0"/>
              <a:t> – zarządzanie testami rozproszonymi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pl-PL" b="1" dirty="0"/>
              <a:t>Analysis</a:t>
            </a:r>
            <a:r>
              <a:rPr lang="pl-PL" dirty="0"/>
              <a:t> – zaawansowana analiza wyników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pl-PL" dirty="0"/>
              <a:t>Integracja z CI/CD i ALM (Application </a:t>
            </a:r>
            <a:r>
              <a:rPr lang="pl-PL" dirty="0" err="1"/>
              <a:t>Lifecycle</a:t>
            </a:r>
            <a:r>
              <a:rPr lang="pl-PL" dirty="0"/>
              <a:t> Management)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pl-PL" dirty="0"/>
              <a:t>Real User Monitoring (RUM)</a:t>
            </a:r>
          </a:p>
          <a:p>
            <a:pPr>
              <a:lnSpc>
                <a:spcPct val="110000"/>
              </a:lnSpc>
            </a:pPr>
            <a:endParaRPr lang="pl-PL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40DBD50-3CB1-A513-2321-1891E3F09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2" descr="Politechnika Gdańska – Trójmiejska Mapa Akademicka">
            <a:extLst>
              <a:ext uri="{FF2B5EF4-FFF2-40B4-BE49-F238E27FC236}">
                <a16:creationId xmlns:a16="http://schemas.microsoft.com/office/drawing/2014/main" id="{5ADE99AE-3E45-FE96-D912-CD558C6C0E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641872" y="5760720"/>
            <a:ext cx="1550127" cy="1097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97552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43A9E375-956A-87F8-C5A5-9170E7537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737859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Zalety i wady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ole tekstowe 4">
            <a:extLst>
              <a:ext uri="{FF2B5EF4-FFF2-40B4-BE49-F238E27FC236}">
                <a16:creationId xmlns:a16="http://schemas.microsoft.com/office/drawing/2014/main" id="{ED551D15-445D-92CA-9E4C-FD20B042E156}"/>
              </a:ext>
            </a:extLst>
          </p:cNvPr>
          <p:cNvSpPr txBox="1"/>
          <p:nvPr/>
        </p:nvSpPr>
        <p:spPr>
          <a:xfrm>
            <a:off x="640080" y="2633236"/>
            <a:ext cx="5737860" cy="366698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b="1"/>
              <a:t>Zalety</a:t>
            </a:r>
          </a:p>
          <a:p>
            <a:pPr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/>
              <a:t>✅ Najbardziej zaawansowany na rynku</a:t>
            </a:r>
            <a:br>
              <a:rPr lang="en-US"/>
            </a:br>
            <a:r>
              <a:rPr lang="en-US"/>
              <a:t>✅ Obsługa legacy'owych systemów</a:t>
            </a:r>
            <a:br>
              <a:rPr lang="en-US"/>
            </a:br>
            <a:r>
              <a:rPr lang="en-US"/>
              <a:t>✅ Doskonała dokumentacja i support</a:t>
            </a:r>
            <a:br>
              <a:rPr lang="en-US"/>
            </a:br>
            <a:r>
              <a:rPr lang="en-US"/>
              <a:t>✅ Integracja z ekosystemem Micro Focus</a:t>
            </a:r>
          </a:p>
          <a:p>
            <a:pPr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endParaRPr lang="en-US"/>
          </a:p>
          <a:p>
            <a:pPr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b="1"/>
              <a:t>Wady</a:t>
            </a:r>
          </a:p>
          <a:p>
            <a:pPr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/>
              <a:t>❌ Bardzo drogi (licencjonowanie)</a:t>
            </a:r>
            <a:br>
              <a:rPr lang="en-US"/>
            </a:br>
            <a:r>
              <a:rPr lang="en-US"/>
              <a:t>❌ Stroma krzywa uczenia się</a:t>
            </a:r>
            <a:br>
              <a:rPr lang="en-US"/>
            </a:br>
            <a:r>
              <a:rPr lang="en-US"/>
              <a:t>❌ Wymaga specjalnego sprzętu</a:t>
            </a:r>
          </a:p>
        </p:txBody>
      </p:sp>
      <p:pic>
        <p:nvPicPr>
          <p:cNvPr id="6" name="Picture 2" descr="LoadRunner - Introduction - What is LoadRuner | Advantage |">
            <a:extLst>
              <a:ext uri="{FF2B5EF4-FFF2-40B4-BE49-F238E27FC236}">
                <a16:creationId xmlns:a16="http://schemas.microsoft.com/office/drawing/2014/main" id="{0D9298D5-FC88-0C4B-234A-4E2DAC4159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55179" y="3388300"/>
            <a:ext cx="4375829" cy="2911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68874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27" name="Rectangle 30726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0A2AC152-8614-291A-BDCC-79208C9C9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anchor="t">
            <a:normAutofit/>
          </a:bodyPr>
          <a:lstStyle/>
          <a:p>
            <a:r>
              <a:rPr lang="pl-PL"/>
              <a:t>Gattling</a:t>
            </a:r>
            <a:endParaRPr lang="pl-PL" dirty="0"/>
          </a:p>
        </p:txBody>
      </p:sp>
      <p:pic>
        <p:nvPicPr>
          <p:cNvPr id="30722" name="Picture 2" descr="How to automate load tests with Gatling – Upsun Developer Center">
            <a:extLst>
              <a:ext uri="{FF2B5EF4-FFF2-40B4-BE49-F238E27FC236}">
                <a16:creationId xmlns:a16="http://schemas.microsoft.com/office/drawing/2014/main" id="{81ADA663-4A89-7576-E231-AFB89F421E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3232" y="2256287"/>
            <a:ext cx="5360654" cy="3760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B88C661-4D36-DD61-4847-B5703F4B1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5150" y="2256287"/>
            <a:ext cx="4563618" cy="3760459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pl-PL" b="1" dirty="0"/>
              <a:t>Charakterystyka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b="1" dirty="0"/>
              <a:t>Open-</a:t>
            </a:r>
            <a:r>
              <a:rPr lang="pl-PL" b="1" dirty="0" err="1"/>
              <a:t>source</a:t>
            </a:r>
            <a:r>
              <a:rPr lang="pl-PL" dirty="0"/>
              <a:t>, napisany w </a:t>
            </a:r>
            <a:r>
              <a:rPr lang="pl-PL" b="1" dirty="0"/>
              <a:t>Scala</a:t>
            </a:r>
            <a:r>
              <a:rPr lang="pl-PL" dirty="0"/>
              <a:t> (JVM)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dirty="0"/>
              <a:t>Nowoczesne podejście – DSL zamiast GUI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dirty="0"/>
              <a:t>Skrypty to kod (Scala) – pełna elastyczność</a:t>
            </a:r>
          </a:p>
          <a:p>
            <a:endParaRPr lang="pl-PL" dirty="0"/>
          </a:p>
        </p:txBody>
      </p:sp>
      <p:cxnSp>
        <p:nvCxnSpPr>
          <p:cNvPr id="30729" name="Straight Connector 30728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Politechnika Gdańska – Trójmiejska Mapa Akademicka">
            <a:extLst>
              <a:ext uri="{FF2B5EF4-FFF2-40B4-BE49-F238E27FC236}">
                <a16:creationId xmlns:a16="http://schemas.microsoft.com/office/drawing/2014/main" id="{14898FB6-C73E-4710-D135-6EC70173B0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641872" y="5760720"/>
            <a:ext cx="1550127" cy="1097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79455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AE7250-BE2B-4D68-F0E3-3398F76FA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27" name="Rectangle 30726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B2623F63-3EFA-AB31-6D33-532687CD8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pl-PL" sz="3700" b="1"/>
              <a:t>Główne cechy</a:t>
            </a:r>
            <a:br>
              <a:rPr lang="pl-PL" sz="3700" b="1"/>
            </a:br>
            <a:endParaRPr lang="pl-PL" sz="3700"/>
          </a:p>
        </p:txBody>
      </p:sp>
      <p:pic>
        <p:nvPicPr>
          <p:cNvPr id="30722" name="Picture 2" descr="How to automate load tests with Gatling – Upsun Developer Center">
            <a:extLst>
              <a:ext uri="{FF2B5EF4-FFF2-40B4-BE49-F238E27FC236}">
                <a16:creationId xmlns:a16="http://schemas.microsoft.com/office/drawing/2014/main" id="{006423A5-37B4-007D-7D91-C401E3D159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3232" y="2256287"/>
            <a:ext cx="5360654" cy="3760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2219B03-4DAE-B989-E60F-EC1B904EE0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5150" y="2256287"/>
            <a:ext cx="4563618" cy="3760459"/>
          </a:xfrm>
        </p:spPr>
        <p:txBody>
          <a:bodyPr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pl-PL" b="1" dirty="0"/>
              <a:t>Główne cechy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pl-PL" dirty="0"/>
              <a:t>Scala DSL – przepisy testowe jak kod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pl-PL" dirty="0"/>
              <a:t>Wysoce skalowalne (może generować 500k+ VU na jednej maszynie)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pl-PL" dirty="0"/>
              <a:t>Real-</a:t>
            </a:r>
            <a:r>
              <a:rPr lang="pl-PL" dirty="0" err="1"/>
              <a:t>time</a:t>
            </a:r>
            <a:r>
              <a:rPr lang="pl-PL" dirty="0"/>
              <a:t> </a:t>
            </a:r>
            <a:r>
              <a:rPr lang="pl-PL" dirty="0" err="1"/>
              <a:t>reporting</a:t>
            </a:r>
            <a:r>
              <a:rPr lang="pl-PL" dirty="0"/>
              <a:t> w przeglądarce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pl-PL" dirty="0"/>
              <a:t>HTML raporty z wykresami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pl-PL" dirty="0"/>
              <a:t>Integracja z </a:t>
            </a:r>
            <a:r>
              <a:rPr lang="pl-PL" dirty="0" err="1"/>
              <a:t>Maven</a:t>
            </a:r>
            <a:r>
              <a:rPr lang="pl-PL" dirty="0"/>
              <a:t>, </a:t>
            </a:r>
            <a:r>
              <a:rPr lang="pl-PL" dirty="0" err="1"/>
              <a:t>Gradle</a:t>
            </a:r>
            <a:r>
              <a:rPr lang="pl-PL" dirty="0"/>
              <a:t>, Jenkins</a:t>
            </a:r>
          </a:p>
          <a:p>
            <a:pPr>
              <a:lnSpc>
                <a:spcPct val="110000"/>
              </a:lnSpc>
            </a:pPr>
            <a:endParaRPr lang="pl-PL" dirty="0"/>
          </a:p>
        </p:txBody>
      </p:sp>
      <p:cxnSp>
        <p:nvCxnSpPr>
          <p:cNvPr id="30729" name="Straight Connector 30728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Politechnika Gdańska – Trójmiejska Mapa Akademicka">
            <a:extLst>
              <a:ext uri="{FF2B5EF4-FFF2-40B4-BE49-F238E27FC236}">
                <a16:creationId xmlns:a16="http://schemas.microsoft.com/office/drawing/2014/main" id="{3D9E4DF4-3F4A-3667-A633-71636FE991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8043" y="5724144"/>
            <a:ext cx="1550127" cy="1097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04559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0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2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DEB08872-9BBF-F0BF-49C8-C02626505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570" y="1171145"/>
            <a:ext cx="10168106" cy="9555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4800"/>
              <a:t>Przykładowy skrypt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CE0D2A5-C167-FB61-F32A-674B344F2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2570" y="914400"/>
            <a:ext cx="1020883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Symbol zastępczy zawartości 4" descr="Obraz zawierający tekst, zrzut ekranu, Czcionka&#10;&#10;Opis wygenerowany automatycznie">
            <a:extLst>
              <a:ext uri="{FF2B5EF4-FFF2-40B4-BE49-F238E27FC236}">
                <a16:creationId xmlns:a16="http://schemas.microsoft.com/office/drawing/2014/main" id="{A6ED468F-6536-3C36-7898-EC61293EF7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5814" y="2643999"/>
            <a:ext cx="4161754" cy="3299601"/>
          </a:xfrm>
          <a:prstGeom prst="rect">
            <a:avLst/>
          </a:prstGeom>
        </p:spPr>
      </p:pic>
      <p:pic>
        <p:nvPicPr>
          <p:cNvPr id="6" name="Picture 2" descr="How to automate load tests with Gatling – Upsun Developer Center">
            <a:extLst>
              <a:ext uri="{FF2B5EF4-FFF2-40B4-BE49-F238E27FC236}">
                <a16:creationId xmlns:a16="http://schemas.microsoft.com/office/drawing/2014/main" id="{30E754C6-9EAB-1E8B-BA57-85C2C13C32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82500" y="2886923"/>
            <a:ext cx="4703686" cy="3299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Politechnika Gdańska – Trójmiejska Mapa Akademicka">
            <a:extLst>
              <a:ext uri="{FF2B5EF4-FFF2-40B4-BE49-F238E27FC236}">
                <a16:creationId xmlns:a16="http://schemas.microsoft.com/office/drawing/2014/main" id="{F33C0E41-4626-EA66-95A7-6B1C8F8AEB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641872" y="5760720"/>
            <a:ext cx="1550127" cy="1097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65724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51DC65A-4103-8E26-E0BE-5E1134AA3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Zalety i wady </a:t>
            </a:r>
          </a:p>
        </p:txBody>
      </p:sp>
      <p:pic>
        <p:nvPicPr>
          <p:cNvPr id="4" name="Picture 2" descr="How to automate load tests with Gatling – Upsun Developer Center">
            <a:extLst>
              <a:ext uri="{FF2B5EF4-FFF2-40B4-BE49-F238E27FC236}">
                <a16:creationId xmlns:a16="http://schemas.microsoft.com/office/drawing/2014/main" id="{7F98B33F-4A88-386A-E7CD-840F74D6D8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38137" y="2468881"/>
            <a:ext cx="4703686" cy="3299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pole tekstowe 5">
            <a:extLst>
              <a:ext uri="{FF2B5EF4-FFF2-40B4-BE49-F238E27FC236}">
                <a16:creationId xmlns:a16="http://schemas.microsoft.com/office/drawing/2014/main" id="{8C593453-6F82-05AB-CB9C-894E7888918D}"/>
              </a:ext>
            </a:extLst>
          </p:cNvPr>
          <p:cNvSpPr txBox="1"/>
          <p:nvPr/>
        </p:nvSpPr>
        <p:spPr>
          <a:xfrm>
            <a:off x="640079" y="2787980"/>
            <a:ext cx="609805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b="1" dirty="0"/>
              <a:t>Zalety</a:t>
            </a:r>
          </a:p>
          <a:p>
            <a:r>
              <a:rPr lang="pl-PL" dirty="0"/>
              <a:t>✅ Świetna skalowalna architektura</a:t>
            </a:r>
            <a:br>
              <a:rPr lang="pl-PL" dirty="0"/>
            </a:br>
            <a:r>
              <a:rPr lang="pl-PL" dirty="0"/>
              <a:t>✅ Odtwarzalna dokumentacja (skrypty = kod)</a:t>
            </a:r>
            <a:br>
              <a:rPr lang="pl-PL" dirty="0"/>
            </a:br>
            <a:r>
              <a:rPr lang="pl-PL" dirty="0"/>
              <a:t>✅ Szybkie iteracje</a:t>
            </a:r>
            <a:br>
              <a:rPr lang="pl-PL" dirty="0"/>
            </a:br>
            <a:r>
              <a:rPr lang="pl-PL" dirty="0"/>
              <a:t>✅ Darmowy, open-</a:t>
            </a:r>
            <a:r>
              <a:rPr lang="pl-PL" dirty="0" err="1"/>
              <a:t>source</a:t>
            </a:r>
            <a:endParaRPr lang="pl-PL" dirty="0"/>
          </a:p>
          <a:p>
            <a:endParaRPr lang="pl-PL" dirty="0"/>
          </a:p>
          <a:p>
            <a:r>
              <a:rPr lang="pl-PL" b="1" dirty="0"/>
              <a:t>Wady</a:t>
            </a:r>
          </a:p>
          <a:p>
            <a:r>
              <a:rPr lang="pl-PL" dirty="0"/>
              <a:t>❌ Wymaga znajomości Scala/Kotlin</a:t>
            </a:r>
            <a:br>
              <a:rPr lang="pl-PL" dirty="0"/>
            </a:br>
            <a:r>
              <a:rPr lang="pl-PL" dirty="0"/>
              <a:t>❌ Mniej intuicyjny niż GUI-</a:t>
            </a:r>
            <a:r>
              <a:rPr lang="pl-PL" dirty="0" err="1"/>
              <a:t>based</a:t>
            </a:r>
            <a:br>
              <a:rPr lang="pl-PL" dirty="0"/>
            </a:br>
            <a:r>
              <a:rPr lang="pl-PL" dirty="0"/>
              <a:t>❌ Mniejsza społeczność niż </a:t>
            </a:r>
            <a:r>
              <a:rPr lang="pl-PL" dirty="0" err="1"/>
              <a:t>JMeter</a:t>
            </a:r>
            <a:endParaRPr lang="pl-PL" dirty="0"/>
          </a:p>
        </p:txBody>
      </p:sp>
      <p:pic>
        <p:nvPicPr>
          <p:cNvPr id="7" name="Picture 2" descr="Politechnika Gdańska – Trójmiejska Mapa Akademicka">
            <a:extLst>
              <a:ext uri="{FF2B5EF4-FFF2-40B4-BE49-F238E27FC236}">
                <a16:creationId xmlns:a16="http://schemas.microsoft.com/office/drawing/2014/main" id="{23ECBD39-3B80-253D-1626-68811407C2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641872" y="5760720"/>
            <a:ext cx="1550127" cy="1097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29721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823" name="Rectangle 34822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56DF05D8-9FAA-90DD-CEEB-064D8A10F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anchor="t">
            <a:normAutofit/>
          </a:bodyPr>
          <a:lstStyle/>
          <a:p>
            <a:r>
              <a:rPr lang="pl-PL" dirty="0"/>
              <a:t>Locust</a:t>
            </a:r>
          </a:p>
        </p:txBody>
      </p:sp>
      <p:pic>
        <p:nvPicPr>
          <p:cNvPr id="34818" name="Picture 2" descr="Locust: A scalable and Easy-To-Use Load Testing Tool | by CaratLane Insider  | CaratLane Insider">
            <a:extLst>
              <a:ext uri="{FF2B5EF4-FFF2-40B4-BE49-F238E27FC236}">
                <a16:creationId xmlns:a16="http://schemas.microsoft.com/office/drawing/2014/main" id="{70B07EA1-424C-D75D-0E9E-E3184EF00D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3232" y="2660698"/>
            <a:ext cx="5648193" cy="2951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EC4FE4A-A66A-2E50-1795-F139B9E133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5150" y="2256287"/>
            <a:ext cx="4563618" cy="3760459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pl-PL" b="1" dirty="0"/>
              <a:t>Charakterystyka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b="1" dirty="0"/>
              <a:t>Open-</a:t>
            </a:r>
            <a:r>
              <a:rPr lang="pl-PL" b="1" dirty="0" err="1"/>
              <a:t>source</a:t>
            </a:r>
            <a:r>
              <a:rPr lang="pl-PL" dirty="0"/>
              <a:t>, napisany w </a:t>
            </a:r>
            <a:r>
              <a:rPr lang="pl-PL" b="1" dirty="0" err="1"/>
              <a:t>Pythonie</a:t>
            </a:r>
            <a:endParaRPr lang="pl-PL" dirty="0"/>
          </a:p>
          <a:p>
            <a:pPr>
              <a:buFont typeface="Arial" panose="020B0604020202020204" pitchFamily="34" charset="0"/>
              <a:buChar char="•"/>
            </a:pPr>
            <a:r>
              <a:rPr lang="pl-PL" dirty="0"/>
              <a:t>Nowoczesne, "</a:t>
            </a:r>
            <a:r>
              <a:rPr lang="pl-PL" dirty="0" err="1"/>
              <a:t>Pythonic</a:t>
            </a:r>
            <a:r>
              <a:rPr lang="pl-PL" dirty="0"/>
              <a:t>" podejście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dirty="0"/>
              <a:t>Rozproszony </a:t>
            </a:r>
            <a:r>
              <a:rPr lang="pl-PL" dirty="0" err="1"/>
              <a:t>load</a:t>
            </a:r>
            <a:r>
              <a:rPr lang="pl-PL" dirty="0"/>
              <a:t> </a:t>
            </a:r>
            <a:r>
              <a:rPr lang="pl-PL" dirty="0" err="1"/>
              <a:t>testing</a:t>
            </a:r>
            <a:r>
              <a:rPr lang="pl-PL" dirty="0"/>
              <a:t> z natury</a:t>
            </a:r>
          </a:p>
          <a:p>
            <a:pPr marL="0" indent="0">
              <a:buNone/>
            </a:pPr>
            <a:endParaRPr lang="pl-PL" dirty="0"/>
          </a:p>
        </p:txBody>
      </p:sp>
      <p:cxnSp>
        <p:nvCxnSpPr>
          <p:cNvPr id="34825" name="Straight Connector 34824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Politechnika Gdańska – Trójmiejska Mapa Akademicka">
            <a:extLst>
              <a:ext uri="{FF2B5EF4-FFF2-40B4-BE49-F238E27FC236}">
                <a16:creationId xmlns:a16="http://schemas.microsoft.com/office/drawing/2014/main" id="{298EC9B0-E47B-F943-0B31-8DB89EFA9C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641872" y="5760720"/>
            <a:ext cx="1550127" cy="1097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19898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8D015DEB-B1C1-8B66-07C8-FE256FD76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anchor="t">
            <a:normAutofit/>
          </a:bodyPr>
          <a:lstStyle/>
          <a:p>
            <a:r>
              <a:rPr lang="pl-PL" dirty="0"/>
              <a:t>Główne cechy</a:t>
            </a:r>
          </a:p>
        </p:txBody>
      </p:sp>
      <p:pic>
        <p:nvPicPr>
          <p:cNvPr id="4" name="Picture 2" descr="Locust: A scalable and Easy-To-Use Load Testing Tool | by CaratLane Insider  | CaratLane Insider">
            <a:extLst>
              <a:ext uri="{FF2B5EF4-FFF2-40B4-BE49-F238E27FC236}">
                <a16:creationId xmlns:a16="http://schemas.microsoft.com/office/drawing/2014/main" id="{6578D33D-2D3A-D4B4-E739-2A5608A8E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3725" y="2341506"/>
            <a:ext cx="5648193" cy="2951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8AF71B1-6A94-9127-01F9-273D8BD84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2011" y="2256287"/>
            <a:ext cx="4966757" cy="3760459"/>
          </a:xfrm>
        </p:spPr>
        <p:txBody>
          <a:bodyPr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pl-PL" dirty="0"/>
              <a:t>Skrypty w </a:t>
            </a:r>
            <a:r>
              <a:rPr lang="pl-PL" dirty="0" err="1"/>
              <a:t>Pythonie</a:t>
            </a:r>
            <a:r>
              <a:rPr lang="pl-PL" dirty="0"/>
              <a:t> – zrozumiałe i skalowalne </a:t>
            </a:r>
            <a:endParaRPr lang="pl-PL"/>
          </a:p>
          <a:p>
            <a:pPr>
              <a:lnSpc>
                <a:spcPct val="110000"/>
              </a:lnSpc>
            </a:pPr>
            <a:r>
              <a:rPr lang="pl-PL" dirty="0"/>
              <a:t>Web UI do monitoringu testów w real-</a:t>
            </a:r>
            <a:r>
              <a:rPr lang="pl-PL" dirty="0" err="1"/>
              <a:t>time</a:t>
            </a:r>
            <a:r>
              <a:rPr lang="pl-PL" dirty="0"/>
              <a:t> </a:t>
            </a:r>
            <a:endParaRPr lang="pl-PL"/>
          </a:p>
          <a:p>
            <a:pPr>
              <a:lnSpc>
                <a:spcPct val="110000"/>
              </a:lnSpc>
            </a:pPr>
            <a:r>
              <a:rPr lang="pl-PL" dirty="0"/>
              <a:t>Rozproszone testy bez konfiguracji master-</a:t>
            </a:r>
            <a:r>
              <a:rPr lang="pl-PL" dirty="0" err="1"/>
              <a:t>slave</a:t>
            </a:r>
            <a:r>
              <a:rPr lang="pl-PL" dirty="0"/>
              <a:t> </a:t>
            </a:r>
            <a:endParaRPr lang="pl-PL"/>
          </a:p>
          <a:p>
            <a:pPr>
              <a:lnSpc>
                <a:spcPct val="110000"/>
              </a:lnSpc>
            </a:pPr>
            <a:r>
              <a:rPr lang="pl-PL" dirty="0"/>
              <a:t>Wsparcie dla HTTP, </a:t>
            </a:r>
            <a:r>
              <a:rPr lang="pl-PL" dirty="0" err="1"/>
              <a:t>WebSocket</a:t>
            </a:r>
            <a:r>
              <a:rPr lang="pl-PL" dirty="0"/>
              <a:t>, </a:t>
            </a:r>
            <a:r>
              <a:rPr lang="pl-PL" dirty="0" err="1"/>
              <a:t>gRPC</a:t>
            </a:r>
            <a:r>
              <a:rPr lang="pl-PL" dirty="0"/>
              <a:t> </a:t>
            </a:r>
            <a:endParaRPr lang="pl-PL"/>
          </a:p>
          <a:p>
            <a:pPr>
              <a:lnSpc>
                <a:spcPct val="110000"/>
              </a:lnSpc>
            </a:pPr>
            <a:r>
              <a:rPr lang="pl-PL" dirty="0"/>
              <a:t>Łatwa integracja z CI/CD</a:t>
            </a:r>
            <a:endParaRPr lang="pl-PL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2" descr="Politechnika Gdańska – Trójmiejska Mapa Akademicka">
            <a:extLst>
              <a:ext uri="{FF2B5EF4-FFF2-40B4-BE49-F238E27FC236}">
                <a16:creationId xmlns:a16="http://schemas.microsoft.com/office/drawing/2014/main" id="{FF32BF10-70DD-8343-D557-24E34EFC5A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641872" y="5760720"/>
            <a:ext cx="1550127" cy="1097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568938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C7D908D3-8B63-6528-C393-9EF2672DD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570" y="1171145"/>
            <a:ext cx="10168106" cy="9555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4800"/>
              <a:t>Przykładowy skrypt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CE0D2A5-C167-FB61-F32A-674B344F2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2570" y="914400"/>
            <a:ext cx="1020883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 descr="Locust: A scalable and Easy-To-Use Load Testing Tool | by CaratLane Insider  | CaratLane Insider">
            <a:extLst>
              <a:ext uri="{FF2B5EF4-FFF2-40B4-BE49-F238E27FC236}">
                <a16:creationId xmlns:a16="http://schemas.microsoft.com/office/drawing/2014/main" id="{45D353AB-030B-C5B7-6C68-9CB92CD5C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92570" y="3585025"/>
            <a:ext cx="4978176" cy="2601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Symbol zastępczy zawartości 8" descr="Obraz zawierający tekst, zrzut ekranu, Czcionka&#10;&#10;Opis wygenerowany automatycznie">
            <a:extLst>
              <a:ext uri="{FF2B5EF4-FFF2-40B4-BE49-F238E27FC236}">
                <a16:creationId xmlns:a16="http://schemas.microsoft.com/office/drawing/2014/main" id="{65189EE3-B4CE-C2FF-CFBD-EC154E499D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182500" y="3722327"/>
            <a:ext cx="4978176" cy="2464197"/>
          </a:xfrm>
          <a:prstGeom prst="rect">
            <a:avLst/>
          </a:prstGeom>
        </p:spPr>
      </p:pic>
      <p:pic>
        <p:nvPicPr>
          <p:cNvPr id="11" name="Picture 2" descr="Politechnika Gdańska – Trójmiejska Mapa Akademicka">
            <a:extLst>
              <a:ext uri="{FF2B5EF4-FFF2-40B4-BE49-F238E27FC236}">
                <a16:creationId xmlns:a16="http://schemas.microsoft.com/office/drawing/2014/main" id="{34C49549-A727-7CC1-2C33-7E42E1E6CB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641872" y="5760720"/>
            <a:ext cx="1550127" cy="1097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744870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AF6ABD98-6F97-AA05-A96F-80E15B565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Zalety/Wady</a:t>
            </a:r>
          </a:p>
        </p:txBody>
      </p:sp>
      <p:pic>
        <p:nvPicPr>
          <p:cNvPr id="6" name="Picture 2" descr="Locust: A scalable and Easy-To-Use Load Testing Tool | by CaratLane Insider  | CaratLane Insider">
            <a:extLst>
              <a:ext uri="{FF2B5EF4-FFF2-40B4-BE49-F238E27FC236}">
                <a16:creationId xmlns:a16="http://schemas.microsoft.com/office/drawing/2014/main" id="{9BBF5618-3A3E-8C21-C817-03A29CCC44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3232" y="2660698"/>
            <a:ext cx="5648193" cy="2951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pole tekstowe 4">
            <a:extLst>
              <a:ext uri="{FF2B5EF4-FFF2-40B4-BE49-F238E27FC236}">
                <a16:creationId xmlns:a16="http://schemas.microsoft.com/office/drawing/2014/main" id="{0DB68A8D-400A-97B1-BE90-4E1B1F65B1A4}"/>
              </a:ext>
            </a:extLst>
          </p:cNvPr>
          <p:cNvSpPr txBox="1"/>
          <p:nvPr/>
        </p:nvSpPr>
        <p:spPr>
          <a:xfrm>
            <a:off x="6915150" y="2256287"/>
            <a:ext cx="4563618" cy="37604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  <a:buSzPct val="87000"/>
            </a:pPr>
            <a:r>
              <a:rPr lang="en-US" sz="1500" b="1"/>
              <a:t>Zalety</a:t>
            </a:r>
          </a:p>
          <a:p>
            <a:pPr>
              <a:lnSpc>
                <a:spcPct val="110000"/>
              </a:lnSpc>
              <a:spcAft>
                <a:spcPts val="600"/>
              </a:spcAft>
              <a:buSzPct val="87000"/>
            </a:pPr>
            <a:r>
              <a:rPr lang="en-US" sz="1500"/>
              <a:t>✅ Najłatwiejszy do nauki (Python)</a:t>
            </a:r>
            <a:br>
              <a:rPr lang="en-US" sz="1500"/>
            </a:br>
            <a:r>
              <a:rPr lang="en-US" sz="1500"/>
              <a:t>✅ Elegancki kod, łatwy do utrzymania</a:t>
            </a:r>
            <a:br>
              <a:rPr lang="en-US" sz="1500"/>
            </a:br>
            <a:r>
              <a:rPr lang="en-US" sz="1500"/>
              <a:t>✅ Web UI jest nowoczesny i intuicyjny</a:t>
            </a:r>
            <a:br>
              <a:rPr lang="en-US" sz="1500"/>
            </a:br>
            <a:r>
              <a:rPr lang="en-US" sz="1500"/>
              <a:t>✅ Niezwykle skalowalne (rozproszone z natury)</a:t>
            </a:r>
            <a:br>
              <a:rPr lang="en-US" sz="1500"/>
            </a:br>
            <a:r>
              <a:rPr lang="en-US" sz="1500"/>
              <a:t>✅ Darmowy, open-source</a:t>
            </a:r>
          </a:p>
          <a:p>
            <a:pPr>
              <a:lnSpc>
                <a:spcPct val="11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endParaRPr lang="en-US" sz="1500" dirty="0"/>
          </a:p>
          <a:p>
            <a:pPr>
              <a:lnSpc>
                <a:spcPct val="110000"/>
              </a:lnSpc>
              <a:spcAft>
                <a:spcPts val="600"/>
              </a:spcAft>
              <a:buSzPct val="87000"/>
            </a:pPr>
            <a:r>
              <a:rPr lang="en-US" sz="1500" b="1"/>
              <a:t>Wady</a:t>
            </a:r>
          </a:p>
          <a:p>
            <a:pPr>
              <a:lnSpc>
                <a:spcPct val="110000"/>
              </a:lnSpc>
              <a:spcAft>
                <a:spcPts val="600"/>
              </a:spcAft>
              <a:buSzPct val="87000"/>
            </a:pPr>
            <a:r>
              <a:rPr lang="en-US" sz="1500"/>
              <a:t>❌ Mniejsza społeczność niż JMeter</a:t>
            </a:r>
            <a:br>
              <a:rPr lang="en-US" sz="1500"/>
            </a:br>
            <a:r>
              <a:rPr lang="en-US" sz="1500"/>
              <a:t>❌ Mniej protokołów niż LoadRunner</a:t>
            </a:r>
            <a:br>
              <a:rPr lang="en-US" sz="1500"/>
            </a:br>
            <a:r>
              <a:rPr lang="en-US" sz="1500"/>
              <a:t>❌ Mniej gotowych pluginów</a:t>
            </a:r>
            <a:endParaRPr lang="en-US" sz="15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2" descr="Politechnika Gdańska – Trójmiejska Mapa Akademicka">
            <a:extLst>
              <a:ext uri="{FF2B5EF4-FFF2-40B4-BE49-F238E27FC236}">
                <a16:creationId xmlns:a16="http://schemas.microsoft.com/office/drawing/2014/main" id="{6DBEF052-E7E0-5DBA-5070-7743DE12CD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641872" y="5760720"/>
            <a:ext cx="1550127" cy="1097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85403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13D72FC8-18AE-79B0-F9A4-A53EF0063B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2403986"/>
              </p:ext>
            </p:extLst>
          </p:nvPr>
        </p:nvGraphicFramePr>
        <p:xfrm>
          <a:off x="887749" y="1648695"/>
          <a:ext cx="9876880" cy="356061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975376">
                  <a:extLst>
                    <a:ext uri="{9D8B030D-6E8A-4147-A177-3AD203B41FA5}">
                      <a16:colId xmlns:a16="http://schemas.microsoft.com/office/drawing/2014/main" val="2109026209"/>
                    </a:ext>
                  </a:extLst>
                </a:gridCol>
                <a:gridCol w="1975376">
                  <a:extLst>
                    <a:ext uri="{9D8B030D-6E8A-4147-A177-3AD203B41FA5}">
                      <a16:colId xmlns:a16="http://schemas.microsoft.com/office/drawing/2014/main" val="3397382884"/>
                    </a:ext>
                  </a:extLst>
                </a:gridCol>
                <a:gridCol w="1975376">
                  <a:extLst>
                    <a:ext uri="{9D8B030D-6E8A-4147-A177-3AD203B41FA5}">
                      <a16:colId xmlns:a16="http://schemas.microsoft.com/office/drawing/2014/main" val="2264003497"/>
                    </a:ext>
                  </a:extLst>
                </a:gridCol>
                <a:gridCol w="1975376">
                  <a:extLst>
                    <a:ext uri="{9D8B030D-6E8A-4147-A177-3AD203B41FA5}">
                      <a16:colId xmlns:a16="http://schemas.microsoft.com/office/drawing/2014/main" val="3024653327"/>
                    </a:ext>
                  </a:extLst>
                </a:gridCol>
                <a:gridCol w="1975376">
                  <a:extLst>
                    <a:ext uri="{9D8B030D-6E8A-4147-A177-3AD203B41FA5}">
                      <a16:colId xmlns:a16="http://schemas.microsoft.com/office/drawing/2014/main" val="3874873447"/>
                    </a:ext>
                  </a:extLst>
                </a:gridCol>
              </a:tblGrid>
              <a:tr h="331677">
                <a:tc>
                  <a:txBody>
                    <a:bodyPr/>
                    <a:lstStyle/>
                    <a:p>
                      <a:r>
                        <a:rPr lang="pl-PL" sz="1600" dirty="0"/>
                        <a:t>Aspekt</a:t>
                      </a:r>
                    </a:p>
                  </a:txBody>
                  <a:tcPr marL="82919" marR="82919" marT="41460" marB="4146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 sz="1600" dirty="0" err="1"/>
                        <a:t>JMeter</a:t>
                      </a:r>
                      <a:endParaRPr lang="pl-PL" sz="1600" dirty="0"/>
                    </a:p>
                  </a:txBody>
                  <a:tcPr marL="82919" marR="82919" marT="41460" marB="4146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 sz="1600" dirty="0" err="1"/>
                        <a:t>LoadRunner</a:t>
                      </a:r>
                      <a:endParaRPr lang="pl-PL" sz="1600" dirty="0"/>
                    </a:p>
                  </a:txBody>
                  <a:tcPr marL="82919" marR="82919" marT="41460" marB="4146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 sz="1600" dirty="0" err="1"/>
                        <a:t>Gatling</a:t>
                      </a:r>
                      <a:endParaRPr lang="pl-PL" sz="1600" dirty="0"/>
                    </a:p>
                  </a:txBody>
                  <a:tcPr marL="82919" marR="82919" marT="41460" marB="4146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 sz="1600" dirty="0"/>
                        <a:t>Locust</a:t>
                      </a:r>
                    </a:p>
                  </a:txBody>
                  <a:tcPr marL="82919" marR="82919" marT="41460" marB="4146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0264476"/>
                  </a:ext>
                </a:extLst>
              </a:tr>
              <a:tr h="331677">
                <a:tc>
                  <a:txBody>
                    <a:bodyPr/>
                    <a:lstStyle/>
                    <a:p>
                      <a:r>
                        <a:rPr lang="pl-PL" sz="1600" b="1"/>
                        <a:t>Koszt</a:t>
                      </a:r>
                      <a:endParaRPr lang="pl-PL" sz="1600"/>
                    </a:p>
                  </a:txBody>
                  <a:tcPr marL="82919" marR="82919" marT="41460" marB="41460" anchor="ctr"/>
                </a:tc>
                <a:tc>
                  <a:txBody>
                    <a:bodyPr/>
                    <a:lstStyle/>
                    <a:p>
                      <a:r>
                        <a:rPr lang="pl-PL" sz="1600"/>
                        <a:t>Darmowy</a:t>
                      </a:r>
                    </a:p>
                  </a:txBody>
                  <a:tcPr marL="82919" marR="82919" marT="41460" marB="41460" anchor="ctr"/>
                </a:tc>
                <a:tc>
                  <a:txBody>
                    <a:bodyPr/>
                    <a:lstStyle/>
                    <a:p>
                      <a:r>
                        <a:rPr lang="pl-PL" sz="1600"/>
                        <a:t>Bardzo drogi</a:t>
                      </a:r>
                    </a:p>
                  </a:txBody>
                  <a:tcPr marL="82919" marR="82919" marT="41460" marB="41460" anchor="ctr"/>
                </a:tc>
                <a:tc>
                  <a:txBody>
                    <a:bodyPr/>
                    <a:lstStyle/>
                    <a:p>
                      <a:r>
                        <a:rPr lang="pl-PL" sz="1600"/>
                        <a:t>Darmowy</a:t>
                      </a:r>
                    </a:p>
                  </a:txBody>
                  <a:tcPr marL="82919" marR="82919" marT="41460" marB="41460" anchor="ctr"/>
                </a:tc>
                <a:tc>
                  <a:txBody>
                    <a:bodyPr/>
                    <a:lstStyle/>
                    <a:p>
                      <a:r>
                        <a:rPr lang="pl-PL" sz="1600"/>
                        <a:t>Darmowy</a:t>
                      </a:r>
                    </a:p>
                  </a:txBody>
                  <a:tcPr marL="82919" marR="82919" marT="41460" marB="41460" anchor="ctr"/>
                </a:tc>
                <a:extLst>
                  <a:ext uri="{0D108BD9-81ED-4DB2-BD59-A6C34878D82A}">
                    <a16:rowId xmlns:a16="http://schemas.microsoft.com/office/drawing/2014/main" val="736061015"/>
                  </a:ext>
                </a:extLst>
              </a:tr>
              <a:tr h="291131">
                <a:tc>
                  <a:txBody>
                    <a:bodyPr/>
                    <a:lstStyle/>
                    <a:p>
                      <a:r>
                        <a:rPr lang="pl-PL" sz="1600" b="1"/>
                        <a:t>Język</a:t>
                      </a:r>
                      <a:endParaRPr lang="pl-PL" sz="1600"/>
                    </a:p>
                  </a:txBody>
                  <a:tcPr marL="82919" marR="82919" marT="41460" marB="41460" anchor="ctr"/>
                </a:tc>
                <a:tc>
                  <a:txBody>
                    <a:bodyPr/>
                    <a:lstStyle/>
                    <a:p>
                      <a:r>
                        <a:rPr lang="pl-PL" sz="1600"/>
                        <a:t>GUI / Java</a:t>
                      </a:r>
                    </a:p>
                  </a:txBody>
                  <a:tcPr marL="82919" marR="82919" marT="41460" marB="41460" anchor="ctr"/>
                </a:tc>
                <a:tc>
                  <a:txBody>
                    <a:bodyPr/>
                    <a:lstStyle/>
                    <a:p>
                      <a:r>
                        <a:rPr lang="pl-PL" sz="1600"/>
                        <a:t>C / VB Script</a:t>
                      </a:r>
                    </a:p>
                  </a:txBody>
                  <a:tcPr marL="82919" marR="82919" marT="41460" marB="41460" anchor="ctr"/>
                </a:tc>
                <a:tc>
                  <a:txBody>
                    <a:bodyPr/>
                    <a:lstStyle/>
                    <a:p>
                      <a:r>
                        <a:rPr lang="pl-PL" sz="1600"/>
                        <a:t>Scala</a:t>
                      </a:r>
                    </a:p>
                  </a:txBody>
                  <a:tcPr marL="82919" marR="82919" marT="41460" marB="41460" anchor="ctr"/>
                </a:tc>
                <a:tc>
                  <a:txBody>
                    <a:bodyPr/>
                    <a:lstStyle/>
                    <a:p>
                      <a:r>
                        <a:rPr lang="pl-PL" sz="1600"/>
                        <a:t>Python</a:t>
                      </a:r>
                    </a:p>
                  </a:txBody>
                  <a:tcPr marL="82919" marR="82919" marT="41460" marB="41460" anchor="ctr"/>
                </a:tc>
                <a:extLst>
                  <a:ext uri="{0D108BD9-81ED-4DB2-BD59-A6C34878D82A}">
                    <a16:rowId xmlns:a16="http://schemas.microsoft.com/office/drawing/2014/main" val="4026064088"/>
                  </a:ext>
                </a:extLst>
              </a:tr>
              <a:tr h="331677">
                <a:tc>
                  <a:txBody>
                    <a:bodyPr/>
                    <a:lstStyle/>
                    <a:p>
                      <a:r>
                        <a:rPr lang="pl-PL" sz="1600" b="1"/>
                        <a:t>Krzywa uczenia</a:t>
                      </a:r>
                      <a:endParaRPr lang="pl-PL" sz="1600"/>
                    </a:p>
                  </a:txBody>
                  <a:tcPr marL="82919" marR="82919" marT="41460" marB="41460" anchor="ctr"/>
                </a:tc>
                <a:tc>
                  <a:txBody>
                    <a:bodyPr/>
                    <a:lstStyle/>
                    <a:p>
                      <a:r>
                        <a:rPr lang="pl-PL" sz="1600" dirty="0"/>
                        <a:t>Średnia</a:t>
                      </a:r>
                    </a:p>
                  </a:txBody>
                  <a:tcPr marL="82919" marR="82919" marT="41460" marB="41460" anchor="ctr"/>
                </a:tc>
                <a:tc>
                  <a:txBody>
                    <a:bodyPr/>
                    <a:lstStyle/>
                    <a:p>
                      <a:r>
                        <a:rPr lang="pl-PL" sz="1600"/>
                        <a:t>Stroma</a:t>
                      </a:r>
                    </a:p>
                  </a:txBody>
                  <a:tcPr marL="82919" marR="82919" marT="41460" marB="41460" anchor="ctr"/>
                </a:tc>
                <a:tc>
                  <a:txBody>
                    <a:bodyPr/>
                    <a:lstStyle/>
                    <a:p>
                      <a:r>
                        <a:rPr lang="pl-PL" sz="1600"/>
                        <a:t>Średnia-wysoka</a:t>
                      </a:r>
                    </a:p>
                  </a:txBody>
                  <a:tcPr marL="82919" marR="82919" marT="41460" marB="41460" anchor="ctr"/>
                </a:tc>
                <a:tc>
                  <a:txBody>
                    <a:bodyPr/>
                    <a:lstStyle/>
                    <a:p>
                      <a:r>
                        <a:rPr lang="pl-PL" sz="1600"/>
                        <a:t>Niska</a:t>
                      </a:r>
                    </a:p>
                  </a:txBody>
                  <a:tcPr marL="82919" marR="82919" marT="41460" marB="41460" anchor="ctr"/>
                </a:tc>
                <a:extLst>
                  <a:ext uri="{0D108BD9-81ED-4DB2-BD59-A6C34878D82A}">
                    <a16:rowId xmlns:a16="http://schemas.microsoft.com/office/drawing/2014/main" val="294438356"/>
                  </a:ext>
                </a:extLst>
              </a:tr>
              <a:tr h="331677">
                <a:tc>
                  <a:txBody>
                    <a:bodyPr/>
                    <a:lstStyle/>
                    <a:p>
                      <a:r>
                        <a:rPr lang="pl-PL" sz="1600" b="1"/>
                        <a:t>Skalowanie</a:t>
                      </a:r>
                      <a:endParaRPr lang="pl-PL" sz="1600"/>
                    </a:p>
                  </a:txBody>
                  <a:tcPr marL="82919" marR="82919" marT="41460" marB="41460" anchor="ctr"/>
                </a:tc>
                <a:tc>
                  <a:txBody>
                    <a:bodyPr/>
                    <a:lstStyle/>
                    <a:p>
                      <a:r>
                        <a:rPr lang="pl-PL" sz="1600"/>
                        <a:t>Dobre</a:t>
                      </a:r>
                    </a:p>
                  </a:txBody>
                  <a:tcPr marL="82919" marR="82919" marT="41460" marB="41460" anchor="ctr"/>
                </a:tc>
                <a:tc>
                  <a:txBody>
                    <a:bodyPr/>
                    <a:lstStyle/>
                    <a:p>
                      <a:r>
                        <a:rPr lang="pl-PL" sz="1600"/>
                        <a:t>Doskonałe</a:t>
                      </a:r>
                    </a:p>
                  </a:txBody>
                  <a:tcPr marL="82919" marR="82919" marT="41460" marB="41460" anchor="ctr"/>
                </a:tc>
                <a:tc>
                  <a:txBody>
                    <a:bodyPr/>
                    <a:lstStyle/>
                    <a:p>
                      <a:r>
                        <a:rPr lang="pl-PL" sz="1600"/>
                        <a:t>Doskonałe</a:t>
                      </a:r>
                    </a:p>
                  </a:txBody>
                  <a:tcPr marL="82919" marR="82919" marT="41460" marB="41460" anchor="ctr"/>
                </a:tc>
                <a:tc>
                  <a:txBody>
                    <a:bodyPr/>
                    <a:lstStyle/>
                    <a:p>
                      <a:r>
                        <a:rPr lang="pl-PL" sz="1600"/>
                        <a:t>Doskonałe</a:t>
                      </a:r>
                    </a:p>
                  </a:txBody>
                  <a:tcPr marL="82919" marR="82919" marT="41460" marB="41460" anchor="ctr"/>
                </a:tc>
                <a:extLst>
                  <a:ext uri="{0D108BD9-81ED-4DB2-BD59-A6C34878D82A}">
                    <a16:rowId xmlns:a16="http://schemas.microsoft.com/office/drawing/2014/main" val="45544910"/>
                  </a:ext>
                </a:extLst>
              </a:tr>
              <a:tr h="331677">
                <a:tc>
                  <a:txBody>
                    <a:bodyPr/>
                    <a:lstStyle/>
                    <a:p>
                      <a:r>
                        <a:rPr lang="pl-PL" sz="1600" b="1"/>
                        <a:t>GUI</a:t>
                      </a:r>
                      <a:endParaRPr lang="pl-PL" sz="1600"/>
                    </a:p>
                  </a:txBody>
                  <a:tcPr marL="82919" marR="82919" marT="41460" marB="41460" anchor="ctr"/>
                </a:tc>
                <a:tc>
                  <a:txBody>
                    <a:bodyPr/>
                    <a:lstStyle/>
                    <a:p>
                      <a:r>
                        <a:rPr lang="pl-PL" sz="1600" dirty="0"/>
                        <a:t>Tak</a:t>
                      </a:r>
                    </a:p>
                  </a:txBody>
                  <a:tcPr marL="82919" marR="82919" marT="41460" marB="41460" anchor="ctr"/>
                </a:tc>
                <a:tc>
                  <a:txBody>
                    <a:bodyPr/>
                    <a:lstStyle/>
                    <a:p>
                      <a:r>
                        <a:rPr lang="pl-PL" sz="1600"/>
                        <a:t>Tak</a:t>
                      </a:r>
                    </a:p>
                  </a:txBody>
                  <a:tcPr marL="82919" marR="82919" marT="41460" marB="41460" anchor="ctr"/>
                </a:tc>
                <a:tc>
                  <a:txBody>
                    <a:bodyPr/>
                    <a:lstStyle/>
                    <a:p>
                      <a:r>
                        <a:rPr lang="pl-PL" sz="1600"/>
                        <a:t>Nie (CLI)</a:t>
                      </a:r>
                    </a:p>
                  </a:txBody>
                  <a:tcPr marL="82919" marR="82919" marT="41460" marB="41460" anchor="ctr"/>
                </a:tc>
                <a:tc>
                  <a:txBody>
                    <a:bodyPr/>
                    <a:lstStyle/>
                    <a:p>
                      <a:r>
                        <a:rPr lang="pl-PL" sz="1600"/>
                        <a:t>Web UI</a:t>
                      </a:r>
                    </a:p>
                  </a:txBody>
                  <a:tcPr marL="82919" marR="82919" marT="41460" marB="41460" anchor="ctr"/>
                </a:tc>
                <a:extLst>
                  <a:ext uri="{0D108BD9-81ED-4DB2-BD59-A6C34878D82A}">
                    <a16:rowId xmlns:a16="http://schemas.microsoft.com/office/drawing/2014/main" val="1320820125"/>
                  </a:ext>
                </a:extLst>
              </a:tr>
              <a:tr h="580434">
                <a:tc>
                  <a:txBody>
                    <a:bodyPr/>
                    <a:lstStyle/>
                    <a:p>
                      <a:r>
                        <a:rPr lang="pl-PL" sz="1600" b="1"/>
                        <a:t>Protokoły</a:t>
                      </a:r>
                      <a:endParaRPr lang="pl-PL" sz="1600"/>
                    </a:p>
                  </a:txBody>
                  <a:tcPr marL="82919" marR="82919" marT="41460" marB="41460" anchor="ctr"/>
                </a:tc>
                <a:tc>
                  <a:txBody>
                    <a:bodyPr/>
                    <a:lstStyle/>
                    <a:p>
                      <a:r>
                        <a:rPr lang="pl-PL" sz="1600"/>
                        <a:t>~10</a:t>
                      </a:r>
                    </a:p>
                  </a:txBody>
                  <a:tcPr marL="82919" marR="82919" marT="41460" marB="41460" anchor="ctr"/>
                </a:tc>
                <a:tc>
                  <a:txBody>
                    <a:bodyPr/>
                    <a:lstStyle/>
                    <a:p>
                      <a:r>
                        <a:rPr lang="pl-PL" sz="1600"/>
                        <a:t>~200</a:t>
                      </a:r>
                    </a:p>
                  </a:txBody>
                  <a:tcPr marL="82919" marR="82919" marT="41460" marB="41460" anchor="ctr"/>
                </a:tc>
                <a:tc>
                  <a:txBody>
                    <a:bodyPr/>
                    <a:lstStyle/>
                    <a:p>
                      <a:r>
                        <a:rPr lang="pl-PL" sz="1600"/>
                        <a:t>HTTP/WebSocket</a:t>
                      </a:r>
                    </a:p>
                  </a:txBody>
                  <a:tcPr marL="82919" marR="82919" marT="41460" marB="41460" anchor="ctr"/>
                </a:tc>
                <a:tc>
                  <a:txBody>
                    <a:bodyPr/>
                    <a:lstStyle/>
                    <a:p>
                      <a:r>
                        <a:rPr lang="pl-PL" sz="1600"/>
                        <a:t>HTTP/WebSocket/gRPC</a:t>
                      </a:r>
                    </a:p>
                  </a:txBody>
                  <a:tcPr marL="82919" marR="82919" marT="41460" marB="41460" anchor="ctr"/>
                </a:tc>
                <a:extLst>
                  <a:ext uri="{0D108BD9-81ED-4DB2-BD59-A6C34878D82A}">
                    <a16:rowId xmlns:a16="http://schemas.microsoft.com/office/drawing/2014/main" val="3785598154"/>
                  </a:ext>
                </a:extLst>
              </a:tr>
              <a:tr h="331677">
                <a:tc>
                  <a:txBody>
                    <a:bodyPr/>
                    <a:lstStyle/>
                    <a:p>
                      <a:r>
                        <a:rPr lang="pl-PL" sz="1600" b="1"/>
                        <a:t>Raporty</a:t>
                      </a:r>
                      <a:endParaRPr lang="pl-PL" sz="1600"/>
                    </a:p>
                  </a:txBody>
                  <a:tcPr marL="82919" marR="82919" marT="41460" marB="41460" anchor="ctr"/>
                </a:tc>
                <a:tc>
                  <a:txBody>
                    <a:bodyPr/>
                    <a:lstStyle/>
                    <a:p>
                      <a:r>
                        <a:rPr lang="pl-PL" sz="1600"/>
                        <a:t>Podstawowe</a:t>
                      </a:r>
                    </a:p>
                  </a:txBody>
                  <a:tcPr marL="82919" marR="82919" marT="41460" marB="41460" anchor="ctr"/>
                </a:tc>
                <a:tc>
                  <a:txBody>
                    <a:bodyPr/>
                    <a:lstStyle/>
                    <a:p>
                      <a:r>
                        <a:rPr lang="pl-PL" sz="1600"/>
                        <a:t>Zaawansowane</a:t>
                      </a:r>
                    </a:p>
                  </a:txBody>
                  <a:tcPr marL="82919" marR="82919" marT="41460" marB="41460" anchor="ctr"/>
                </a:tc>
                <a:tc>
                  <a:txBody>
                    <a:bodyPr/>
                    <a:lstStyle/>
                    <a:p>
                      <a:r>
                        <a:rPr lang="pl-PL" sz="1600"/>
                        <a:t>HTML</a:t>
                      </a:r>
                    </a:p>
                  </a:txBody>
                  <a:tcPr marL="82919" marR="82919" marT="41460" marB="41460" anchor="ctr"/>
                </a:tc>
                <a:tc>
                  <a:txBody>
                    <a:bodyPr/>
                    <a:lstStyle/>
                    <a:p>
                      <a:r>
                        <a:rPr lang="pl-PL" sz="1600"/>
                        <a:t>Web UI + HTML</a:t>
                      </a:r>
                    </a:p>
                  </a:txBody>
                  <a:tcPr marL="82919" marR="82919" marT="41460" marB="41460" anchor="ctr"/>
                </a:tc>
                <a:extLst>
                  <a:ext uri="{0D108BD9-81ED-4DB2-BD59-A6C34878D82A}">
                    <a16:rowId xmlns:a16="http://schemas.microsoft.com/office/drawing/2014/main" val="3454020506"/>
                  </a:ext>
                </a:extLst>
              </a:tr>
              <a:tr h="331677">
                <a:tc>
                  <a:txBody>
                    <a:bodyPr/>
                    <a:lstStyle/>
                    <a:p>
                      <a:r>
                        <a:rPr lang="pl-PL" sz="1600" b="1"/>
                        <a:t>Społeczność</a:t>
                      </a:r>
                      <a:endParaRPr lang="pl-PL" sz="1600"/>
                    </a:p>
                  </a:txBody>
                  <a:tcPr marL="82919" marR="82919" marT="41460" marB="41460" anchor="ctr"/>
                </a:tc>
                <a:tc>
                  <a:txBody>
                    <a:bodyPr/>
                    <a:lstStyle/>
                    <a:p>
                      <a:r>
                        <a:rPr lang="pl-PL" sz="1600"/>
                        <a:t>Bardzo duża</a:t>
                      </a:r>
                    </a:p>
                  </a:txBody>
                  <a:tcPr marL="82919" marR="82919" marT="41460" marB="41460" anchor="ctr"/>
                </a:tc>
                <a:tc>
                  <a:txBody>
                    <a:bodyPr/>
                    <a:lstStyle/>
                    <a:p>
                      <a:r>
                        <a:rPr lang="pl-PL" sz="1600"/>
                        <a:t>Mała</a:t>
                      </a:r>
                    </a:p>
                  </a:txBody>
                  <a:tcPr marL="82919" marR="82919" marT="41460" marB="41460" anchor="ctr"/>
                </a:tc>
                <a:tc>
                  <a:txBody>
                    <a:bodyPr/>
                    <a:lstStyle/>
                    <a:p>
                      <a:r>
                        <a:rPr lang="pl-PL" sz="1600"/>
                        <a:t>Rosnąca</a:t>
                      </a:r>
                    </a:p>
                  </a:txBody>
                  <a:tcPr marL="82919" marR="82919" marT="41460" marB="41460" anchor="ctr"/>
                </a:tc>
                <a:tc>
                  <a:txBody>
                    <a:bodyPr/>
                    <a:lstStyle/>
                    <a:p>
                      <a:r>
                        <a:rPr lang="pl-PL" sz="1600"/>
                        <a:t>Rosnąca</a:t>
                      </a:r>
                    </a:p>
                  </a:txBody>
                  <a:tcPr marL="82919" marR="82919" marT="41460" marB="41460" anchor="ctr"/>
                </a:tc>
                <a:extLst>
                  <a:ext uri="{0D108BD9-81ED-4DB2-BD59-A6C34878D82A}">
                    <a16:rowId xmlns:a16="http://schemas.microsoft.com/office/drawing/2014/main" val="1291522137"/>
                  </a:ext>
                </a:extLst>
              </a:tr>
              <a:tr h="331677">
                <a:tc>
                  <a:txBody>
                    <a:bodyPr/>
                    <a:lstStyle/>
                    <a:p>
                      <a:r>
                        <a:rPr lang="pl-PL" sz="1600" b="1"/>
                        <a:t>Enterprise</a:t>
                      </a:r>
                      <a:endParaRPr lang="pl-PL" sz="1600"/>
                    </a:p>
                  </a:txBody>
                  <a:tcPr marL="82919" marR="82919" marT="41460" marB="41460" anchor="ctr"/>
                </a:tc>
                <a:tc>
                  <a:txBody>
                    <a:bodyPr/>
                    <a:lstStyle/>
                    <a:p>
                      <a:r>
                        <a:rPr lang="pl-PL" sz="1600"/>
                        <a:t>Nie</a:t>
                      </a:r>
                    </a:p>
                  </a:txBody>
                  <a:tcPr marL="82919" marR="82919" marT="41460" marB="41460" anchor="ctr"/>
                </a:tc>
                <a:tc>
                  <a:txBody>
                    <a:bodyPr/>
                    <a:lstStyle/>
                    <a:p>
                      <a:r>
                        <a:rPr lang="pl-PL" sz="1600"/>
                        <a:t>Tak</a:t>
                      </a:r>
                    </a:p>
                  </a:txBody>
                  <a:tcPr marL="82919" marR="82919" marT="41460" marB="41460" anchor="ctr"/>
                </a:tc>
                <a:tc>
                  <a:txBody>
                    <a:bodyPr/>
                    <a:lstStyle/>
                    <a:p>
                      <a:r>
                        <a:rPr lang="pl-PL" sz="1600"/>
                        <a:t>Nie</a:t>
                      </a:r>
                    </a:p>
                  </a:txBody>
                  <a:tcPr marL="82919" marR="82919" marT="41460" marB="41460" anchor="ctr"/>
                </a:tc>
                <a:tc>
                  <a:txBody>
                    <a:bodyPr/>
                    <a:lstStyle/>
                    <a:p>
                      <a:r>
                        <a:rPr lang="pl-PL" sz="1600" dirty="0"/>
                        <a:t>Nie</a:t>
                      </a:r>
                    </a:p>
                  </a:txBody>
                  <a:tcPr marL="82919" marR="82919" marT="41460" marB="41460" anchor="ctr"/>
                </a:tc>
                <a:extLst>
                  <a:ext uri="{0D108BD9-81ED-4DB2-BD59-A6C34878D82A}">
                    <a16:rowId xmlns:a16="http://schemas.microsoft.com/office/drawing/2014/main" val="3985232072"/>
                  </a:ext>
                </a:extLst>
              </a:tr>
            </a:tbl>
          </a:graphicData>
        </a:graphic>
      </p:graphicFrame>
      <p:pic>
        <p:nvPicPr>
          <p:cNvPr id="5" name="Picture 2" descr="Politechnika Gdańska – Trójmiejska Mapa Akademicka">
            <a:extLst>
              <a:ext uri="{FF2B5EF4-FFF2-40B4-BE49-F238E27FC236}">
                <a16:creationId xmlns:a16="http://schemas.microsoft.com/office/drawing/2014/main" id="{A04CBA8E-F10D-4E83-D38E-4D310AA8A0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641872" y="5760720"/>
            <a:ext cx="1550127" cy="1097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507872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619D615-7DA3-B681-46DC-E0E119598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Rekomendacja wg scenariusza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396D68C6-8327-3C35-6BA1-4C744FA9FE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6674815"/>
              </p:ext>
            </p:extLst>
          </p:nvPr>
        </p:nvGraphicFramePr>
        <p:xfrm>
          <a:off x="471006" y="2560320"/>
          <a:ext cx="10891836" cy="1828800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5445918">
                  <a:extLst>
                    <a:ext uri="{9D8B030D-6E8A-4147-A177-3AD203B41FA5}">
                      <a16:colId xmlns:a16="http://schemas.microsoft.com/office/drawing/2014/main" val="1419539980"/>
                    </a:ext>
                  </a:extLst>
                </a:gridCol>
                <a:gridCol w="5445918">
                  <a:extLst>
                    <a:ext uri="{9D8B030D-6E8A-4147-A177-3AD203B41FA5}">
                      <a16:colId xmlns:a16="http://schemas.microsoft.com/office/drawing/2014/main" val="161951841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pl-PL" sz="1800" dirty="0"/>
                        <a:t>Scenariusz</a:t>
                      </a: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 sz="1800" dirty="0"/>
                        <a:t>Rekomendacja</a:t>
                      </a: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909507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pl-PL" sz="1800" b="1" dirty="0"/>
                        <a:t>Testy w małym zespole, HTTP API</a:t>
                      </a:r>
                      <a:endParaRPr lang="pl-PL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l-PL" sz="1800" b="1"/>
                        <a:t>Locust</a:t>
                      </a:r>
                      <a:r>
                        <a:rPr lang="pl-PL" sz="1800"/>
                        <a:t> – najprościej się uczy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54075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pl-PL" sz="1800" b="1" dirty="0"/>
                        <a:t>Testy kompleksowe, </a:t>
                      </a:r>
                      <a:r>
                        <a:rPr lang="pl-PL" sz="1800" b="1" dirty="0" err="1"/>
                        <a:t>legacy</a:t>
                      </a:r>
                      <a:r>
                        <a:rPr lang="pl-PL" sz="1800" b="1" dirty="0"/>
                        <a:t> </a:t>
                      </a:r>
                      <a:r>
                        <a:rPr lang="pl-PL" sz="1800" b="1" dirty="0" err="1"/>
                        <a:t>systems</a:t>
                      </a:r>
                      <a:endParaRPr lang="pl-PL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l-PL" sz="1800" b="1"/>
                        <a:t>LoadRunner</a:t>
                      </a:r>
                      <a:r>
                        <a:rPr lang="pl-PL" sz="1800"/>
                        <a:t> – jedyne, które to pociągnie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702359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pl-PL" sz="1800" b="1" dirty="0"/>
                        <a:t>Testy CI/CD, nowoczesne aplikacje</a:t>
                      </a:r>
                      <a:endParaRPr lang="pl-PL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l-PL" sz="1800" b="1"/>
                        <a:t>Gatling</a:t>
                      </a:r>
                      <a:r>
                        <a:rPr lang="pl-PL" sz="1800"/>
                        <a:t> – najszybszy i najskalowalny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02012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pl-PL" sz="1800" b="1" dirty="0"/>
                        <a:t>Testy dla dużych organizacji, uniwersalny</a:t>
                      </a:r>
                      <a:endParaRPr lang="pl-PL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l-PL" sz="1800" b="1" dirty="0" err="1"/>
                        <a:t>JMeter</a:t>
                      </a:r>
                      <a:r>
                        <a:rPr lang="pl-PL" sz="1800" dirty="0"/>
                        <a:t> – najbardziej wszechstronny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3528554"/>
                  </a:ext>
                </a:extLst>
              </a:tr>
            </a:tbl>
          </a:graphicData>
        </a:graphic>
      </p:graphicFrame>
      <p:pic>
        <p:nvPicPr>
          <p:cNvPr id="12" name="Picture 2" descr="Politechnika Gdańska – Trójmiejska Mapa Akademicka">
            <a:extLst>
              <a:ext uri="{FF2B5EF4-FFF2-40B4-BE49-F238E27FC236}">
                <a16:creationId xmlns:a16="http://schemas.microsoft.com/office/drawing/2014/main" id="{A6088426-4F78-45FB-920B-10F0751818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641872" y="5760720"/>
            <a:ext cx="1550127" cy="1097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324396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 descr="Golf Ball">
            <a:extLst>
              <a:ext uri="{FF2B5EF4-FFF2-40B4-BE49-F238E27FC236}">
                <a16:creationId xmlns:a16="http://schemas.microsoft.com/office/drawing/2014/main" id="{CF47E82F-D8A4-A183-240E-98FFC09F77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3232" y="2256287"/>
            <a:ext cx="3760459" cy="3760459"/>
          </a:xfrm>
          <a:prstGeom prst="rect">
            <a:avLst/>
          </a:prstGeom>
        </p:spPr>
      </p:pic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3B0F05B-3E32-93EC-EBCC-FEE16CCDA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5150" y="2256287"/>
            <a:ext cx="4563618" cy="3760459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pl-PL" dirty="0"/>
              <a:t>KURS LOCUST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 descr="Politechnika Gdańska – Trójmiejska Mapa Akademicka">
            <a:extLst>
              <a:ext uri="{FF2B5EF4-FFF2-40B4-BE49-F238E27FC236}">
                <a16:creationId xmlns:a16="http://schemas.microsoft.com/office/drawing/2014/main" id="{4C22FA96-0CD6-5921-5DF1-362D3AD557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641872" y="5760720"/>
            <a:ext cx="1550127" cy="1097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pole tekstowe 9">
            <a:extLst>
              <a:ext uri="{FF2B5EF4-FFF2-40B4-BE49-F238E27FC236}">
                <a16:creationId xmlns:a16="http://schemas.microsoft.com/office/drawing/2014/main" id="{E16838B5-9853-B9FD-F083-42C572AFB9DD}"/>
              </a:ext>
            </a:extLst>
          </p:cNvPr>
          <p:cNvSpPr txBox="1"/>
          <p:nvPr/>
        </p:nvSpPr>
        <p:spPr>
          <a:xfrm>
            <a:off x="6621176" y="3174884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Podstawowa składnia i struktura testów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Jak definiować </a:t>
            </a:r>
            <a:r>
              <a:rPr lang="pl-PL" dirty="0" err="1"/>
              <a:t>user'ów</a:t>
            </a:r>
            <a:r>
              <a:rPr lang="pl-PL" dirty="0"/>
              <a:t> i ich zachowania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Jak uruchamiać testy i analizować wyniki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Zaawansowane techniki i scenariusze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Best </a:t>
            </a:r>
            <a:r>
              <a:rPr lang="pl-PL" dirty="0" err="1"/>
              <a:t>practices</a:t>
            </a:r>
            <a:r>
              <a:rPr lang="pl-PL" dirty="0"/>
              <a:t> dla profesjonalnych testów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err="1"/>
              <a:t>Troubleshooting</a:t>
            </a:r>
            <a:r>
              <a:rPr lang="pl-PL" dirty="0"/>
              <a:t> i </a:t>
            </a:r>
            <a:r>
              <a:rPr lang="pl-PL" dirty="0" err="1"/>
              <a:t>debugging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2938144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8AC67D68-3B2B-F983-F445-5691032B1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570750"/>
            <a:ext cx="10890929" cy="13879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INSTALACJA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pole tekstowe 4">
            <a:extLst>
              <a:ext uri="{FF2B5EF4-FFF2-40B4-BE49-F238E27FC236}">
                <a16:creationId xmlns:a16="http://schemas.microsoft.com/office/drawing/2014/main" id="{2A51FCB5-B8BA-78EE-6FC3-8BA5112F2A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40753651"/>
              </p:ext>
            </p:extLst>
          </p:nvPr>
        </p:nvGraphicFramePr>
        <p:xfrm>
          <a:off x="640079" y="2559050"/>
          <a:ext cx="10890929" cy="373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9220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AC296D7-96E4-688B-071D-57B87CC61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PODSTAWOWA SKŁADNIA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9743F187-51CA-7B11-FDEF-893857BF5BBB}"/>
              </a:ext>
            </a:extLst>
          </p:cNvPr>
          <p:cNvSpPr txBox="1"/>
          <p:nvPr/>
        </p:nvSpPr>
        <p:spPr>
          <a:xfrm>
            <a:off x="640079" y="2930210"/>
            <a:ext cx="609805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dirty="0">
                <a:solidFill>
                  <a:srgbClr val="262626"/>
                </a:solidFill>
                <a:effectLst/>
                <a:latin typeface="Courier" panose="02070309020205020404" pitchFamily="49" charset="0"/>
              </a:rPr>
              <a:t>from </a:t>
            </a:r>
            <a:r>
              <a:rPr lang="pl-PL" dirty="0" err="1">
                <a:solidFill>
                  <a:srgbClr val="262626"/>
                </a:solidFill>
                <a:effectLst/>
                <a:latin typeface="Courier" panose="02070309020205020404" pitchFamily="49" charset="0"/>
              </a:rPr>
              <a:t>locust</a:t>
            </a:r>
            <a:r>
              <a:rPr lang="pl-PL" dirty="0">
                <a:solidFill>
                  <a:srgbClr val="262626"/>
                </a:solidFill>
                <a:effectLst/>
                <a:latin typeface="Courier" panose="02070309020205020404" pitchFamily="49" charset="0"/>
              </a:rPr>
              <a:t> import </a:t>
            </a:r>
            <a:r>
              <a:rPr lang="pl-PL" dirty="0" err="1">
                <a:solidFill>
                  <a:srgbClr val="262626"/>
                </a:solidFill>
                <a:effectLst/>
                <a:latin typeface="Courier" panose="02070309020205020404" pitchFamily="49" charset="0"/>
              </a:rPr>
              <a:t>HttpUser</a:t>
            </a:r>
            <a:r>
              <a:rPr lang="pl-PL" dirty="0">
                <a:solidFill>
                  <a:srgbClr val="262626"/>
                </a:solidFill>
                <a:effectLst/>
                <a:latin typeface="Courier" panose="02070309020205020404" pitchFamily="49" charset="0"/>
              </a:rPr>
              <a:t>, </a:t>
            </a:r>
            <a:r>
              <a:rPr lang="pl-PL" dirty="0" err="1">
                <a:solidFill>
                  <a:srgbClr val="262626"/>
                </a:solidFill>
                <a:effectLst/>
                <a:latin typeface="Courier" panose="02070309020205020404" pitchFamily="49" charset="0"/>
              </a:rPr>
              <a:t>task</a:t>
            </a:r>
            <a:r>
              <a:rPr lang="pl-PL" dirty="0">
                <a:solidFill>
                  <a:srgbClr val="262626"/>
                </a:solidFill>
                <a:effectLst/>
                <a:latin typeface="Courier" panose="02070309020205020404" pitchFamily="49" charset="0"/>
              </a:rPr>
              <a:t>, </a:t>
            </a:r>
            <a:r>
              <a:rPr lang="pl-PL" dirty="0" err="1">
                <a:solidFill>
                  <a:srgbClr val="262626"/>
                </a:solidFill>
                <a:effectLst/>
                <a:latin typeface="Courier" panose="02070309020205020404" pitchFamily="49" charset="0"/>
              </a:rPr>
              <a:t>between</a:t>
            </a:r>
            <a:endParaRPr lang="pl-PL" dirty="0">
              <a:solidFill>
                <a:srgbClr val="262626"/>
              </a:solidFill>
              <a:effectLst/>
              <a:latin typeface="Courier" panose="02070309020205020404" pitchFamily="49" charset="0"/>
            </a:endParaRPr>
          </a:p>
          <a:p>
            <a:r>
              <a:rPr lang="pl-PL" dirty="0" err="1">
                <a:solidFill>
                  <a:srgbClr val="262626"/>
                </a:solidFill>
                <a:effectLst/>
                <a:latin typeface="Courier" panose="02070309020205020404" pitchFamily="49" charset="0"/>
              </a:rPr>
              <a:t>class</a:t>
            </a:r>
            <a:r>
              <a:rPr lang="pl-PL" dirty="0">
                <a:solidFill>
                  <a:srgbClr val="262626"/>
                </a:solidFill>
                <a:effectLst/>
                <a:latin typeface="Courier" panose="02070309020205020404" pitchFamily="49" charset="0"/>
              </a:rPr>
              <a:t> </a:t>
            </a:r>
            <a:r>
              <a:rPr lang="pl-PL" dirty="0" err="1">
                <a:solidFill>
                  <a:srgbClr val="262626"/>
                </a:solidFill>
                <a:effectLst/>
                <a:latin typeface="Courier" panose="02070309020205020404" pitchFamily="49" charset="0"/>
              </a:rPr>
              <a:t>MyUser</a:t>
            </a:r>
            <a:r>
              <a:rPr lang="pl-PL" dirty="0">
                <a:solidFill>
                  <a:srgbClr val="262626"/>
                </a:solidFill>
                <a:effectLst/>
                <a:latin typeface="Courier" panose="02070309020205020404" pitchFamily="49" charset="0"/>
              </a:rPr>
              <a:t>(</a:t>
            </a:r>
            <a:r>
              <a:rPr lang="pl-PL" dirty="0" err="1">
                <a:solidFill>
                  <a:srgbClr val="262626"/>
                </a:solidFill>
                <a:effectLst/>
                <a:latin typeface="Courier" panose="02070309020205020404" pitchFamily="49" charset="0"/>
              </a:rPr>
              <a:t>HttpUser</a:t>
            </a:r>
            <a:r>
              <a:rPr lang="pl-PL" dirty="0">
                <a:solidFill>
                  <a:srgbClr val="262626"/>
                </a:solidFill>
                <a:effectLst/>
                <a:latin typeface="Courier" panose="02070309020205020404" pitchFamily="49" charset="0"/>
              </a:rPr>
              <a:t>):</a:t>
            </a:r>
          </a:p>
          <a:p>
            <a:r>
              <a:rPr lang="pl-PL" dirty="0">
                <a:solidFill>
                  <a:srgbClr val="262626"/>
                </a:solidFill>
                <a:latin typeface="Courier" panose="02070309020205020404" pitchFamily="49" charset="0"/>
              </a:rPr>
              <a:t>   </a:t>
            </a:r>
            <a:r>
              <a:rPr lang="pl-PL" dirty="0" err="1">
                <a:solidFill>
                  <a:srgbClr val="262626"/>
                </a:solidFill>
                <a:effectLst/>
                <a:latin typeface="Courier" panose="02070309020205020404" pitchFamily="49" charset="0"/>
              </a:rPr>
              <a:t>wait_time</a:t>
            </a:r>
            <a:r>
              <a:rPr lang="pl-PL" dirty="0">
                <a:solidFill>
                  <a:srgbClr val="262626"/>
                </a:solidFill>
                <a:effectLst/>
                <a:latin typeface="Courier" panose="02070309020205020404" pitchFamily="49" charset="0"/>
              </a:rPr>
              <a:t> = </a:t>
            </a:r>
            <a:r>
              <a:rPr lang="pl-PL" dirty="0" err="1">
                <a:solidFill>
                  <a:srgbClr val="262626"/>
                </a:solidFill>
                <a:effectLst/>
                <a:latin typeface="Courier" panose="02070309020205020404" pitchFamily="49" charset="0"/>
              </a:rPr>
              <a:t>between</a:t>
            </a:r>
            <a:r>
              <a:rPr lang="pl-PL" dirty="0">
                <a:solidFill>
                  <a:srgbClr val="262626"/>
                </a:solidFill>
                <a:effectLst/>
                <a:latin typeface="Courier" panose="02070309020205020404" pitchFamily="49" charset="0"/>
              </a:rPr>
              <a:t>(1, 3)</a:t>
            </a:r>
          </a:p>
          <a:p>
            <a:endParaRPr lang="pl-PL" dirty="0">
              <a:solidFill>
                <a:srgbClr val="262626"/>
              </a:solidFill>
              <a:effectLst/>
              <a:latin typeface="Courier" panose="02070309020205020404" pitchFamily="49" charset="0"/>
            </a:endParaRPr>
          </a:p>
          <a:p>
            <a:r>
              <a:rPr lang="pl-PL" dirty="0">
                <a:solidFill>
                  <a:srgbClr val="262626"/>
                </a:solidFill>
                <a:latin typeface="Courier" panose="02070309020205020404" pitchFamily="49" charset="0"/>
              </a:rPr>
              <a:t>   </a:t>
            </a:r>
            <a:r>
              <a:rPr lang="pl-PL" dirty="0">
                <a:solidFill>
                  <a:srgbClr val="262626"/>
                </a:solidFill>
                <a:effectLst/>
                <a:latin typeface="Courier" panose="02070309020205020404" pitchFamily="49" charset="0"/>
              </a:rPr>
              <a:t>@</a:t>
            </a:r>
            <a:r>
              <a:rPr lang="pl-PL" dirty="0" err="1">
                <a:solidFill>
                  <a:srgbClr val="262626"/>
                </a:solidFill>
                <a:effectLst/>
                <a:latin typeface="Courier" panose="02070309020205020404" pitchFamily="49" charset="0"/>
              </a:rPr>
              <a:t>task</a:t>
            </a:r>
            <a:endParaRPr lang="pl-PL" dirty="0">
              <a:solidFill>
                <a:srgbClr val="262626"/>
              </a:solidFill>
              <a:effectLst/>
              <a:latin typeface="Courier" panose="02070309020205020404" pitchFamily="49" charset="0"/>
            </a:endParaRPr>
          </a:p>
          <a:p>
            <a:r>
              <a:rPr lang="pl-PL" dirty="0">
                <a:solidFill>
                  <a:srgbClr val="262626"/>
                </a:solidFill>
                <a:latin typeface="Courier" panose="02070309020205020404" pitchFamily="49" charset="0"/>
              </a:rPr>
              <a:t>   </a:t>
            </a:r>
            <a:r>
              <a:rPr lang="pl-PL" dirty="0">
                <a:solidFill>
                  <a:srgbClr val="262626"/>
                </a:solidFill>
                <a:effectLst/>
                <a:latin typeface="Courier" panose="02070309020205020404" pitchFamily="49" charset="0"/>
              </a:rPr>
              <a:t>def </a:t>
            </a:r>
            <a:r>
              <a:rPr lang="pl-PL" dirty="0" err="1">
                <a:solidFill>
                  <a:srgbClr val="262626"/>
                </a:solidFill>
                <a:effectLst/>
                <a:latin typeface="Courier" panose="02070309020205020404" pitchFamily="49" charset="0"/>
              </a:rPr>
              <a:t>hello_world</a:t>
            </a:r>
            <a:r>
              <a:rPr lang="pl-PL" dirty="0">
                <a:solidFill>
                  <a:srgbClr val="262626"/>
                </a:solidFill>
                <a:effectLst/>
                <a:latin typeface="Courier" panose="02070309020205020404" pitchFamily="49" charset="0"/>
              </a:rPr>
              <a:t>(</a:t>
            </a:r>
            <a:r>
              <a:rPr lang="pl-PL" dirty="0" err="1">
                <a:solidFill>
                  <a:srgbClr val="262626"/>
                </a:solidFill>
                <a:effectLst/>
                <a:latin typeface="Courier" panose="02070309020205020404" pitchFamily="49" charset="0"/>
              </a:rPr>
              <a:t>self</a:t>
            </a:r>
            <a:r>
              <a:rPr lang="pl-PL" dirty="0">
                <a:solidFill>
                  <a:srgbClr val="262626"/>
                </a:solidFill>
                <a:effectLst/>
                <a:latin typeface="Courier" panose="02070309020205020404" pitchFamily="49" charset="0"/>
              </a:rPr>
              <a:t>):</a:t>
            </a:r>
          </a:p>
          <a:p>
            <a:r>
              <a:rPr lang="pl-PL" dirty="0">
                <a:solidFill>
                  <a:srgbClr val="262626"/>
                </a:solidFill>
                <a:effectLst/>
                <a:latin typeface="Courier" panose="02070309020205020404" pitchFamily="49" charset="0"/>
              </a:rPr>
              <a:t>	</a:t>
            </a:r>
            <a:r>
              <a:rPr lang="pl-PL" dirty="0" err="1">
                <a:solidFill>
                  <a:srgbClr val="262626"/>
                </a:solidFill>
                <a:effectLst/>
                <a:latin typeface="Courier" panose="02070309020205020404" pitchFamily="49" charset="0"/>
              </a:rPr>
              <a:t>self.client.get</a:t>
            </a:r>
            <a:r>
              <a:rPr lang="pl-PL" dirty="0">
                <a:solidFill>
                  <a:srgbClr val="262626"/>
                </a:solidFill>
                <a:effectLst/>
                <a:latin typeface="Courier" panose="02070309020205020404" pitchFamily="49" charset="0"/>
              </a:rPr>
              <a:t>("/")</a:t>
            </a:r>
          </a:p>
        </p:txBody>
      </p:sp>
      <p:cxnSp>
        <p:nvCxnSpPr>
          <p:cNvPr id="7" name="Łącznik prosty 6">
            <a:extLst>
              <a:ext uri="{FF2B5EF4-FFF2-40B4-BE49-F238E27FC236}">
                <a16:creationId xmlns:a16="http://schemas.microsoft.com/office/drawing/2014/main" id="{95CDBDB6-E41B-936B-7AF1-861762247001}"/>
              </a:ext>
            </a:extLst>
          </p:cNvPr>
          <p:cNvCxnSpPr/>
          <p:nvPr/>
        </p:nvCxnSpPr>
        <p:spPr>
          <a:xfrm>
            <a:off x="7010400" y="2669628"/>
            <a:ext cx="0" cy="32897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ole tekstowe 7">
            <a:extLst>
              <a:ext uri="{FF2B5EF4-FFF2-40B4-BE49-F238E27FC236}">
                <a16:creationId xmlns:a16="http://schemas.microsoft.com/office/drawing/2014/main" id="{DA9D2FDE-6278-E521-B757-37FDD5FBC3A0}"/>
              </a:ext>
            </a:extLst>
          </p:cNvPr>
          <p:cNvSpPr txBox="1"/>
          <p:nvPr/>
        </p:nvSpPr>
        <p:spPr>
          <a:xfrm>
            <a:off x="7282664" y="2930210"/>
            <a:ext cx="2816773" cy="367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 err="1"/>
              <a:t>HttpUser</a:t>
            </a:r>
            <a:r>
              <a:rPr lang="pl-PL" dirty="0"/>
              <a:t> Klasa bazowa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3E8FF0A8-654E-105B-0C41-E1B7C120124F}"/>
              </a:ext>
            </a:extLst>
          </p:cNvPr>
          <p:cNvSpPr txBox="1"/>
          <p:nvPr/>
        </p:nvSpPr>
        <p:spPr>
          <a:xfrm>
            <a:off x="7282663" y="3429000"/>
            <a:ext cx="4446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 err="1"/>
              <a:t>wait_time</a:t>
            </a:r>
            <a:r>
              <a:rPr lang="pl-PL" dirty="0"/>
              <a:t>  - czekanie między zadaniami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C6D1334D-8593-0F2F-E12A-75630ECAB844}"/>
              </a:ext>
            </a:extLst>
          </p:cNvPr>
          <p:cNvSpPr txBox="1"/>
          <p:nvPr/>
        </p:nvSpPr>
        <p:spPr>
          <a:xfrm>
            <a:off x="7282663" y="4129831"/>
            <a:ext cx="4446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@</a:t>
            </a:r>
            <a:r>
              <a:rPr lang="pl-PL" dirty="0" err="1"/>
              <a:t>task</a:t>
            </a:r>
            <a:r>
              <a:rPr lang="pl-PL" dirty="0"/>
              <a:t>  - dekorator oznaczający zadanie</a:t>
            </a: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D4F364DB-EA06-2A6B-FC42-9E64F55F2CDB}"/>
              </a:ext>
            </a:extLst>
          </p:cNvPr>
          <p:cNvSpPr txBox="1"/>
          <p:nvPr/>
        </p:nvSpPr>
        <p:spPr>
          <a:xfrm>
            <a:off x="7282663" y="4592203"/>
            <a:ext cx="45940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 err="1"/>
              <a:t>self.client</a:t>
            </a:r>
            <a:r>
              <a:rPr lang="pl-PL" dirty="0"/>
              <a:t>  - http </a:t>
            </a:r>
            <a:r>
              <a:rPr lang="pl-PL" dirty="0" err="1"/>
              <a:t>client</a:t>
            </a:r>
            <a:r>
              <a:rPr lang="pl-PL" dirty="0"/>
              <a:t> z wbudowanym </a:t>
            </a:r>
            <a:r>
              <a:rPr lang="pl-PL" dirty="0" err="1"/>
              <a:t>timeoutem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36440565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9DF704F-2407-8961-DEF1-5DD8AB1E6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Uruchomienie 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DD8AD7DB-D244-43CD-B478-5710DF41AB41}"/>
              </a:ext>
            </a:extLst>
          </p:cNvPr>
          <p:cNvSpPr txBox="1"/>
          <p:nvPr/>
        </p:nvSpPr>
        <p:spPr>
          <a:xfrm>
            <a:off x="1786757" y="3429000"/>
            <a:ext cx="80299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dirty="0" err="1">
                <a:solidFill>
                  <a:srgbClr val="262626"/>
                </a:solidFill>
                <a:effectLst/>
                <a:latin typeface="Courier" panose="02070309020205020404" pitchFamily="49" charset="0"/>
              </a:rPr>
              <a:t>locust</a:t>
            </a:r>
            <a:r>
              <a:rPr lang="pl-PL" dirty="0">
                <a:solidFill>
                  <a:srgbClr val="262626"/>
                </a:solidFill>
                <a:effectLst/>
                <a:latin typeface="Courier" panose="02070309020205020404" pitchFamily="49" charset="0"/>
              </a:rPr>
              <a:t> -f </a:t>
            </a:r>
            <a:r>
              <a:rPr lang="pl-PL" dirty="0" err="1">
                <a:solidFill>
                  <a:srgbClr val="262626"/>
                </a:solidFill>
                <a:effectLst/>
                <a:latin typeface="Courier" panose="02070309020205020404" pitchFamily="49" charset="0"/>
              </a:rPr>
              <a:t>locustfile.py</a:t>
            </a:r>
            <a:r>
              <a:rPr lang="pl-PL" dirty="0">
                <a:solidFill>
                  <a:srgbClr val="262626"/>
                </a:solidFill>
                <a:effectLst/>
                <a:latin typeface="Courier" panose="02070309020205020404" pitchFamily="49" charset="0"/>
              </a:rPr>
              <a:t> --host=http://localhost:8000</a:t>
            </a:r>
          </a:p>
        </p:txBody>
      </p:sp>
    </p:spTree>
    <p:extLst>
      <p:ext uri="{BB962C8B-B14F-4D97-AF65-F5344CB8AC3E}">
        <p14:creationId xmlns:p14="http://schemas.microsoft.com/office/powerpoint/2010/main" val="6640733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753FE01-9DCB-5E26-925B-E647FC186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Komponent</a:t>
            </a:r>
          </a:p>
        </p:txBody>
      </p:sp>
      <p:pic>
        <p:nvPicPr>
          <p:cNvPr id="9" name="Obraz 8" descr="Obraz zawierający tekst, zrzut ekranu, oprogramowanie, Oprogramowanie multimedialne&#10;&#10;Opis wygenerowany automatycznie">
            <a:extLst>
              <a:ext uri="{FF2B5EF4-FFF2-40B4-BE49-F238E27FC236}">
                <a16:creationId xmlns:a16="http://schemas.microsoft.com/office/drawing/2014/main" id="{69600251-D2C5-96F2-08A0-F6A3056AA7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794" y="1693637"/>
            <a:ext cx="7327900" cy="486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47134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7F9C3F5-DC22-6E2C-B278-8575655B7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b="1" dirty="0" err="1">
                <a:solidFill>
                  <a:srgbClr val="244877"/>
                </a:solidFill>
                <a:effectLst/>
                <a:latin typeface="Helvetica" pitchFamily="2" charset="0"/>
              </a:rPr>
              <a:t>Wait</a:t>
            </a:r>
            <a:r>
              <a:rPr lang="pl-PL" b="1" dirty="0">
                <a:solidFill>
                  <a:srgbClr val="244877"/>
                </a:solidFill>
                <a:effectLst/>
                <a:latin typeface="Helvetica" pitchFamily="2" charset="0"/>
              </a:rPr>
              <a:t> Time </a:t>
            </a:r>
            <a:br>
              <a:rPr lang="pl-PL" dirty="0">
                <a:solidFill>
                  <a:srgbClr val="244877"/>
                </a:solidFill>
                <a:effectLst/>
                <a:latin typeface="Helvetica" pitchFamily="2" charset="0"/>
              </a:rPr>
            </a:b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E77CBA0-BBFC-F37C-C5BD-D66266E2A3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4606834" cy="3566160"/>
          </a:xfrm>
        </p:spPr>
        <p:txBody>
          <a:bodyPr/>
          <a:lstStyle/>
          <a:p>
            <a:pPr marL="0" indent="0">
              <a:buNone/>
            </a:pPr>
            <a:r>
              <a:rPr lang="pl-PL" b="1" u="sng" dirty="0">
                <a:solidFill>
                  <a:srgbClr val="262626"/>
                </a:solidFill>
              </a:rPr>
              <a:t>STAŁY CZAS:</a:t>
            </a:r>
            <a:endParaRPr lang="pl-PL" b="1" u="sng" dirty="0">
              <a:solidFill>
                <a:srgbClr val="262626"/>
              </a:solidFill>
              <a:effectLst/>
            </a:endParaRPr>
          </a:p>
          <a:p>
            <a:pPr marL="0" indent="0">
              <a:buNone/>
            </a:pPr>
            <a:r>
              <a:rPr lang="pl-PL" dirty="0">
                <a:solidFill>
                  <a:srgbClr val="262626"/>
                </a:solidFill>
                <a:effectLst/>
                <a:latin typeface="Courier" panose="02070309020205020404" pitchFamily="49" charset="0"/>
              </a:rPr>
              <a:t>from </a:t>
            </a:r>
            <a:r>
              <a:rPr lang="pl-PL" dirty="0" err="1">
                <a:solidFill>
                  <a:srgbClr val="262626"/>
                </a:solidFill>
                <a:effectLst/>
                <a:latin typeface="Courier" panose="02070309020205020404" pitchFamily="49" charset="0"/>
              </a:rPr>
              <a:t>locust</a:t>
            </a:r>
            <a:r>
              <a:rPr lang="pl-PL" dirty="0">
                <a:solidFill>
                  <a:srgbClr val="262626"/>
                </a:solidFill>
                <a:effectLst/>
                <a:latin typeface="Courier" panose="02070309020205020404" pitchFamily="49" charset="0"/>
              </a:rPr>
              <a:t> import </a:t>
            </a:r>
            <a:r>
              <a:rPr lang="pl-PL" dirty="0" err="1">
                <a:solidFill>
                  <a:srgbClr val="262626"/>
                </a:solidFill>
                <a:effectLst/>
                <a:latin typeface="Courier" panose="02070309020205020404" pitchFamily="49" charset="0"/>
              </a:rPr>
              <a:t>constant</a:t>
            </a:r>
            <a:endParaRPr lang="pl-PL" dirty="0">
              <a:solidFill>
                <a:srgbClr val="262626"/>
              </a:solidFill>
              <a:effectLst/>
              <a:latin typeface="Courier" panose="02070309020205020404" pitchFamily="49" charset="0"/>
            </a:endParaRPr>
          </a:p>
          <a:p>
            <a:pPr marL="0" indent="0">
              <a:buNone/>
            </a:pPr>
            <a:r>
              <a:rPr lang="pl-PL" dirty="0" err="1">
                <a:solidFill>
                  <a:srgbClr val="262626"/>
                </a:solidFill>
                <a:effectLst/>
                <a:latin typeface="Courier" panose="02070309020205020404" pitchFamily="49" charset="0"/>
              </a:rPr>
              <a:t>wait_time</a:t>
            </a:r>
            <a:r>
              <a:rPr lang="pl-PL" dirty="0">
                <a:solidFill>
                  <a:srgbClr val="262626"/>
                </a:solidFill>
                <a:effectLst/>
                <a:latin typeface="Courier" panose="02070309020205020404" pitchFamily="49" charset="0"/>
              </a:rPr>
              <a:t> = </a:t>
            </a:r>
            <a:r>
              <a:rPr lang="pl-PL" dirty="0" err="1">
                <a:solidFill>
                  <a:srgbClr val="262626"/>
                </a:solidFill>
                <a:effectLst/>
                <a:latin typeface="Courier" panose="02070309020205020404" pitchFamily="49" charset="0"/>
              </a:rPr>
              <a:t>constant</a:t>
            </a:r>
            <a:r>
              <a:rPr lang="pl-PL" dirty="0">
                <a:solidFill>
                  <a:srgbClr val="262626"/>
                </a:solidFill>
                <a:effectLst/>
                <a:latin typeface="Courier" panose="02070309020205020404" pitchFamily="49" charset="0"/>
              </a:rPr>
              <a:t>(3)</a:t>
            </a:r>
          </a:p>
          <a:p>
            <a:pPr marL="0" indent="0">
              <a:buNone/>
            </a:pPr>
            <a:endParaRPr lang="pl-PL" dirty="0"/>
          </a:p>
          <a:p>
            <a:pPr marL="0" indent="0">
              <a:buNone/>
            </a:pPr>
            <a:r>
              <a:rPr lang="pl-PL" b="1" u="sng" dirty="0"/>
              <a:t>LOSOWY CZAS:</a:t>
            </a:r>
          </a:p>
          <a:p>
            <a:pPr marL="0" indent="0">
              <a:buNone/>
            </a:pPr>
            <a:r>
              <a:rPr lang="pl-PL" dirty="0">
                <a:solidFill>
                  <a:srgbClr val="262626"/>
                </a:solidFill>
                <a:effectLst/>
                <a:latin typeface="Courier" panose="02070309020205020404" pitchFamily="49" charset="0"/>
              </a:rPr>
              <a:t>from </a:t>
            </a:r>
            <a:r>
              <a:rPr lang="pl-PL" dirty="0" err="1">
                <a:solidFill>
                  <a:srgbClr val="262626"/>
                </a:solidFill>
                <a:effectLst/>
                <a:latin typeface="Courier" panose="02070309020205020404" pitchFamily="49" charset="0"/>
              </a:rPr>
              <a:t>locust</a:t>
            </a:r>
            <a:r>
              <a:rPr lang="pl-PL" dirty="0">
                <a:solidFill>
                  <a:srgbClr val="262626"/>
                </a:solidFill>
                <a:effectLst/>
                <a:latin typeface="Courier" panose="02070309020205020404" pitchFamily="49" charset="0"/>
              </a:rPr>
              <a:t> import </a:t>
            </a:r>
            <a:r>
              <a:rPr lang="pl-PL" dirty="0" err="1">
                <a:solidFill>
                  <a:srgbClr val="262626"/>
                </a:solidFill>
                <a:effectLst/>
                <a:latin typeface="Courier" panose="02070309020205020404" pitchFamily="49" charset="0"/>
              </a:rPr>
              <a:t>between</a:t>
            </a:r>
            <a:endParaRPr lang="pl-PL" dirty="0">
              <a:solidFill>
                <a:srgbClr val="262626"/>
              </a:solidFill>
              <a:effectLst/>
              <a:latin typeface="Courier" panose="02070309020205020404" pitchFamily="49" charset="0"/>
            </a:endParaRPr>
          </a:p>
          <a:p>
            <a:pPr marL="0" indent="0">
              <a:buNone/>
            </a:pPr>
            <a:r>
              <a:rPr lang="pl-PL" dirty="0" err="1">
                <a:solidFill>
                  <a:srgbClr val="262626"/>
                </a:solidFill>
                <a:effectLst/>
                <a:latin typeface="Courier" panose="02070309020205020404" pitchFamily="49" charset="0"/>
              </a:rPr>
              <a:t>wait_time</a:t>
            </a:r>
            <a:r>
              <a:rPr lang="pl-PL" dirty="0">
                <a:solidFill>
                  <a:srgbClr val="262626"/>
                </a:solidFill>
                <a:effectLst/>
                <a:latin typeface="Courier" panose="02070309020205020404" pitchFamily="49" charset="0"/>
              </a:rPr>
              <a:t> = </a:t>
            </a:r>
            <a:r>
              <a:rPr lang="pl-PL" dirty="0" err="1">
                <a:solidFill>
                  <a:srgbClr val="262626"/>
                </a:solidFill>
                <a:effectLst/>
                <a:latin typeface="Courier" panose="02070309020205020404" pitchFamily="49" charset="0"/>
              </a:rPr>
              <a:t>between</a:t>
            </a:r>
            <a:r>
              <a:rPr lang="pl-PL" dirty="0">
                <a:solidFill>
                  <a:srgbClr val="262626"/>
                </a:solidFill>
                <a:effectLst/>
                <a:latin typeface="Courier" panose="02070309020205020404" pitchFamily="49" charset="0"/>
              </a:rPr>
              <a:t>(1, 5)</a:t>
            </a:r>
          </a:p>
          <a:p>
            <a:pPr marL="0" indent="0">
              <a:buNone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89276747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3D502A9-ECFB-E641-2490-9AF2AF9AE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Scenariusze 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6562109-29FC-B240-610C-48098C8081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6730936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61E4F09-A315-6819-1F1D-7217DF83B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Smoke</a:t>
            </a:r>
            <a:r>
              <a:rPr lang="pl-PL" dirty="0"/>
              <a:t> Test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EC99CAC0-EA18-CAB6-47ED-9B0C95F3266B}"/>
              </a:ext>
            </a:extLst>
          </p:cNvPr>
          <p:cNvSpPr txBox="1"/>
          <p:nvPr/>
        </p:nvSpPr>
        <p:spPr>
          <a:xfrm>
            <a:off x="1148671" y="2468881"/>
            <a:ext cx="108909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b="0" i="0" dirty="0" err="1">
                <a:effectLst/>
                <a:latin typeface="anthropicSans"/>
              </a:rPr>
              <a:t>locust</a:t>
            </a:r>
            <a:r>
              <a:rPr lang="pl-PL" b="0" i="0" dirty="0">
                <a:effectLst/>
                <a:latin typeface="anthropicSans"/>
              </a:rPr>
              <a:t> -f </a:t>
            </a:r>
            <a:r>
              <a:rPr lang="pl-PL" b="0" i="0" dirty="0" err="1">
                <a:effectLst/>
                <a:latin typeface="anthropicSans"/>
              </a:rPr>
              <a:t>locustfile.py</a:t>
            </a:r>
            <a:r>
              <a:rPr lang="pl-PL" b="0" i="0" dirty="0">
                <a:effectLst/>
                <a:latin typeface="anthropicSans"/>
              </a:rPr>
              <a:t> --host=</a:t>
            </a:r>
            <a:r>
              <a:rPr lang="pl-PL" b="0" i="0" u="sng" dirty="0">
                <a:effectLst/>
                <a:latin typeface="anthropic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</a:t>
            </a:r>
            <a:r>
              <a:rPr lang="pl-PL" b="0" i="0" u="sng" dirty="0">
                <a:effectLst/>
                <a:latin typeface="anthropicSans"/>
              </a:rPr>
              <a:t>://localhost:8000</a:t>
            </a:r>
            <a:r>
              <a:rPr lang="pl-PL" b="0" i="0" dirty="0">
                <a:effectLst/>
                <a:latin typeface="anthropicSans"/>
              </a:rPr>
              <a:t>  --</a:t>
            </a:r>
            <a:r>
              <a:rPr lang="pl-PL" b="0" i="0" dirty="0" err="1">
                <a:effectLst/>
                <a:latin typeface="anthropicSans"/>
              </a:rPr>
              <a:t>users</a:t>
            </a:r>
            <a:r>
              <a:rPr lang="pl-PL" b="0" i="0" dirty="0">
                <a:effectLst/>
                <a:latin typeface="anthropicSans"/>
              </a:rPr>
              <a:t> 100 --</a:t>
            </a:r>
            <a:r>
              <a:rPr lang="pl-PL" b="0" i="0" dirty="0" err="1">
                <a:effectLst/>
                <a:latin typeface="anthropicSans"/>
              </a:rPr>
              <a:t>spawn-rate</a:t>
            </a:r>
            <a:r>
              <a:rPr lang="pl-PL" b="0" i="0" dirty="0">
                <a:effectLst/>
                <a:latin typeface="anthropicSans"/>
              </a:rPr>
              <a:t> 10 --run-</a:t>
            </a:r>
            <a:r>
              <a:rPr lang="pl-PL" b="0" i="0" dirty="0" err="1">
                <a:effectLst/>
                <a:latin typeface="anthropicSans"/>
              </a:rPr>
              <a:t>time</a:t>
            </a:r>
            <a:r>
              <a:rPr lang="pl-PL" b="0" i="0" dirty="0">
                <a:effectLst/>
                <a:latin typeface="anthropicSans"/>
              </a:rPr>
              <a:t> 5m</a:t>
            </a:r>
            <a:endParaRPr lang="pl-PL" dirty="0"/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853F175E-6B04-84F2-7F74-E2BFAD8045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140381"/>
              </p:ext>
            </p:extLst>
          </p:nvPr>
        </p:nvGraphicFramePr>
        <p:xfrm>
          <a:off x="639763" y="3136265"/>
          <a:ext cx="10891836" cy="2560320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5445918">
                  <a:extLst>
                    <a:ext uri="{9D8B030D-6E8A-4147-A177-3AD203B41FA5}">
                      <a16:colId xmlns:a16="http://schemas.microsoft.com/office/drawing/2014/main" val="623826370"/>
                    </a:ext>
                  </a:extLst>
                </a:gridCol>
                <a:gridCol w="5445918">
                  <a:extLst>
                    <a:ext uri="{9D8B030D-6E8A-4147-A177-3AD203B41FA5}">
                      <a16:colId xmlns:a16="http://schemas.microsoft.com/office/drawing/2014/main" val="243599621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pl-PL" sz="1800" dirty="0"/>
                        <a:t>Element</a:t>
                      </a: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1800" dirty="0"/>
                        <a:t>Znaczenie</a:t>
                      </a: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219254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pl-PL" sz="1800"/>
                        <a:t>locust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l-PL" sz="1800"/>
                        <a:t>Uruchamia narzędzie Locust (test obciążeniowy)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66087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pl-PL" sz="1800"/>
                        <a:t>-f locustfile.py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l-PL" sz="1800"/>
                        <a:t>Wskazuje plik z definicją scenariuszy testowych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766955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pl-PL" sz="1800" dirty="0"/>
                        <a:t>--host=</a:t>
                      </a:r>
                      <a:r>
                        <a:rPr lang="pl-PL" sz="1800" dirty="0" err="1"/>
                        <a:t>https</a:t>
                      </a:r>
                      <a:r>
                        <a:rPr lang="pl-PL" sz="1800" dirty="0"/>
                        <a:t>://</a:t>
                      </a:r>
                      <a:r>
                        <a:rPr lang="pl-PL" sz="1800" dirty="0" err="1"/>
                        <a:t>api.example.com</a:t>
                      </a:r>
                      <a:endParaRPr lang="pl-PL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l-PL" sz="1800"/>
                        <a:t>Docelowy adres API do testowania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925197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pl-PL" sz="1800"/>
                        <a:t>--users 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l-PL" sz="1800"/>
                        <a:t>Maksymalnie 100 symulowanych użytkowników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96098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pl-PL" sz="1800"/>
                        <a:t>--spawn-rate 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l-PL" sz="1800"/>
                        <a:t>Dodaj 10 nowych użytkowników co sekundę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63212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pl-PL" sz="1800"/>
                        <a:t>--run-time 5m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l-PL" sz="1800" dirty="0"/>
                        <a:t>Test potrwa 5 minut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43208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741607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DB92F50-9EEE-1731-CF8D-2E3F205B9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LoadTest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BDCD9A0-57C4-BFC6-3CB7-3D5B1EF8DE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657" y="2633472"/>
            <a:ext cx="11419113" cy="3566160"/>
          </a:xfrm>
        </p:spPr>
        <p:txBody>
          <a:bodyPr/>
          <a:lstStyle/>
          <a:p>
            <a:pPr marL="0" indent="0">
              <a:buNone/>
            </a:pPr>
            <a:r>
              <a:rPr lang="pl-PL" dirty="0" err="1"/>
              <a:t>locust</a:t>
            </a:r>
            <a:r>
              <a:rPr lang="pl-PL" dirty="0"/>
              <a:t> -f </a:t>
            </a:r>
            <a:r>
              <a:rPr lang="pl-PL" dirty="0" err="1"/>
              <a:t>locustfile.py</a:t>
            </a:r>
            <a:r>
              <a:rPr lang="pl-PL" dirty="0"/>
              <a:t>  --host</a:t>
            </a:r>
            <a:r>
              <a:rPr lang="pl-PL" dirty="0">
                <a:solidFill>
                  <a:srgbClr val="EAECF0"/>
                </a:solidFill>
                <a:effectLst/>
              </a:rPr>
              <a:t>=</a:t>
            </a:r>
            <a:r>
              <a:rPr lang="pl-PL" dirty="0"/>
              <a:t>http://localhost:8000 --</a:t>
            </a:r>
            <a:r>
              <a:rPr lang="pl-PL" dirty="0" err="1"/>
              <a:t>users</a:t>
            </a:r>
            <a:r>
              <a:rPr lang="pl-PL" dirty="0"/>
              <a:t> </a:t>
            </a:r>
            <a:r>
              <a:rPr lang="pl-PL" dirty="0">
                <a:solidFill>
                  <a:srgbClr val="5EEDED"/>
                </a:solidFill>
                <a:effectLst/>
              </a:rPr>
              <a:t>50</a:t>
            </a:r>
            <a:r>
              <a:rPr lang="pl-PL" dirty="0"/>
              <a:t>  --</a:t>
            </a:r>
            <a:r>
              <a:rPr lang="pl-PL" dirty="0" err="1"/>
              <a:t>spawn-rate</a:t>
            </a:r>
            <a:r>
              <a:rPr lang="pl-PL" dirty="0"/>
              <a:t> </a:t>
            </a:r>
            <a:r>
              <a:rPr lang="pl-PL" dirty="0">
                <a:solidFill>
                  <a:srgbClr val="5EEDED"/>
                </a:solidFill>
                <a:effectLst/>
              </a:rPr>
              <a:t>5</a:t>
            </a:r>
            <a:r>
              <a:rPr lang="pl-PL" dirty="0"/>
              <a:t> --run-</a:t>
            </a:r>
            <a:r>
              <a:rPr lang="pl-PL" dirty="0" err="1"/>
              <a:t>time</a:t>
            </a:r>
            <a:r>
              <a:rPr lang="pl-PL" dirty="0"/>
              <a:t> 2m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5EF1A2F1-F483-9FA6-121A-387526AD034F}"/>
              </a:ext>
            </a:extLst>
          </p:cNvPr>
          <p:cNvSpPr txBox="1"/>
          <p:nvPr/>
        </p:nvSpPr>
        <p:spPr>
          <a:xfrm>
            <a:off x="359230" y="3785963"/>
            <a:ext cx="11756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dirty="0" err="1"/>
              <a:t>locust</a:t>
            </a:r>
            <a:r>
              <a:rPr lang="pl-PL" dirty="0"/>
              <a:t> -f </a:t>
            </a:r>
            <a:r>
              <a:rPr lang="pl-PL" dirty="0" err="1"/>
              <a:t>locustfile.py</a:t>
            </a:r>
            <a:r>
              <a:rPr lang="pl-PL" dirty="0"/>
              <a:t>  --host</a:t>
            </a:r>
            <a:r>
              <a:rPr lang="pl-PL" dirty="0">
                <a:solidFill>
                  <a:srgbClr val="EAECF0"/>
                </a:solidFill>
                <a:effectLst/>
              </a:rPr>
              <a:t>=</a:t>
            </a:r>
            <a:r>
              <a:rPr lang="pl-PL" dirty="0"/>
              <a:t>http://localhost:8000 --</a:t>
            </a:r>
            <a:r>
              <a:rPr lang="pl-PL" dirty="0" err="1"/>
              <a:t>users</a:t>
            </a:r>
            <a:r>
              <a:rPr lang="pl-PL" dirty="0"/>
              <a:t> </a:t>
            </a:r>
            <a:r>
              <a:rPr lang="pl-PL" dirty="0">
                <a:solidFill>
                  <a:srgbClr val="5EEDED"/>
                </a:solidFill>
                <a:effectLst/>
              </a:rPr>
              <a:t>1000</a:t>
            </a:r>
            <a:r>
              <a:rPr lang="pl-PL" dirty="0"/>
              <a:t>  --</a:t>
            </a:r>
            <a:r>
              <a:rPr lang="pl-PL" dirty="0" err="1"/>
              <a:t>spawn-rate</a:t>
            </a:r>
            <a:r>
              <a:rPr lang="pl-PL" dirty="0"/>
              <a:t> </a:t>
            </a:r>
            <a:r>
              <a:rPr lang="pl-PL" dirty="0">
                <a:solidFill>
                  <a:srgbClr val="5EEDED"/>
                </a:solidFill>
                <a:effectLst/>
              </a:rPr>
              <a:t>50</a:t>
            </a:r>
            <a:r>
              <a:rPr lang="pl-PL" dirty="0"/>
              <a:t>  --run-</a:t>
            </a:r>
            <a:r>
              <a:rPr lang="pl-PL" dirty="0" err="1"/>
              <a:t>time</a:t>
            </a:r>
            <a:r>
              <a:rPr lang="pl-PL" dirty="0"/>
              <a:t> 10m</a:t>
            </a:r>
          </a:p>
        </p:txBody>
      </p:sp>
    </p:spTree>
    <p:extLst>
      <p:ext uri="{BB962C8B-B14F-4D97-AF65-F5344CB8AC3E}">
        <p14:creationId xmlns:p14="http://schemas.microsoft.com/office/powerpoint/2010/main" val="248662918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095" name="Straight Connector 4608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6096" name="Rectangle 46090">
            <a:extLst>
              <a:ext uri="{FF2B5EF4-FFF2-40B4-BE49-F238E27FC236}">
                <a16:creationId xmlns:a16="http://schemas.microsoft.com/office/drawing/2014/main" id="{CFD1D2CD-954D-4C4D-B505-05EAD159B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7D97B0CF-215C-035A-1EE1-1BBD8835D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117" y="952500"/>
            <a:ext cx="4124557" cy="35242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StresTesty</a:t>
            </a:r>
          </a:p>
        </p:txBody>
      </p:sp>
      <p:cxnSp>
        <p:nvCxnSpPr>
          <p:cNvPr id="46097" name="Straight Connector 46092">
            <a:extLst>
              <a:ext uri="{FF2B5EF4-FFF2-40B4-BE49-F238E27FC236}">
                <a16:creationId xmlns:a16="http://schemas.microsoft.com/office/drawing/2014/main" id="{A2D508B3-A66C-833E-D929-8DC2116356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2088" y="4882722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084" name="Picture 4" descr="Funny Cat Skull Jolly Roger Pirate Stock Vector (Royalty Free) 2201695739 |  Shutterstock">
            <a:extLst>
              <a:ext uri="{FF2B5EF4-FFF2-40B4-BE49-F238E27FC236}">
                <a16:creationId xmlns:a16="http://schemas.microsoft.com/office/drawing/2014/main" id="{6AFE1C56-60D3-01BF-AA20-C5DB544583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5" r="1789" b="1"/>
          <a:stretch>
            <a:fillRect/>
          </a:stretch>
        </p:blipFill>
        <p:spPr bwMode="auto">
          <a:xfrm>
            <a:off x="5261956" y="10"/>
            <a:ext cx="6930043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2390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021FDC3-EDD8-189E-4890-E8E07E962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Spike</a:t>
            </a:r>
            <a:r>
              <a:rPr lang="pl-PL" dirty="0"/>
              <a:t> </a:t>
            </a:r>
            <a:r>
              <a:rPr lang="pl-PL" dirty="0" err="1"/>
              <a:t>Tests</a:t>
            </a:r>
            <a:endParaRPr lang="pl-PL" dirty="0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0C20C34E-CB70-D7C6-9871-0A24B0939E64}"/>
              </a:ext>
            </a:extLst>
          </p:cNvPr>
          <p:cNvSpPr txBox="1"/>
          <p:nvPr/>
        </p:nvSpPr>
        <p:spPr>
          <a:xfrm>
            <a:off x="1191985" y="2501538"/>
            <a:ext cx="98080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dirty="0" err="1">
                <a:solidFill>
                  <a:srgbClr val="C57633"/>
                </a:solidFill>
                <a:effectLst/>
              </a:rPr>
              <a:t>locust</a:t>
            </a:r>
            <a:r>
              <a:rPr lang="pl-PL" dirty="0">
                <a:solidFill>
                  <a:srgbClr val="C57633"/>
                </a:solidFill>
                <a:effectLst/>
              </a:rPr>
              <a:t> </a:t>
            </a:r>
            <a:r>
              <a:rPr lang="pl-PL" dirty="0">
                <a:solidFill>
                  <a:srgbClr val="BCBEC4"/>
                </a:solidFill>
                <a:effectLst/>
              </a:rPr>
              <a:t>-f 6_locust_ecommerce_spike.py --host http://localhost:8000 -u </a:t>
            </a:r>
            <a:r>
              <a:rPr lang="pl-PL" dirty="0">
                <a:solidFill>
                  <a:srgbClr val="2AACB8"/>
                </a:solidFill>
                <a:effectLst/>
              </a:rPr>
              <a:t>1000 </a:t>
            </a:r>
            <a:r>
              <a:rPr lang="pl-PL" dirty="0">
                <a:solidFill>
                  <a:srgbClr val="BCBEC4"/>
                </a:solidFill>
                <a:effectLst/>
              </a:rPr>
              <a:t>-r </a:t>
            </a:r>
            <a:r>
              <a:rPr lang="pl-PL" dirty="0">
                <a:solidFill>
                  <a:srgbClr val="2AACB8"/>
                </a:solidFill>
                <a:effectLst/>
              </a:rPr>
              <a:t>200</a:t>
            </a:r>
            <a:endParaRPr lang="pl-PL" dirty="0">
              <a:solidFill>
                <a:srgbClr val="BCBEC4"/>
              </a:solidFill>
              <a:effectLst/>
            </a:endParaRP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B20C3A85-6C32-5751-BD44-59DF8953A9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7189886"/>
              </p:ext>
            </p:extLst>
          </p:nvPr>
        </p:nvGraphicFramePr>
        <p:xfrm>
          <a:off x="639763" y="3502025"/>
          <a:ext cx="10891836" cy="1828800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3630612">
                  <a:extLst>
                    <a:ext uri="{9D8B030D-6E8A-4147-A177-3AD203B41FA5}">
                      <a16:colId xmlns:a16="http://schemas.microsoft.com/office/drawing/2014/main" val="3751680188"/>
                    </a:ext>
                  </a:extLst>
                </a:gridCol>
                <a:gridCol w="3630612">
                  <a:extLst>
                    <a:ext uri="{9D8B030D-6E8A-4147-A177-3AD203B41FA5}">
                      <a16:colId xmlns:a16="http://schemas.microsoft.com/office/drawing/2014/main" val="2041581528"/>
                    </a:ext>
                  </a:extLst>
                </a:gridCol>
                <a:gridCol w="3630612">
                  <a:extLst>
                    <a:ext uri="{9D8B030D-6E8A-4147-A177-3AD203B41FA5}">
                      <a16:colId xmlns:a16="http://schemas.microsoft.com/office/drawing/2014/main" val="24194011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l-PL"/>
                        <a:t>Parametr</a:t>
                      </a: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/>
                        <a:t>Pełna nazwa</a:t>
                      </a: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Znaczenie</a:t>
                      </a: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89530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l-PL"/>
                        <a:t>-f 6_locust_ecommerce_spike.py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l-PL"/>
                        <a:t>--locustfile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l-PL"/>
                        <a:t>Plik ze scenariuszem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26760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l-PL"/>
                        <a:t>--host http://localhost:8000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l-PL"/>
                        <a:t>Host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l-PL"/>
                        <a:t>Lokalny serwer na porcie 8000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060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l-PL"/>
                        <a:t>-u 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l-PL"/>
                        <a:t>--users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l-PL"/>
                        <a:t>Maksymalnie </a:t>
                      </a:r>
                      <a:r>
                        <a:rPr lang="pl-PL" b="1"/>
                        <a:t>1000 użytkowników</a:t>
                      </a:r>
                      <a:endParaRPr lang="pl-PL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59414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l-PL"/>
                        <a:t>-r 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l-PL"/>
                        <a:t>--spawn-rate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l-PL" b="1" dirty="0"/>
                        <a:t>200 użytkowników na sekundę</a:t>
                      </a:r>
                      <a:endParaRPr lang="pl-PL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02372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28140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530CBE0-4AF8-DE36-6A60-4B2B87AA0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Endurance</a:t>
            </a:r>
            <a:r>
              <a:rPr lang="pl-PL" dirty="0"/>
              <a:t> </a:t>
            </a:r>
            <a:r>
              <a:rPr lang="pl-PL" dirty="0" err="1"/>
              <a:t>Testing</a:t>
            </a:r>
            <a:r>
              <a:rPr lang="pl-PL" dirty="0"/>
              <a:t>/</a:t>
            </a:r>
            <a:r>
              <a:rPr lang="pl-PL" dirty="0" err="1"/>
              <a:t>Soak</a:t>
            </a:r>
            <a:r>
              <a:rPr lang="pl-PL" dirty="0"/>
              <a:t> </a:t>
            </a:r>
            <a:r>
              <a:rPr lang="pl-PL" dirty="0" err="1"/>
              <a:t>Testing</a:t>
            </a:r>
            <a:endParaRPr lang="pl-PL" dirty="0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DA495C5B-91BC-50EC-0678-F05E846B7C12}"/>
              </a:ext>
            </a:extLst>
          </p:cNvPr>
          <p:cNvSpPr txBox="1"/>
          <p:nvPr/>
        </p:nvSpPr>
        <p:spPr>
          <a:xfrm>
            <a:off x="640079" y="2828836"/>
            <a:ext cx="114321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dirty="0" err="1">
                <a:solidFill>
                  <a:srgbClr val="262626"/>
                </a:solidFill>
                <a:effectLst/>
                <a:latin typeface="Courier" panose="02070309020205020404" pitchFamily="49" charset="0"/>
              </a:rPr>
              <a:t>locust</a:t>
            </a:r>
            <a:r>
              <a:rPr lang="pl-PL" dirty="0">
                <a:solidFill>
                  <a:srgbClr val="262626"/>
                </a:solidFill>
                <a:effectLst/>
                <a:latin typeface="Courier" panose="02070309020205020404" pitchFamily="49" charset="0"/>
              </a:rPr>
              <a:t> -f </a:t>
            </a:r>
            <a:r>
              <a:rPr lang="pl-PL" dirty="0" err="1">
                <a:solidFill>
                  <a:srgbClr val="262626"/>
                </a:solidFill>
                <a:effectLst/>
                <a:latin typeface="Courier" panose="02070309020205020404" pitchFamily="49" charset="0"/>
              </a:rPr>
              <a:t>locustfile.py</a:t>
            </a:r>
            <a:r>
              <a:rPr lang="pl-PL" dirty="0">
                <a:solidFill>
                  <a:srgbClr val="262626"/>
                </a:solidFill>
                <a:effectLst/>
                <a:latin typeface="Courier" panose="02070309020205020404" pitchFamily="49" charset="0"/>
              </a:rPr>
              <a:t> --host=http://localhost:8000</a:t>
            </a:r>
          </a:p>
          <a:p>
            <a:r>
              <a:rPr lang="pl-PL" dirty="0">
                <a:solidFill>
                  <a:srgbClr val="262626"/>
                </a:solidFill>
                <a:effectLst/>
                <a:latin typeface="Courier" panose="02070309020205020404" pitchFamily="49" charset="0"/>
              </a:rPr>
              <a:t>--</a:t>
            </a:r>
            <a:r>
              <a:rPr lang="pl-PL" dirty="0" err="1">
                <a:solidFill>
                  <a:srgbClr val="262626"/>
                </a:solidFill>
                <a:effectLst/>
                <a:latin typeface="Courier" panose="02070309020205020404" pitchFamily="49" charset="0"/>
              </a:rPr>
              <a:t>users</a:t>
            </a:r>
            <a:r>
              <a:rPr lang="pl-PL" dirty="0">
                <a:solidFill>
                  <a:srgbClr val="262626"/>
                </a:solidFill>
                <a:effectLst/>
                <a:latin typeface="Courier" panose="02070309020205020404" pitchFamily="49" charset="0"/>
              </a:rPr>
              <a:t> 50 --</a:t>
            </a:r>
            <a:r>
              <a:rPr lang="pl-PL" dirty="0" err="1">
                <a:solidFill>
                  <a:srgbClr val="262626"/>
                </a:solidFill>
                <a:effectLst/>
                <a:latin typeface="Courier" panose="02070309020205020404" pitchFamily="49" charset="0"/>
              </a:rPr>
              <a:t>spawn-rate</a:t>
            </a:r>
            <a:r>
              <a:rPr lang="pl-PL" dirty="0">
                <a:solidFill>
                  <a:srgbClr val="262626"/>
                </a:solidFill>
                <a:effectLst/>
                <a:latin typeface="Courier" panose="02070309020205020404" pitchFamily="49" charset="0"/>
              </a:rPr>
              <a:t> 5 --run-</a:t>
            </a:r>
            <a:r>
              <a:rPr lang="pl-PL" dirty="0" err="1">
                <a:solidFill>
                  <a:srgbClr val="262626"/>
                </a:solidFill>
                <a:effectLst/>
                <a:latin typeface="Courier" panose="02070309020205020404" pitchFamily="49" charset="0"/>
              </a:rPr>
              <a:t>time</a:t>
            </a:r>
            <a:r>
              <a:rPr lang="pl-PL" dirty="0">
                <a:solidFill>
                  <a:srgbClr val="262626"/>
                </a:solidFill>
                <a:effectLst/>
                <a:latin typeface="Courier" panose="02070309020205020404" pitchFamily="49" charset="0"/>
              </a:rPr>
              <a:t> 2h --</a:t>
            </a:r>
            <a:r>
              <a:rPr lang="pl-PL" dirty="0" err="1">
                <a:solidFill>
                  <a:srgbClr val="262626"/>
                </a:solidFill>
                <a:effectLst/>
                <a:latin typeface="Courier" panose="02070309020205020404" pitchFamily="49" charset="0"/>
              </a:rPr>
              <a:t>headless</a:t>
            </a:r>
            <a:endParaRPr lang="pl-PL" dirty="0">
              <a:solidFill>
                <a:srgbClr val="262626"/>
              </a:solidFill>
              <a:effectLst/>
              <a:latin typeface="Courier" panose="02070309020205020404" pitchFamily="49" charset="0"/>
            </a:endParaRP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16A831BC-17B5-12CE-C788-DE4449E398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4256807"/>
              </p:ext>
            </p:extLst>
          </p:nvPr>
        </p:nvGraphicFramePr>
        <p:xfrm>
          <a:off x="639172" y="3604351"/>
          <a:ext cx="10891836" cy="2560320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5445918">
                  <a:extLst>
                    <a:ext uri="{9D8B030D-6E8A-4147-A177-3AD203B41FA5}">
                      <a16:colId xmlns:a16="http://schemas.microsoft.com/office/drawing/2014/main" val="3989856003"/>
                    </a:ext>
                  </a:extLst>
                </a:gridCol>
                <a:gridCol w="5445918">
                  <a:extLst>
                    <a:ext uri="{9D8B030D-6E8A-4147-A177-3AD203B41FA5}">
                      <a16:colId xmlns:a16="http://schemas.microsoft.com/office/drawing/2014/main" val="251386272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pl-PL" sz="1800"/>
                        <a:t>Parametr</a:t>
                      </a: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1800" dirty="0"/>
                        <a:t>Znaczenie</a:t>
                      </a: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6581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pl-PL" sz="1800"/>
                        <a:t>-f locustfile.py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l-PL" sz="1800"/>
                        <a:t>Plik ze scenariuszem testowym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378716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pl-PL" sz="1800"/>
                        <a:t>--host=https://api.example.com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l-PL" sz="1800"/>
                        <a:t>Docelowy adres API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997158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pl-PL" sz="1800"/>
                        <a:t>--users 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l-PL" sz="1800"/>
                        <a:t>Maksymalnie 50 symulowanych użytkowników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9706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pl-PL" sz="1800"/>
                        <a:t>--spawn-rate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l-PL" sz="1800"/>
                        <a:t>5 nowych użytkowników na sekundę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652345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pl-PL" sz="1800"/>
                        <a:t>--run-time 2h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l-PL" sz="1800"/>
                        <a:t>Test trwa </a:t>
                      </a:r>
                      <a:r>
                        <a:rPr lang="pl-PL" sz="1800" b="1"/>
                        <a:t>2 godziny</a:t>
                      </a:r>
                      <a:endParaRPr lang="pl-PL" sz="18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173992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pl-PL" sz="1800"/>
                        <a:t>--headless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l-PL" sz="1800" dirty="0"/>
                        <a:t>Bez GUI - działa w tle (terminal </a:t>
                      </a:r>
                      <a:r>
                        <a:rPr lang="pl-PL" sz="1800" dirty="0" err="1"/>
                        <a:t>only</a:t>
                      </a:r>
                      <a:r>
                        <a:rPr lang="pl-PL" sz="1800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2155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969843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17D81CE-1A2C-2558-A8EA-6FB63EBF1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Zadanie </a:t>
            </a:r>
            <a:r>
              <a:rPr lang="pl-PL"/>
              <a:t>w grupie 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23A3416-9E9A-2F53-063A-083393D499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74159089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489</TotalTime>
  <Words>2195</Words>
  <Application>Microsoft Macintosh PowerPoint</Application>
  <PresentationFormat>Panoramiczny</PresentationFormat>
  <Paragraphs>459</Paragraphs>
  <Slides>57</Slides>
  <Notes>2</Notes>
  <HiddenSlides>0</HiddenSlides>
  <MMClips>0</MMClips>
  <ScaleCrop>false</ScaleCrop>
  <HeadingPairs>
    <vt:vector size="6" baseType="variant">
      <vt:variant>
        <vt:lpstr>Używane czcionki</vt:lpstr>
      </vt:variant>
      <vt:variant>
        <vt:i4>6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57</vt:i4>
      </vt:variant>
    </vt:vector>
  </HeadingPairs>
  <TitlesOfParts>
    <vt:vector size="64" baseType="lpstr">
      <vt:lpstr>anthropicSans</vt:lpstr>
      <vt:lpstr>Aptos</vt:lpstr>
      <vt:lpstr>Arial</vt:lpstr>
      <vt:lpstr>Courier</vt:lpstr>
      <vt:lpstr>Grandview Display</vt:lpstr>
      <vt:lpstr>Helvetica</vt:lpstr>
      <vt:lpstr>DashVTI</vt:lpstr>
      <vt:lpstr>Testy wydajnościowe</vt:lpstr>
      <vt:lpstr>Plan zajęć</vt:lpstr>
      <vt:lpstr>Cel szkolenia</vt:lpstr>
      <vt:lpstr>Podstawowe pojęcia</vt:lpstr>
      <vt:lpstr>Loading Testing</vt:lpstr>
      <vt:lpstr>Stress Testing</vt:lpstr>
      <vt:lpstr>Spike Testing</vt:lpstr>
      <vt:lpstr>Endurance Testing/Soak Testing</vt:lpstr>
      <vt:lpstr>Metryki podstawowe</vt:lpstr>
      <vt:lpstr>Percentile</vt:lpstr>
      <vt:lpstr>P50 (Mediana)</vt:lpstr>
      <vt:lpstr>P90 (Doświadczenie Większości )</vt:lpstr>
      <vt:lpstr>P95 SLA (Service Level Agreement) </vt:lpstr>
      <vt:lpstr>P99 Edge Cases </vt:lpstr>
      <vt:lpstr>Przykład</vt:lpstr>
      <vt:lpstr>Dlaczego Percentyle vs Średnia? </vt:lpstr>
      <vt:lpstr>Podsumowując</vt:lpstr>
      <vt:lpstr>Zadanie</vt:lpstr>
      <vt:lpstr>SLA (Service Level Agreement)</vt:lpstr>
      <vt:lpstr>Kluczowe Komponenty SLA</vt:lpstr>
      <vt:lpstr>Service Hours</vt:lpstr>
      <vt:lpstr>Support Levels</vt:lpstr>
      <vt:lpstr>Remedies/Credits</vt:lpstr>
      <vt:lpstr>Poziomy Dostępności (Nines)</vt:lpstr>
      <vt:lpstr>SLA w Kontekście Bankowym</vt:lpstr>
      <vt:lpstr>Best Practices</vt:lpstr>
      <vt:lpstr>NARZĘDZIA </vt:lpstr>
      <vt:lpstr>JMeter (Apache JMeter)</vt:lpstr>
      <vt:lpstr>GŁÓWNE CECHY</vt:lpstr>
      <vt:lpstr>Zalety i Wady</vt:lpstr>
      <vt:lpstr>Loadrunner</vt:lpstr>
      <vt:lpstr>Loadrunner</vt:lpstr>
      <vt:lpstr>Główne cechy</vt:lpstr>
      <vt:lpstr>Zalety i wady</vt:lpstr>
      <vt:lpstr>Gattling</vt:lpstr>
      <vt:lpstr>Główne cechy </vt:lpstr>
      <vt:lpstr>Przykładowy skrypt</vt:lpstr>
      <vt:lpstr>Zalety i wady </vt:lpstr>
      <vt:lpstr>Locust</vt:lpstr>
      <vt:lpstr>Główne cechy</vt:lpstr>
      <vt:lpstr>Przykładowy skrypt</vt:lpstr>
      <vt:lpstr>Zalety/Wady</vt:lpstr>
      <vt:lpstr>Prezentacja programu PowerPoint</vt:lpstr>
      <vt:lpstr>Rekomendacja wg scenariusza</vt:lpstr>
      <vt:lpstr>Prezentacja programu PowerPoint</vt:lpstr>
      <vt:lpstr>INSTALACJA</vt:lpstr>
      <vt:lpstr>PODSTAWOWA SKŁADNIA</vt:lpstr>
      <vt:lpstr>Uruchomienie </vt:lpstr>
      <vt:lpstr>Komponent</vt:lpstr>
      <vt:lpstr>Wait Time  </vt:lpstr>
      <vt:lpstr>Scenariusze </vt:lpstr>
      <vt:lpstr>Smoke Test</vt:lpstr>
      <vt:lpstr>LoadTest</vt:lpstr>
      <vt:lpstr>StresTesty</vt:lpstr>
      <vt:lpstr>Spike Tests</vt:lpstr>
      <vt:lpstr>Endurance Testing/Soak Testing</vt:lpstr>
      <vt:lpstr>Zadanie w grupie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Testy wydajnościowe</dc:title>
  <dc:creator>Jakub Gajda</dc:creator>
  <cp:lastModifiedBy>Jakub Gajda</cp:lastModifiedBy>
  <cp:revision>3</cp:revision>
  <dcterms:created xsi:type="dcterms:W3CDTF">2026-03-08T12:36:11Z</dcterms:created>
  <dcterms:modified xsi:type="dcterms:W3CDTF">2026-03-08T20:45:53Z</dcterms:modified>
</cp:coreProperties>
</file>